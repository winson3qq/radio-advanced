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309" r:id="rId37"/>
    <p:sldId id="306" r:id="rId38"/>
    <p:sldId id="307" r:id="rId39"/>
    <p:sldId id="308" r:id="rId40"/>
    <p:sldId id="293" r:id="rId41"/>
    <p:sldId id="284" r:id="rId42"/>
    <p:sldId id="294" r:id="rId43"/>
    <p:sldId id="289" r:id="rId44"/>
    <p:sldId id="300" r:id="rId45"/>
    <p:sldId id="310" r:id="rId46"/>
    <p:sldId id="311" r:id="rId47"/>
    <p:sldId id="302" r:id="rId48"/>
    <p:sldId id="303" r:id="rId49"/>
    <p:sldId id="304" r:id="rId50"/>
    <p:sldId id="305" r:id="rId51"/>
    <p:sldId id="290" r:id="rId52"/>
    <p:sldId id="291" r:id="rId53"/>
    <p:sldId id="299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49" autoAdjust="0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  <p:pic>
        <p:nvPicPr>
          <p:cNvPr id="9" name="Picture 8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今天的九段路 ＋ </a:t>
            </a:r>
            <a:r>
              <a:rPr lang="en-US" sz="3200" b="1" dirty="0" err="1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三段實作</a:t>
            </a:r>
            <a:r>
              <a:rPr lang="en-US" sz="3200" b="1" dirty="0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＋ </a:t>
            </a:r>
            <a:r>
              <a:rPr lang="en-US" sz="3200" b="1" dirty="0" err="1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一個任務</a:t>
            </a:r>
            <a:endParaRPr lang="en-US" sz="3200" dirty="0"/>
          </a:p>
        </p:txBody>
      </p:sp>
      <p:pic>
        <p:nvPicPr>
          <p:cNvPr id="58" name="Picture 5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  <p:grpSp>
        <p:nvGrpSpPr>
          <p:cNvPr id="72" name="群組 71"/>
          <p:cNvGrpSpPr/>
          <p:nvPr/>
        </p:nvGrpSpPr>
        <p:grpSpPr>
          <a:xfrm>
            <a:off x="640080" y="1600200"/>
            <a:ext cx="11210544" cy="4754880"/>
            <a:chOff x="640080" y="1600200"/>
            <a:chExt cx="11210544" cy="4754880"/>
          </a:xfrm>
        </p:grpSpPr>
        <p:sp>
          <p:nvSpPr>
            <p:cNvPr id="70" name="Shape 32"/>
            <p:cNvSpPr/>
            <p:nvPr/>
          </p:nvSpPr>
          <p:spPr>
            <a:xfrm>
              <a:off x="8284464" y="5298052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" name="Shape 2"/>
            <p:cNvSpPr/>
            <p:nvPr/>
          </p:nvSpPr>
          <p:spPr>
            <a:xfrm>
              <a:off x="640080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5" name="Shape 3"/>
            <p:cNvSpPr/>
            <p:nvPr/>
          </p:nvSpPr>
          <p:spPr>
            <a:xfrm>
              <a:off x="841247" y="1837943"/>
              <a:ext cx="566928" cy="566928"/>
            </a:xfrm>
            <a:prstGeom prst="ellipse">
              <a:avLst/>
            </a:prstGeom>
            <a:solidFill>
              <a:srgbClr val="8AA08C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Text 4"/>
            <p:cNvSpPr/>
            <p:nvPr/>
          </p:nvSpPr>
          <p:spPr>
            <a:xfrm>
              <a:off x="841247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</a:t>
              </a:r>
              <a:endParaRPr lang="en-US" sz="22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572768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瀑布圖</a:t>
              </a:r>
              <a:endParaRPr lang="en-US" sz="1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572768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看懂這張圖，後面才聽得懂</a:t>
              </a:r>
              <a:endParaRPr lang="en-US" sz="12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462272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Shape 8"/>
            <p:cNvSpPr/>
            <p:nvPr/>
          </p:nvSpPr>
          <p:spPr>
            <a:xfrm>
              <a:off x="4663440" y="1837943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Text 9"/>
            <p:cNvSpPr/>
            <p:nvPr/>
          </p:nvSpPr>
          <p:spPr>
            <a:xfrm>
              <a:off x="4663440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2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394960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頻率</a:t>
              </a:r>
              <a:endParaRPr lang="en-US" sz="1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94960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位置、VHF/UHF、傳播環境</a:t>
              </a:r>
              <a:endParaRPr lang="en-US" sz="12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8284464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5" name="Shape 13"/>
            <p:cNvSpPr/>
            <p:nvPr/>
          </p:nvSpPr>
          <p:spPr>
            <a:xfrm>
              <a:off x="8485632" y="1837943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Text 14"/>
            <p:cNvSpPr/>
            <p:nvPr/>
          </p:nvSpPr>
          <p:spPr>
            <a:xfrm>
              <a:off x="8485632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3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217152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發射功率</a:t>
              </a:r>
              <a:endParaRPr lang="en-US" sz="1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9217152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亮度 = 相對強度</a:t>
              </a:r>
              <a:endParaRPr lang="en-US" sz="12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462272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0" name="Shape 18"/>
            <p:cNvSpPr/>
            <p:nvPr/>
          </p:nvSpPr>
          <p:spPr>
            <a:xfrm>
              <a:off x="4663440" y="307238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1" name="Text 19"/>
            <p:cNvSpPr/>
            <p:nvPr/>
          </p:nvSpPr>
          <p:spPr>
            <a:xfrm>
              <a:off x="4663440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5</a:t>
              </a:r>
              <a:endParaRPr lang="en-US" sz="22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5394960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寬 / 窄頻</a:t>
              </a:r>
              <a:endParaRPr lang="en-US" sz="1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94960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面板寫頻寬，其實設的是上限</a:t>
              </a:r>
              <a:endParaRPr lang="en-US" sz="12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4464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5" name="Shape 23"/>
            <p:cNvSpPr/>
            <p:nvPr/>
          </p:nvSpPr>
          <p:spPr>
            <a:xfrm>
              <a:off x="8485632" y="307238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6" name="Text 24"/>
            <p:cNvSpPr/>
            <p:nvPr/>
          </p:nvSpPr>
          <p:spPr>
            <a:xfrm>
              <a:off x="8485632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6</a:t>
              </a:r>
              <a:endParaRPr lang="en-US" sz="22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9217152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頻道步進</a:t>
              </a:r>
              <a:endParaRPr lang="en-US" sz="1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217152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最小跳動單位，別壓到隔壁</a:t>
              </a:r>
              <a:endParaRPr lang="en-US" sz="12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462272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440" y="430682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31" name="Text 29"/>
            <p:cNvSpPr/>
            <p:nvPr/>
          </p:nvSpPr>
          <p:spPr>
            <a:xfrm>
              <a:off x="4663440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7</a:t>
              </a:r>
              <a:endParaRPr lang="en-US" sz="22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394960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亞音 CTCSS</a:t>
              </a:r>
              <a:endParaRPr lang="en-US" sz="1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394960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不是加密 · 動手做：設收/發碼</a:t>
              </a:r>
              <a:endParaRPr lang="en-US" sz="125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40080" y="530352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0" name="Shape 38"/>
            <p:cNvSpPr/>
            <p:nvPr/>
          </p:nvSpPr>
          <p:spPr>
            <a:xfrm>
              <a:off x="8485632" y="554126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1" name="Text 39"/>
            <p:cNvSpPr/>
            <p:nvPr/>
          </p:nvSpPr>
          <p:spPr>
            <a:xfrm>
              <a:off x="8485632" y="554126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4331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9</a:t>
              </a:r>
              <a:endParaRPr lang="en-US" sz="2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9253728" y="5756777"/>
              <a:ext cx="2560320" cy="50256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sz="1250" dirty="0" err="1" smtClean="0">
                  <a:solidFill>
                    <a:srgbClr val="8C7A6E"/>
                  </a:solidFill>
                  <a:latin typeface="Calibri"/>
                </a:rPr>
                <a:t>讓喇叭安靜</a:t>
              </a:r>
              <a:r>
                <a:rPr sz="1250" dirty="0" err="1">
                  <a:solidFill>
                    <a:srgbClr val="8C7A6E"/>
                  </a:solidFill>
                  <a:latin typeface="Calibri"/>
                </a:rPr>
                <a:t>，但電波照舊</a:t>
              </a:r>
              <a:endParaRPr sz="1250" dirty="0">
                <a:solidFill>
                  <a:srgbClr val="8C7A6E"/>
                </a:solidFill>
                <a:latin typeface="Calibri"/>
              </a:endParaRPr>
            </a:p>
          </p:txBody>
        </p:sp>
        <p:sp>
          <p:nvSpPr>
            <p:cNvPr id="43" name="Shape 2"/>
            <p:cNvSpPr/>
            <p:nvPr/>
          </p:nvSpPr>
          <p:spPr>
            <a:xfrm>
              <a:off x="640080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4" name="Shape 3"/>
            <p:cNvSpPr/>
            <p:nvPr/>
          </p:nvSpPr>
          <p:spPr>
            <a:xfrm>
              <a:off x="841247" y="3072384"/>
              <a:ext cx="566928" cy="566928"/>
            </a:xfrm>
            <a:prstGeom prst="ellipse">
              <a:avLst/>
            </a:prstGeom>
            <a:solidFill>
              <a:srgbClr val="8AA08C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5" name="Text 4"/>
            <p:cNvSpPr/>
            <p:nvPr/>
          </p:nvSpPr>
          <p:spPr>
            <a:xfrm>
              <a:off x="841247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</a:t>
              </a:r>
              <a:endParaRPr lang="en-US" sz="2200" dirty="0"/>
            </a:p>
          </p:txBody>
        </p:sp>
        <p:sp>
          <p:nvSpPr>
            <p:cNvPr id="46" name="Text 5"/>
            <p:cNvSpPr/>
            <p:nvPr/>
          </p:nvSpPr>
          <p:spPr>
            <a:xfrm>
              <a:off x="1572768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天線</a:t>
              </a:r>
              <a:endParaRPr lang="en-US" sz="1900" dirty="0"/>
            </a:p>
          </p:txBody>
        </p:sp>
        <p:sp>
          <p:nvSpPr>
            <p:cNvPr id="47" name="Text 6"/>
            <p:cNvSpPr/>
            <p:nvPr/>
          </p:nvSpPr>
          <p:spPr>
            <a:xfrm>
              <a:off x="1572768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增益＝把功率集中，打得更遠</a:t>
              </a:r>
              <a:endParaRPr lang="en-US" sz="1250" dirty="0"/>
            </a:p>
          </p:txBody>
        </p:sp>
        <p:sp>
          <p:nvSpPr>
            <p:cNvPr id="48" name="Shape 2"/>
            <p:cNvSpPr/>
            <p:nvPr/>
          </p:nvSpPr>
          <p:spPr>
            <a:xfrm>
              <a:off x="640080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9" name="Shape 3"/>
            <p:cNvSpPr/>
            <p:nvPr/>
          </p:nvSpPr>
          <p:spPr>
            <a:xfrm>
              <a:off x="841247" y="4306824"/>
              <a:ext cx="566928" cy="566928"/>
            </a:xfrm>
            <a:prstGeom prst="ellipse">
              <a:avLst/>
            </a:prstGeom>
            <a:solidFill>
              <a:srgbClr val="D99A5B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50" name="Text 4"/>
            <p:cNvSpPr/>
            <p:nvPr/>
          </p:nvSpPr>
          <p:spPr>
            <a:xfrm>
              <a:off x="841247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做</a:t>
              </a:r>
              <a:endParaRPr lang="en-US" sz="2200" dirty="0"/>
            </a:p>
          </p:txBody>
        </p:sp>
        <p:sp>
          <p:nvSpPr>
            <p:cNvPr id="51" name="Text 5"/>
            <p:cNvSpPr/>
            <p:nvPr/>
          </p:nvSpPr>
          <p:spPr>
            <a:xfrm>
              <a:off x="1572768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動手做</a:t>
              </a:r>
              <a:endParaRPr lang="en-US" sz="1900" dirty="0"/>
            </a:p>
          </p:txBody>
        </p:sp>
        <p:sp>
          <p:nvSpPr>
            <p:cNvPr id="52" name="Text 6"/>
            <p:cNvSpPr/>
            <p:nvPr/>
          </p:nvSpPr>
          <p:spPr>
            <a:xfrm>
              <a:off x="1572768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分組實作：把形狀調出來</a:t>
              </a:r>
              <a:endParaRPr lang="en-US" sz="1250" dirty="0"/>
            </a:p>
          </p:txBody>
        </p:sp>
        <p:sp>
          <p:nvSpPr>
            <p:cNvPr id="53" name="Shape 2"/>
            <p:cNvSpPr/>
            <p:nvPr/>
          </p:nvSpPr>
          <p:spPr>
            <a:xfrm>
              <a:off x="4453128" y="530352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841247" y="5564124"/>
              <a:ext cx="566928" cy="566928"/>
              <a:chOff x="4654296" y="5541264"/>
              <a:chExt cx="566928" cy="566928"/>
            </a:xfrm>
          </p:grpSpPr>
          <p:sp>
            <p:nvSpPr>
              <p:cNvPr id="54" name="Shape 3"/>
              <p:cNvSpPr/>
              <p:nvPr/>
            </p:nvSpPr>
            <p:spPr>
              <a:xfrm>
                <a:off x="4654296" y="5541264"/>
                <a:ext cx="566928" cy="566928"/>
              </a:xfrm>
              <a:prstGeom prst="ellipse">
                <a:avLst/>
              </a:prstGeom>
              <a:solidFill>
                <a:srgbClr val="C0674A"/>
              </a:solidFill>
              <a:ln/>
              <a:effectLst>
                <a:outerShdw blurRad="114300" dist="50800" dir="5400000" algn="bl" rotWithShape="0">
                  <a:srgbClr val="6B4A3A">
                    <a:alpha val="28000"/>
                  </a:srgbClr>
                </a:outerShdw>
              </a:effectLst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Text 4"/>
              <p:cNvSpPr/>
              <p:nvPr/>
            </p:nvSpPr>
            <p:spPr>
              <a:xfrm>
                <a:off x="4654296" y="5541264"/>
                <a:ext cx="566928" cy="5669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8</a:t>
                </a:r>
                <a:endParaRPr lang="en-US" sz="2200" dirty="0"/>
              </a:p>
            </p:txBody>
          </p:sp>
        </p:grpSp>
        <p:sp>
          <p:nvSpPr>
            <p:cNvPr id="56" name="Text 5"/>
            <p:cNvSpPr/>
            <p:nvPr/>
          </p:nvSpPr>
          <p:spPr>
            <a:xfrm>
              <a:off x="1572767" y="5412352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Offset</a:t>
              </a:r>
              <a:endParaRPr lang="en-US" sz="1900" dirty="0"/>
            </a:p>
          </p:txBody>
        </p:sp>
        <p:sp>
          <p:nvSpPr>
            <p:cNvPr id="57" name="Text 6"/>
            <p:cNvSpPr/>
            <p:nvPr/>
          </p:nvSpPr>
          <p:spPr>
            <a:xfrm>
              <a:off x="1572767" y="5796400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收發分裂：TX 移、RX 不動</a:t>
              </a:r>
              <a:endParaRPr lang="en-US" sz="1250" dirty="0"/>
            </a:p>
          </p:txBody>
        </p:sp>
        <p:sp>
          <p:nvSpPr>
            <p:cNvPr id="63" name="Shape 2"/>
            <p:cNvSpPr/>
            <p:nvPr/>
          </p:nvSpPr>
          <p:spPr>
            <a:xfrm>
              <a:off x="8284464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4" name="Shape 3"/>
            <p:cNvSpPr/>
            <p:nvPr/>
          </p:nvSpPr>
          <p:spPr>
            <a:xfrm>
              <a:off x="8485631" y="4306824"/>
              <a:ext cx="566928" cy="566928"/>
            </a:xfrm>
            <a:prstGeom prst="ellipse">
              <a:avLst/>
            </a:prstGeom>
            <a:solidFill>
              <a:srgbClr val="D99A5B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5" name="Text 4"/>
            <p:cNvSpPr/>
            <p:nvPr/>
          </p:nvSpPr>
          <p:spPr>
            <a:xfrm>
              <a:off x="8485631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做</a:t>
              </a:r>
              <a:endParaRPr lang="en-US" sz="2200" dirty="0"/>
            </a:p>
          </p:txBody>
        </p:sp>
        <p:sp>
          <p:nvSpPr>
            <p:cNvPr id="66" name="Text 5"/>
            <p:cNvSpPr/>
            <p:nvPr/>
          </p:nvSpPr>
          <p:spPr>
            <a:xfrm>
              <a:off x="9217152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動手做</a:t>
              </a:r>
              <a:endParaRPr lang="en-US" sz="1900" dirty="0"/>
            </a:p>
          </p:txBody>
        </p:sp>
        <p:sp>
          <p:nvSpPr>
            <p:cNvPr id="67" name="Text 6"/>
            <p:cNvSpPr/>
            <p:nvPr/>
          </p:nvSpPr>
          <p:spPr>
            <a:xfrm>
              <a:off x="9217152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 err="1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分組實作</a:t>
              </a:r>
              <a:r>
                <a:rPr lang="en-US" sz="1450" dirty="0" smtClean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：</a:t>
              </a:r>
              <a:r>
                <a:rPr lang="zh-TW" alt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體驗亞音設定</a:t>
              </a:r>
              <a:endParaRPr lang="en-US" sz="1250" dirty="0"/>
            </a:p>
          </p:txBody>
        </p:sp>
        <p:grpSp>
          <p:nvGrpSpPr>
            <p:cNvPr id="68" name="群組 67"/>
            <p:cNvGrpSpPr/>
            <p:nvPr/>
          </p:nvGrpSpPr>
          <p:grpSpPr>
            <a:xfrm>
              <a:off x="4661288" y="5540547"/>
              <a:ext cx="566928" cy="566928"/>
              <a:chOff x="841247" y="5541264"/>
              <a:chExt cx="566928" cy="566928"/>
            </a:xfrm>
          </p:grpSpPr>
          <p:sp>
            <p:nvSpPr>
              <p:cNvPr id="35" name="Shape 33"/>
              <p:cNvSpPr/>
              <p:nvPr/>
            </p:nvSpPr>
            <p:spPr>
              <a:xfrm>
                <a:off x="841247" y="5541264"/>
                <a:ext cx="566928" cy="566928"/>
              </a:xfrm>
              <a:prstGeom prst="ellipse">
                <a:avLst/>
              </a:prstGeom>
              <a:solidFill>
                <a:srgbClr val="8C7A6E"/>
              </a:solidFill>
              <a:ln/>
              <a:effectLst>
                <a:outerShdw blurRad="114300" dist="50800" dir="5400000" algn="bl" rotWithShape="0">
                  <a:srgbClr val="6B4A3A">
                    <a:alpha val="28000"/>
                  </a:srgbClr>
                </a:outerShdw>
              </a:effectLst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 34"/>
              <p:cNvSpPr/>
              <p:nvPr/>
            </p:nvSpPr>
            <p:spPr>
              <a:xfrm>
                <a:off x="841247" y="5541264"/>
                <a:ext cx="566928" cy="5669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想</a:t>
                </a:r>
                <a:endParaRPr lang="en-US" sz="2200" dirty="0"/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394960" y="5412352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想一想</a:t>
              </a:r>
              <a:endParaRPr lang="en-US" sz="19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394960" y="5796400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換你設計：2m 中繼台</a:t>
              </a:r>
              <a:endParaRPr lang="en-US" sz="1250" dirty="0"/>
            </a:p>
          </p:txBody>
        </p:sp>
        <p:sp>
          <p:nvSpPr>
            <p:cNvPr id="71" name="Text 40"/>
            <p:cNvSpPr/>
            <p:nvPr/>
          </p:nvSpPr>
          <p:spPr>
            <a:xfrm>
              <a:off x="9253728" y="5436017"/>
              <a:ext cx="2560320" cy="5224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800" b="1" dirty="0" err="1" smtClean="0">
                  <a:solidFill>
                    <a:srgbClr val="D99A5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靜噪</a:t>
              </a:r>
              <a:endParaRPr lang="en-US" sz="18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頻譜 </a:t>
            </a:r>
            <a:r>
              <a:rPr lang="en-US" altLang="zh-TW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&amp; </a:t>
            </a:r>
            <a:r>
              <a:rPr lang="en-US" sz="4400" b="1" dirty="0" err="1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r>
              <a:rPr 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4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Waterfall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71616" y="2071116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989320" y="2112264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71616" y="4425696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71616" y="4425696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  <p:pic>
        <p:nvPicPr>
          <p:cNvPr id="33" name="Picture 32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13991" y="2185416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13991" y="2185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  <p:pic>
        <p:nvPicPr>
          <p:cNvPr id="45" name="Picture 44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  <p:pic>
        <p:nvPicPr>
          <p:cNvPr id="44" name="Picture 4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  <p:pic>
        <p:nvPicPr>
          <p:cNvPr id="29" name="Picture 28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  <p:pic>
        <p:nvPicPr>
          <p:cNvPr id="18" name="Picture 1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  <p:pic>
        <p:nvPicPr>
          <p:cNvPr id="19" name="Picture 18" descr="logo_s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5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5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  <p:pic>
        <p:nvPicPr>
          <p:cNvPr id="24" name="Picture 2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  <p:pic>
        <p:nvPicPr>
          <p:cNvPr id="66" name="Picture 6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  <p:pic>
        <p:nvPicPr>
          <p:cNvPr id="27" name="Picture 2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　峰值 −47 dB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　峰值 −51 dB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sz="1200" b="1">
                <a:solidFill>
                  <a:srgbClr val="D99A5B"/>
                </a:solidFill>
                <a:latin typeface="Calibri"/>
              </a:rPr>
              <a:t>實測（Narrow 窄頻，加 −20 dB 衰減）　</a:t>
            </a:r>
            <a:r>
              <a:rPr sz="1200" b="0">
                <a:solidFill>
                  <a:srgbClr val="FBF7F2"/>
                </a:solidFill>
                <a:latin typeface="Calibri"/>
              </a:rPr>
              <a:t>H 高功率峰值約 −47 dB、L 低功率約 −51 dB——高度差看得出來（功率＝高度／亮度），而左右寬度一樣。先把訊號拉離天花板（衰減／拉遠），H 與 L 的差異才顯現。</a:t>
            </a:r>
            <a:endParaRPr lang="en-US" sz="1400" dirty="0"/>
          </a:p>
        </p:txBody>
      </p:sp>
      <p:pic>
        <p:nvPicPr>
          <p:cNvPr id="24" name="Picture 23" descr="pwr_hi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520062"/>
            <a:ext cx="2487168" cy="1134610"/>
          </a:xfrm>
          <a:prstGeom prst="rect">
            <a:avLst/>
          </a:prstGeom>
        </p:spPr>
      </p:pic>
      <p:pic>
        <p:nvPicPr>
          <p:cNvPr id="25" name="Picture 24" descr="pwr_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520062"/>
            <a:ext cx="2487168" cy="1134610"/>
          </a:xfrm>
          <a:prstGeom prst="rect">
            <a:avLst/>
          </a:prstGeom>
        </p:spPr>
      </p:pic>
      <p:pic>
        <p:nvPicPr>
          <p:cNvPr id="26" name="Picture 25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天線增益實測：換一支天線，載波差約 13 dB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2286000" cy="4160520"/>
          </a:xfrm>
          <a:prstGeom prst="roundRect">
            <a:avLst>
              <a:gd name="adj" fmla="val 9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2A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64" y="1664208"/>
            <a:ext cx="196603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21808"/>
            <a:ext cx="22860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3312A"/>
                </a:solidFill>
                <a:latin typeface="Calibri"/>
              </a:rPr>
              <a:t>左 短天線(Ant1)　右 長天線(Ant3)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C7A6E"/>
                </a:solidFill>
                <a:latin typeface="Calibri"/>
              </a:rPr>
              <a:t>同軸接同一台 MTS 發射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517904"/>
            <a:ext cx="416052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短天線 Ant1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峰值 </a:t>
            </a:r>
            <a:r>
              <a:rPr sz="1300" b="1">
                <a:solidFill>
                  <a:srgbClr val="A44E36"/>
                </a:solidFill>
                <a:latin typeface="Cambria"/>
              </a:rPr>
              <a:t>−42 dB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865376"/>
            <a:ext cx="4160520" cy="1938528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dr_sh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008" y="1911095"/>
            <a:ext cx="4048983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517904"/>
            <a:ext cx="416052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長天線 Ant3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峰值 </a:t>
            </a:r>
            <a:r>
              <a:rPr sz="1300" b="1">
                <a:solidFill>
                  <a:srgbClr val="C0674A"/>
                </a:solidFill>
                <a:latin typeface="Cambria"/>
              </a:rPr>
              <a:t>−29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865376"/>
            <a:ext cx="4160520" cy="1938528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dr_l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2953" y="1911095"/>
            <a:ext cx="4027893" cy="184708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063240" y="4041648"/>
            <a:ext cx="3246120" cy="1481328"/>
          </a:xfrm>
          <a:prstGeom prst="roundRect">
            <a:avLst>
              <a:gd name="adj" fmla="val 9000"/>
            </a:avLst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54680" y="4114800"/>
            <a:ext cx="3063240" cy="1371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3D9CD"/>
                </a:solidFill>
                <a:latin typeface="Calibri"/>
              </a:rPr>
              <a:t>長 − 短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≈ 13 dB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F6E7E0"/>
                </a:solidFill>
                <a:latin typeface="Calibri"/>
              </a:rPr>
              <a:t>長天線把能量集中 → 載波明顯更強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041648"/>
            <a:ext cx="5074920" cy="1481328"/>
          </a:xfrm>
          <a:prstGeom prst="roundRect">
            <a:avLst>
              <a:gd name="adj" fmla="val 9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56832" y="4114800"/>
            <a:ext cx="47548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A44E36"/>
                </a:solidFill>
                <a:latin typeface="Cambria"/>
              </a:rPr>
              <a:t>替換法量測條件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498848"/>
            <a:ext cx="4800600" cy="9875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43312A"/>
                </a:solidFill>
                <a:latin typeface="Calibri"/>
              </a:rPr>
              <a:t>MTS 發純載波 145.050 MHz（Wide／低功率／−20 dB 衰減）；RTL-SDR 固定接收（Gain 0、AGC 全關）。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43312A"/>
                </a:solidFill>
                <a:latin typeface="Calibri"/>
              </a:rPr>
              <a:t>只換發射端天線、其他不動，讀 FFT 峰值相減。兩張噪聲底一致（約 −100 dB）＝條件相同。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5742432"/>
            <a:ext cx="8503920" cy="786384"/>
          </a:xfrm>
          <a:prstGeom prst="roundRect">
            <a:avLst>
              <a:gd name="adj" fmla="val 9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5779008"/>
            <a:ext cx="8138160" cy="7132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9A5B"/>
                </a:solidFill>
                <a:latin typeface="Calibri"/>
              </a:rPr>
              <a:t>註　</a:t>
            </a:r>
            <a:r>
              <a:rPr sz="1019" b="0">
                <a:solidFill>
                  <a:srgbClr val="FBF7F2"/>
                </a:solidFill>
                <a:latin typeface="Calibri"/>
              </a:rPr>
              <a:t>這是室內相對讀數（含短天線效率低＋近場/反射），非 dBi 認證增益值；但「長 &gt; 短」順序正確，符合『天線越長、增益越高、載波越強』。要認證數字需室外遠場。</a:t>
            </a:r>
          </a:p>
        </p:txBody>
      </p:sp>
      <p:pic>
        <p:nvPicPr>
          <p:cNvPr id="20" name="Picture 19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1371600"/>
            <a:ext cx="10515600" cy="1810512"/>
          </a:xfrm>
          <a:prstGeom prst="roundRect">
            <a:avLst>
              <a:gd name="adj" fmla="val 9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nts3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892" y="1463040"/>
            <a:ext cx="3791734" cy="1426464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228175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251943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6484257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71216"/>
            <a:ext cx="101498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3312A"/>
                </a:solidFill>
                <a:latin typeface="Calibri"/>
              </a:rPr>
              <a:t>① 短　② 中（標示 FM 136–174 / 400–480MHz ＝ V/U 雙頻）　③ 長　</a:t>
            </a:r>
            <a:r>
              <a:rPr sz="1050" b="0">
                <a:solidFill>
                  <a:srgbClr val="A44E36"/>
                </a:solidFill>
                <a:latin typeface="Calibri"/>
              </a:rPr>
              <a:t>辨識：中央有針＝公、凹孔＝母，天線要和機身「相反」才鎖得上。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A44E36"/>
                </a:solidFill>
                <a:latin typeface="Cambria"/>
              </a:rPr>
              <a:t>接頭要對得上　</a:t>
            </a:r>
            <a:r>
              <a:rPr sz="1000" b="0">
                <a:solidFill>
                  <a:srgbClr val="43312A"/>
                </a:solidFill>
                <a:latin typeface="Calibri"/>
              </a:rPr>
              <a:t>這三支都是 SMA 類接頭但公母/螺紋未必相同——母機與天線要「公對母」才鎖得上、接觸才好。SMA 與 RP-SMA 外觀近似，中央針/孔相反，買前務必先確認機身規格。</a:t>
            </a:r>
          </a:p>
        </p:txBody>
      </p:sp>
      <p:pic>
        <p:nvPicPr>
          <p:cNvPr id="21" name="Picture 20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  <p:pic>
        <p:nvPicPr>
          <p:cNvPr id="14" name="Picture 13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6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  <p:pic>
        <p:nvPicPr>
          <p:cNvPr id="46" name="Picture 4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  <p:pic>
        <p:nvPicPr>
          <p:cNvPr id="34" name="Picture 3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  <p:pic>
        <p:nvPicPr>
          <p:cNvPr id="42" name="Picture 41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  <p:pic>
        <p:nvPicPr>
          <p:cNvPr id="7" name="Picture 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  <p:pic>
        <p:nvPicPr>
          <p:cNvPr id="44" name="Picture 4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  <p:pic>
        <p:nvPicPr>
          <p:cNvPr id="21" name="Picture 20" descr="logo_s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6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  <p:pic>
        <p:nvPicPr>
          <p:cNvPr id="14" name="Picture 13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亞音體驗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設傳/收亞音，體驗通聯差異</a:t>
            </a:r>
            <a:endParaRPr lang="en-US" sz="3200" dirty="0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842250" y="1792679"/>
            <a:ext cx="1955561" cy="566928"/>
          </a:xfrm>
          <a:prstGeom prst="roundRect">
            <a:avLst>
              <a:gd name="adj" fmla="val 14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842250" y="1946656"/>
            <a:ext cx="173736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solidFill>
                  <a:srgbClr val="43312A"/>
                </a:solidFill>
                <a:latin typeface="Calibri"/>
              </a:rPr>
              <a:t>第 </a:t>
            </a:r>
            <a:r>
              <a:rPr lang="en-US" sz="1400" b="1" dirty="0" smtClean="0">
                <a:solidFill>
                  <a:srgbClr val="43312A"/>
                </a:solidFill>
                <a:latin typeface="Calibri"/>
              </a:rPr>
              <a:t>1</a:t>
            </a:r>
            <a:r>
              <a:rPr sz="1400" b="1" dirty="0" smtClean="0">
                <a:solidFill>
                  <a:srgbClr val="43312A"/>
                </a:solidFill>
                <a:latin typeface="Calibri"/>
              </a:rPr>
              <a:t> </a:t>
            </a:r>
            <a:r>
              <a:rPr sz="1400" b="1" dirty="0" err="1" smtClean="0">
                <a:solidFill>
                  <a:srgbClr val="43312A"/>
                </a:solidFill>
                <a:latin typeface="Calibri"/>
              </a:rPr>
              <a:t>組</a:t>
            </a:r>
            <a:r>
              <a:rPr sz="1400" b="1" dirty="0" err="1" smtClean="0">
                <a:latin typeface="Calibri"/>
              </a:rPr>
              <a:t>亞音</a:t>
            </a:r>
            <a:r>
              <a:rPr sz="1100" b="1" dirty="0" smtClean="0">
                <a:latin typeface="Calibri"/>
              </a:rPr>
              <a:t> </a:t>
            </a:r>
            <a:r>
              <a:rPr sz="1600" b="1" dirty="0">
                <a:solidFill>
                  <a:srgbClr val="A44E36"/>
                </a:solidFill>
                <a:latin typeface="Cambria"/>
              </a:rPr>
              <a:t>88.5</a:t>
            </a:r>
            <a:r>
              <a:rPr sz="1050" b="0" dirty="0">
                <a:solidFill>
                  <a:srgbClr val="8C7A6E"/>
                </a:solidFill>
                <a:latin typeface="Calibri"/>
              </a:rPr>
              <a:t> Hz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842249" y="2340922"/>
            <a:ext cx="1955561" cy="566928"/>
          </a:xfrm>
          <a:prstGeom prst="roundRect">
            <a:avLst>
              <a:gd name="adj" fmla="val 14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4" name="TextBox 63"/>
          <p:cNvSpPr txBox="1"/>
          <p:nvPr/>
        </p:nvSpPr>
        <p:spPr>
          <a:xfrm>
            <a:off x="8842250" y="2482810"/>
            <a:ext cx="1816608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solidFill>
                  <a:srgbClr val="43312A"/>
                </a:solidFill>
                <a:latin typeface="Calibri"/>
              </a:rPr>
              <a:t>第 </a:t>
            </a:r>
            <a:r>
              <a:rPr lang="en-US" sz="1400" b="1" dirty="0" smtClean="0">
                <a:solidFill>
                  <a:srgbClr val="43312A"/>
                </a:solidFill>
                <a:latin typeface="Calibri"/>
              </a:rPr>
              <a:t>2</a:t>
            </a:r>
            <a:r>
              <a:rPr sz="1400" b="1" dirty="0" smtClean="0">
                <a:solidFill>
                  <a:srgbClr val="43312A"/>
                </a:solidFill>
                <a:latin typeface="Calibri"/>
              </a:rPr>
              <a:t> </a:t>
            </a:r>
            <a:r>
              <a:rPr sz="1400" b="1" dirty="0" err="1" smtClean="0">
                <a:solidFill>
                  <a:srgbClr val="43312A"/>
                </a:solidFill>
                <a:latin typeface="Calibri"/>
              </a:rPr>
              <a:t>組</a:t>
            </a:r>
            <a:r>
              <a:rPr sz="1400" b="1" dirty="0" err="1" smtClean="0">
                <a:latin typeface="Calibri"/>
              </a:rPr>
              <a:t>亞音</a:t>
            </a:r>
            <a:r>
              <a:rPr sz="1050" b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A44E36"/>
                </a:solidFill>
                <a:latin typeface="Cambria"/>
              </a:rPr>
              <a:t>100.0</a:t>
            </a:r>
            <a:r>
              <a:rPr sz="1050" b="0" dirty="0">
                <a:solidFill>
                  <a:srgbClr val="8C7A6E"/>
                </a:solidFill>
                <a:latin typeface="Calibri"/>
              </a:rPr>
              <a:t> Hz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8803" y="3728344"/>
            <a:ext cx="12344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3" name="TextBox 72"/>
          <p:cNvSpPr txBox="1"/>
          <p:nvPr/>
        </p:nvSpPr>
        <p:spPr>
          <a:xfrm>
            <a:off x="898803" y="3842799"/>
            <a:ext cx="1234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600" b="1" dirty="0">
                <a:solidFill>
                  <a:srgbClr val="FFFFFF"/>
                </a:solidFill>
                <a:latin typeface="Cambria"/>
              </a:rPr>
              <a:t>測試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2133242" y="3728344"/>
            <a:ext cx="21488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2133242" y="3842799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4282083" y="3728344"/>
            <a:ext cx="21488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7" name="TextBox 76"/>
          <p:cNvSpPr txBox="1"/>
          <p:nvPr/>
        </p:nvSpPr>
        <p:spPr>
          <a:xfrm>
            <a:off x="4282083" y="3842799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600" b="1" dirty="0">
                <a:solidFill>
                  <a:srgbClr val="FFFFFF"/>
                </a:solidFill>
                <a:latin typeface="Cambria"/>
              </a:rPr>
              <a:t>B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 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98801" y="4250271"/>
            <a:ext cx="12344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2133242" y="4240408"/>
            <a:ext cx="21488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4282083" y="4240408"/>
            <a:ext cx="21488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282083" y="4301838"/>
            <a:ext cx="2148840" cy="4806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Hz</a:t>
            </a:r>
            <a:endParaRPr lang="en-US" sz="1400" b="1" dirty="0" smtClean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</a:t>
            </a:r>
            <a:endParaRPr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898803" y="4843912"/>
            <a:ext cx="12344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2133242" y="4843912"/>
            <a:ext cx="21488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</a:p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4282083" y="4843912"/>
            <a:ext cx="21488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</a:p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06" y="1306523"/>
            <a:ext cx="8169354" cy="2350457"/>
          </a:xfrm>
          <a:prstGeom prst="rect">
            <a:avLst/>
          </a:prstGeom>
        </p:spPr>
      </p:pic>
      <p:sp>
        <p:nvSpPr>
          <p:cNvPr id="122" name="Rectangle 81"/>
          <p:cNvSpPr/>
          <p:nvPr/>
        </p:nvSpPr>
        <p:spPr>
          <a:xfrm>
            <a:off x="898803" y="5447357"/>
            <a:ext cx="1278730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Rectangle 82"/>
          <p:cNvSpPr/>
          <p:nvPr/>
        </p:nvSpPr>
        <p:spPr>
          <a:xfrm>
            <a:off x="2100434" y="5447357"/>
            <a:ext cx="222593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T-CTCS 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4" name="Rectangle 83"/>
          <p:cNvSpPr/>
          <p:nvPr/>
        </p:nvSpPr>
        <p:spPr>
          <a:xfrm>
            <a:off x="4249275" y="5447357"/>
            <a:ext cx="222593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6" name="TextBox 88"/>
          <p:cNvSpPr txBox="1"/>
          <p:nvPr/>
        </p:nvSpPr>
        <p:spPr>
          <a:xfrm>
            <a:off x="4249275" y="5507915"/>
            <a:ext cx="2225938" cy="4772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88.5Hz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Hz</a:t>
            </a:r>
            <a:endParaRPr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7" name="Rectangle 91"/>
          <p:cNvSpPr/>
          <p:nvPr/>
        </p:nvSpPr>
        <p:spPr>
          <a:xfrm>
            <a:off x="898803" y="6050861"/>
            <a:ext cx="1278730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8" name="Rectangle 92"/>
          <p:cNvSpPr/>
          <p:nvPr/>
        </p:nvSpPr>
        <p:spPr>
          <a:xfrm>
            <a:off x="2100434" y="6050861"/>
            <a:ext cx="222593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88.5Hz</a:t>
            </a:r>
          </a:p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9" name="Rectangle 93"/>
          <p:cNvSpPr/>
          <p:nvPr/>
        </p:nvSpPr>
        <p:spPr>
          <a:xfrm>
            <a:off x="4249275" y="6050861"/>
            <a:ext cx="222593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100Hz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100Hz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Rectangle 75"/>
          <p:cNvSpPr/>
          <p:nvPr/>
        </p:nvSpPr>
        <p:spPr>
          <a:xfrm>
            <a:off x="6398113" y="3738207"/>
            <a:ext cx="4753981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2" name="TextBox 76"/>
          <p:cNvSpPr txBox="1"/>
          <p:nvPr/>
        </p:nvSpPr>
        <p:spPr>
          <a:xfrm>
            <a:off x="7767830" y="3869614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結果</a:t>
            </a:r>
            <a:endParaRPr sz="16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Rectangle 83"/>
          <p:cNvSpPr/>
          <p:nvPr/>
        </p:nvSpPr>
        <p:spPr>
          <a:xfrm>
            <a:off x="6398114" y="4250271"/>
            <a:ext cx="475398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5" name="Rectangle 93"/>
          <p:cNvSpPr/>
          <p:nvPr/>
        </p:nvSpPr>
        <p:spPr>
          <a:xfrm>
            <a:off x="6398114" y="4853775"/>
            <a:ext cx="475398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83"/>
          <p:cNvSpPr/>
          <p:nvPr/>
        </p:nvSpPr>
        <p:spPr>
          <a:xfrm>
            <a:off x="6365306" y="5457220"/>
            <a:ext cx="478678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8" name="Rectangle 93"/>
          <p:cNvSpPr/>
          <p:nvPr/>
        </p:nvSpPr>
        <p:spPr>
          <a:xfrm>
            <a:off x="6365306" y="6060724"/>
            <a:ext cx="478678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　收發分裂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「offset 改的是我收聽的頻率」　→　不，offset 只在按 PTT 發射時生效；你顯示／收聽的頻率不動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已實測 · SDR ±10k 示範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重點：中繼台一收一發不同頻。offset 決定「發射」跳去哪——方向(＋/−)＋大小；還要配亞音(CTCSS)才進得了中繼台。</a:t>
            </a:r>
            <a:endParaRPr lang="en-US" sz="1500" dirty="0"/>
          </a:p>
        </p:txBody>
      </p:sp>
      <p:pic>
        <p:nvPicPr>
          <p:cNvPr id="12" name="Picture 11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Offset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 offset？中繼台一收一發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中繼台要「同時」聽你講、又把你的話轉播出去。若收發同頻，它一發就會蓋掉自己正在收的訊號（自我干擾），根本無法運作。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讓中繼台「收一個頻率、發另一個頻率」，兩者相差固定的 offset（2m 常見 −600 kHz）。你的機器：顯示／收聽＝中繼台輸出；一按 PTT 自動平移 offset ＝中繼台輸入。offset 只動 TX，不動 RX。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打不進中繼台，先查三件事：頻率（輸出對不對）、offset（方向＋大小）、亞音（CTCSS）。三者缺一不可——只設 offset 數值卻沒設方向（＋/−），機器根本不會平移。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Offset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實測：TX 平移、RX 不動</a:t>
            </a:r>
            <a:endParaRPr lang="en-US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1517904"/>
            <a:ext cx="521208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設 offset −10k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發射落在 </a:t>
            </a:r>
            <a:r>
              <a:rPr sz="1300" b="1">
                <a:solidFill>
                  <a:srgbClr val="C0674A"/>
                </a:solidFill>
                <a:latin typeface="Cambria"/>
              </a:rPr>
              <a:t>145.040</a:t>
            </a:r>
            <a:r>
              <a:rPr sz="1050" b="0">
                <a:solidFill>
                  <a:srgbClr val="8C7A6E"/>
                </a:solidFill>
                <a:latin typeface="Calibri"/>
              </a:rPr>
              <a:t>（紅線左）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5212080" cy="2432304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fs_mi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95254"/>
            <a:ext cx="5120640" cy="23359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1517904"/>
            <a:ext cx="521208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設 offset +10k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發射落在 </a:t>
            </a:r>
            <a:r>
              <a:rPr sz="1300" b="1">
                <a:solidFill>
                  <a:srgbClr val="A44E36"/>
                </a:solidFill>
                <a:latin typeface="Cambria"/>
              </a:rPr>
              <a:t>145.060</a:t>
            </a:r>
            <a:r>
              <a:rPr sz="1050" b="0">
                <a:solidFill>
                  <a:srgbClr val="8C7A6E"/>
                </a:solidFill>
                <a:latin typeface="Calibri"/>
              </a:rPr>
              <a:t>（紅線右）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847088"/>
            <a:ext cx="5212080" cy="2432304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ofs_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95254"/>
            <a:ext cx="5120640" cy="233597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" y="4480560"/>
            <a:ext cx="5212080" cy="786384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4937760" cy="6949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A44E36"/>
                </a:solidFill>
                <a:latin typeface="Cambria"/>
              </a:rPr>
              <a:t>RX　</a:t>
            </a:r>
            <a:r>
              <a:rPr sz="1050" b="0">
                <a:solidFill>
                  <a:srgbClr val="43312A"/>
                </a:solidFill>
                <a:latin typeface="Calibri"/>
              </a:rPr>
              <a:t>顯示／收聽 145.050　＝中繼台輸出（不動）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480560"/>
            <a:ext cx="5212080" cy="786384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4526280"/>
            <a:ext cx="4937760" cy="6949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A44E36"/>
                </a:solidFill>
                <a:latin typeface="Cambria"/>
              </a:rPr>
              <a:t>TX　</a:t>
            </a:r>
            <a:r>
              <a:rPr sz="1050" b="0">
                <a:solidFill>
                  <a:srgbClr val="43312A"/>
                </a:solidFill>
                <a:latin typeface="Calibri"/>
              </a:rPr>
              <a:t>145.050 ± offset　＝中繼台輸入（按 PTT 才平移）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652760" cy="896112"/>
          </a:xfrm>
          <a:prstGeom prst="roundRect">
            <a:avLst>
              <a:gd name="adj" fmla="val 10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5449824"/>
            <a:ext cx="10241280" cy="8229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0">
                <a:solidFill>
                  <a:srgbClr val="FBF7F2"/>
                </a:solidFill>
                <a:latin typeface="Calibri"/>
              </a:rPr>
              <a:t>紅線＝你設定的 145.050（RX 不動）；黃色載波＝按 PTT 的發射位置，隨 offset 左右平移。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0">
                <a:solidFill>
                  <a:srgbClr val="D99A5B"/>
                </a:solidFill>
                <a:latin typeface="Calibri"/>
              </a:rPr>
              <a:t>實測用 ±10 kHz 小偏移才同框看得到；真實中繼台常 ±600 kHz，要把 SDR 取樣率／頻寬開大才看得到跳到哪。</a:t>
            </a:r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  <p:pic>
        <p:nvPicPr>
          <p:cNvPr id="9" name="Picture 8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en-US" altLang="zh-TW" b="1" i="0" dirty="0" smtClean="0">
                <a:solidFill>
                  <a:srgbClr val="8C7A6E"/>
                </a:solidFill>
              </a:rPr>
              <a:t>(</a:t>
            </a:r>
            <a:r>
              <a:rPr lang="zh-TW" altLang="en-US" b="1" i="0" dirty="0" smtClean="0">
                <a:solidFill>
                  <a:srgbClr val="8C7A6E"/>
                </a:solidFill>
              </a:rPr>
              <a:t>全雙工</a:t>
            </a:r>
            <a:r>
              <a:rPr lang="en-US" altLang="zh-TW" b="1" i="0" dirty="0" smtClean="0">
                <a:solidFill>
                  <a:srgbClr val="8C7A6E"/>
                </a:solidFill>
              </a:rPr>
              <a:t>)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dirty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25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0080" y="2468880"/>
            <a:ext cx="288036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中繼台在做什麼</a:t>
            </a:r>
            <a:r>
              <a:rPr b="1" i="0" dirty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？</a:t>
            </a:r>
          </a:p>
          <a:p>
            <a:pPr algn="l"/>
            <a:endParaRPr b="1" i="0" dirty="0">
              <a:solidFill>
                <a:srgbClr val="A44E36"/>
              </a:solidFill>
              <a:latin typeface="Cambria"/>
            </a:endParaRPr>
          </a:p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兩台手持機互相聽不到（太遠、被山擋）就不能直通。中繼台架在高處，同時「收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」、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再用另一個頻率「發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」，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替大家轉發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——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把每個人的涵蓋範圍放大到中繼台看得到的地方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468880"/>
            <a:ext cx="347472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什麼時候用</a:t>
            </a:r>
            <a:r>
              <a:rPr b="1" i="0" dirty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？</a:t>
            </a:r>
          </a:p>
          <a:p>
            <a:pPr algn="l"/>
            <a:endParaRPr b="1" i="0" dirty="0">
              <a:solidFill>
                <a:srgbClr val="A44E36"/>
              </a:solidFill>
              <a:latin typeface="Cambria"/>
            </a:endParaRPr>
          </a:p>
          <a:p>
            <a:pPr algn="l"/>
            <a:r>
              <a:rPr sz="1600" b="0" i="0" dirty="0">
                <a:solidFill>
                  <a:srgbClr val="8C7A6E"/>
                </a:solidFill>
                <a:latin typeface="Calibri"/>
              </a:rPr>
              <a:t>手持機直通常只有幾公里、怕地形遮蔽。山區搜救、跨市聯絡、災難現場，靠一座山頂中繼台就能把分散的小隊連起來。注意：它一倒，靠它的人全斷——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要留直通備援</a:t>
            </a:r>
            <a:r>
              <a:rPr sz="125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sp>
        <p:nvSpPr>
          <p:cNvPr id="14" name="Rounded Rectangle 32"/>
          <p:cNvSpPr/>
          <p:nvPr/>
        </p:nvSpPr>
        <p:spPr>
          <a:xfrm>
            <a:off x="649224" y="5883358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400" b="1" dirty="0" smtClean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提示 </a:t>
            </a:r>
            <a:r>
              <a:rPr lang="zh-TW" altLang="en-US" sz="1400" b="1" dirty="0" smtClean="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可以看看無線電的設定</a:t>
            </a:r>
            <a:r>
              <a:rPr lang="zh-TW" altLang="en-US" sz="1400" b="1" dirty="0" smtClean="0">
                <a:solidFill>
                  <a:schemeClr val="bg1">
                    <a:lumMod val="65000"/>
                  </a:schemeClr>
                </a:solidFill>
                <a:latin typeface="Cambria"/>
              </a:rPr>
              <a:t> </a:t>
            </a:r>
            <a:endParaRPr sz="135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pic>
        <p:nvPicPr>
          <p:cNvPr id="15" name="Picture 14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  <p:pic>
        <p:nvPicPr>
          <p:cNvPr id="12" name="Picture 11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55767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靜噪：在「底噪」之上，畫一條門檻線</a:t>
            </a:r>
            <a:endParaRPr lang="en-US" sz="32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783080"/>
            <a:ext cx="5852160" cy="3291840"/>
          </a:xfrm>
          <a:prstGeom prst="rect">
            <a:avLst/>
          </a:prstGeom>
          <a:solidFill>
            <a:srgbClr val="2A201B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960120" y="4251959"/>
            <a:ext cx="5394960" cy="566928"/>
          </a:xfrm>
          <a:prstGeom prst="rect">
            <a:avLst/>
          </a:prstGeom>
          <a:solidFill>
            <a:srgbClr val="D8D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Isosceles Triangle 6"/>
          <p:cNvSpPr/>
          <p:nvPr/>
        </p:nvSpPr>
        <p:spPr>
          <a:xfrm>
            <a:off x="2926080" y="2487168"/>
            <a:ext cx="1463040" cy="2331720"/>
          </a:xfrm>
          <a:prstGeom prst="triangle">
            <a:avLst/>
          </a:prstGeom>
          <a:solidFill>
            <a:srgbClr val="5F8A9B"/>
          </a:solidFill>
          <a:ln w="12700">
            <a:solidFill>
              <a:srgbClr val="8F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8" name="Connector 7"/>
          <p:cNvCxnSpPr/>
          <p:nvPr/>
        </p:nvCxnSpPr>
        <p:spPr>
          <a:xfrm>
            <a:off x="960120" y="2194560"/>
            <a:ext cx="5394960" cy="0"/>
          </a:xfrm>
          <a:prstGeom prst="line">
            <a:avLst/>
          </a:prstGeom>
          <a:ln w="22225">
            <a:solidFill>
              <a:srgbClr val="B53B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60120" y="3278123"/>
            <a:ext cx="5394960" cy="0"/>
          </a:xfrm>
          <a:prstGeom prst="line">
            <a:avLst/>
          </a:prstGeom>
          <a:ln w="22225">
            <a:solidFill>
              <a:srgbClr val="5E7D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60120" y="4507992"/>
            <a:ext cx="5394960" cy="0"/>
          </a:xfrm>
          <a:prstGeom prst="line">
            <a:avLst/>
          </a:prstGeom>
          <a:ln w="22225">
            <a:solidFill>
              <a:srgbClr val="C87A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4229255"/>
            <a:ext cx="109728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6259"/>
                </a:solidFill>
                <a:latin typeface="Calibri"/>
              </a:rPr>
              <a:t>底噪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373982"/>
            <a:ext cx="137160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dirty="0" err="1">
                <a:solidFill>
                  <a:srgbClr val="FFFFFF"/>
                </a:solidFill>
                <a:latin typeface="Calibri"/>
              </a:rPr>
              <a:t>訊號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023360" y="1931212"/>
            <a:ext cx="228600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09A8C"/>
                </a:solidFill>
                <a:latin typeface="Calibri"/>
              </a:rPr>
              <a:t>太高 → 漏接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14775"/>
            <a:ext cx="269748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9EC69A"/>
                </a:solidFill>
                <a:latin typeface="Calibri"/>
              </a:rPr>
              <a:t>剛好 → 訊號開 · 雜音關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528108"/>
            <a:ext cx="26060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7B47C"/>
                </a:solidFill>
                <a:latin typeface="Calibri"/>
              </a:rPr>
              <a:t>太低 → 沙沙(雜音漏)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783080"/>
            <a:ext cx="4663440" cy="3447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A44E36"/>
                </a:solidFill>
                <a:latin typeface="Cambria"/>
              </a:rPr>
              <a:t>靜噪 SQL ＝ 你設的一條「門檻線」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386584"/>
            <a:ext cx="128016" cy="128016"/>
          </a:xfrm>
          <a:prstGeom prst="rect">
            <a:avLst/>
          </a:prstGeom>
          <a:solidFill>
            <a:srgbClr val="5E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178040" y="2331720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訊號高過門檻</a:t>
            </a:r>
            <a:r>
              <a:rPr sz="1600" b="0">
                <a:solidFill>
                  <a:srgbClr val="43312A"/>
                </a:solidFill>
                <a:latin typeface="Calibri"/>
              </a:rPr>
              <a:t>　→　喇叭開 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907792"/>
            <a:ext cx="128016" cy="128016"/>
          </a:xfrm>
          <a:prstGeom prst="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7178040" y="2852928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低於門檻（含底噪）</a:t>
            </a:r>
            <a:r>
              <a:rPr sz="1600" b="0">
                <a:solidFill>
                  <a:srgbClr val="43312A"/>
                </a:solidFill>
                <a:latin typeface="Calibri"/>
              </a:rPr>
              <a:t>　→　喇叭關（安靜）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3429000"/>
            <a:ext cx="128016" cy="128016"/>
          </a:xfrm>
          <a:prstGeom prst="rect">
            <a:avLst/>
          </a:prstGeom>
          <a:solidFill>
            <a:srgbClr val="C8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7178040" y="3374136"/>
            <a:ext cx="4480560" cy="53925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門檻設在底噪之上一點點</a:t>
            </a:r>
            <a:r>
              <a:rPr sz="1600" b="0">
                <a:solidFill>
                  <a:srgbClr val="43312A"/>
                </a:solidFill>
                <a:latin typeface="Calibri"/>
              </a:rPr>
              <a:t>：雜音被關掉、真訊號一來就開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4169663"/>
            <a:ext cx="128016" cy="128016"/>
          </a:xfrm>
          <a:prstGeom prst="rect">
            <a:avLst/>
          </a:prstGeom>
          <a:solidFill>
            <a:srgbClr val="B5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7178040" y="4114800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太低 → 一直沙沙；太高 → 有人也漏接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4892040"/>
            <a:ext cx="4663440" cy="1188720"/>
          </a:xfrm>
          <a:prstGeom prst="roundRect">
            <a:avLst>
              <a:gd name="adj" fmla="val 8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7132320" y="4915475"/>
            <a:ext cx="4206240" cy="114185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b="1">
                <a:solidFill>
                  <a:srgbClr val="C87A2E"/>
                </a:solidFill>
                <a:latin typeface="Calibri"/>
              </a:rPr>
              <a:t>它只關喇叭、不動電波。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FBF7F2"/>
                </a:solidFill>
                <a:latin typeface="Calibri"/>
              </a:rPr>
              <a:t>你這裡沒聲，不代表別人沒收到——SDR、沒設靜噪的人照樣收得到（跟亞音「不是加密」同一個道理）。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靜噪體驗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 SQL 找門檻：太低吵、太高漏接（用低功率）</a:t>
            </a:r>
            <a:endParaRPr lang="en-US" sz="32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444752"/>
            <a:ext cx="109728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3312A"/>
                </a:solidFill>
                <a:latin typeface="Calibri"/>
              </a:rPr>
              <a:t>各組甲聽、乙發（同頻率）。把 SQL 從 0 慢慢往上轉，看喇叭：一直響 → 只在乙發時響 → 連乙發都不響。弱訊號用</a:t>
            </a:r>
            <a:r>
              <a:rPr sz="1200" b="1">
                <a:solidFill>
                  <a:srgbClr val="A44E36"/>
                </a:solidFill>
                <a:latin typeface="Calibri"/>
              </a:rPr>
              <a:t>低功率 (L)</a:t>
            </a:r>
            <a:r>
              <a:rPr sz="1200" b="0">
                <a:solidFill>
                  <a:srgbClr val="43312A"/>
                </a:solidFill>
                <a:latin typeface="Calibri"/>
              </a:rPr>
              <a:t>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83664"/>
            <a:ext cx="137160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640080" y="1970687"/>
            <a:ext cx="137160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測試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883664"/>
            <a:ext cx="233172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2011680" y="1970687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r>
              <a:rPr lang="zh-TW" altLang="en-US"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的 </a:t>
            </a:r>
            <a:r>
              <a:rPr sz="1600" b="1" dirty="0">
                <a:solidFill>
                  <a:srgbClr val="FFFFFF"/>
                </a:solidFill>
                <a:latin typeface="Cambria"/>
              </a:rPr>
              <a:t>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83664"/>
            <a:ext cx="237744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343400" y="1970687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>
                <a:solidFill>
                  <a:srgbClr val="FFFFFF"/>
                </a:solidFill>
                <a:latin typeface="Cambria"/>
              </a:rPr>
              <a:t>B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Cambria"/>
              </a:rPr>
              <a:t>發射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720840" y="1883664"/>
            <a:ext cx="155448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6720840" y="1970687"/>
            <a:ext cx="155448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r>
              <a:rPr lang="zh-TW" altLang="en-US"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err="1" smtClean="0">
                <a:solidFill>
                  <a:srgbClr val="FFFFFF"/>
                </a:solidFill>
                <a:latin typeface="Cambria"/>
              </a:rPr>
              <a:t>喇叭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275319" y="1883664"/>
            <a:ext cx="329184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8275319" y="1970687"/>
            <a:ext cx="3291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體驗／學到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40864"/>
            <a:ext cx="137160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Rectangle 16"/>
          <p:cNvSpPr/>
          <p:nvPr/>
        </p:nvSpPr>
        <p:spPr>
          <a:xfrm>
            <a:off x="2011680" y="2340864"/>
            <a:ext cx="233172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Rectangle 17"/>
          <p:cNvSpPr/>
          <p:nvPr/>
        </p:nvSpPr>
        <p:spPr>
          <a:xfrm>
            <a:off x="4343400" y="2340864"/>
            <a:ext cx="23774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6720840" y="2340864"/>
            <a:ext cx="155448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0" name="Rectangle 19"/>
          <p:cNvSpPr/>
          <p:nvPr/>
        </p:nvSpPr>
        <p:spPr>
          <a:xfrm>
            <a:off x="8275319" y="2340864"/>
            <a:ext cx="32918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1" name="TextBox 20"/>
          <p:cNvSpPr txBox="1"/>
          <p:nvPr/>
        </p:nvSpPr>
        <p:spPr>
          <a:xfrm>
            <a:off x="640080" y="2377595"/>
            <a:ext cx="1371600" cy="49346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A44E36"/>
                </a:solidFill>
                <a:latin typeface="Calibri"/>
              </a:rPr>
              <a:t>①  SQL </a:t>
            </a:r>
            <a:r>
              <a:rPr sz="1400" b="1" dirty="0" smtClean="0">
                <a:solidFill>
                  <a:srgbClr val="A44E36"/>
                </a:solidFill>
                <a:latin typeface="Calibri"/>
              </a:rPr>
              <a:t>0</a:t>
            </a:r>
            <a:endParaRPr lang="en-US" sz="1400" b="1" dirty="0" smtClean="0">
              <a:solidFill>
                <a:srgbClr val="A44E36"/>
              </a:solidFill>
              <a:latin typeface="Calibri"/>
            </a:endParaRP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 smtClean="0">
                <a:solidFill>
                  <a:srgbClr val="A44E36"/>
                </a:solidFill>
                <a:latin typeface="Calibri"/>
              </a:rPr>
              <a:t>（</a:t>
            </a:r>
            <a:r>
              <a:rPr sz="1400" b="1" dirty="0" err="1">
                <a:solidFill>
                  <a:srgbClr val="A44E36"/>
                </a:solidFill>
                <a:latin typeface="Calibri"/>
              </a:rPr>
              <a:t>全開</a:t>
            </a:r>
            <a:r>
              <a:rPr sz="1400" b="1" dirty="0">
                <a:solidFill>
                  <a:srgbClr val="A44E36"/>
                </a:solidFill>
                <a:latin typeface="Calibri"/>
              </a:rPr>
              <a:t>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482752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轉到最小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82752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沒人發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467362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C87A2E"/>
                </a:solidFill>
                <a:latin typeface="Cambria"/>
              </a:rPr>
              <a:t>一直沙沙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498140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太低＝整天雜音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907792"/>
            <a:ext cx="137160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7" name="Rectangle 26"/>
          <p:cNvSpPr/>
          <p:nvPr/>
        </p:nvSpPr>
        <p:spPr>
          <a:xfrm>
            <a:off x="2011680" y="2907792"/>
            <a:ext cx="233172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8" name="Rectangle 27"/>
          <p:cNvSpPr/>
          <p:nvPr/>
        </p:nvSpPr>
        <p:spPr>
          <a:xfrm>
            <a:off x="4343400" y="2907792"/>
            <a:ext cx="23774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Rectangle 28"/>
          <p:cNvSpPr/>
          <p:nvPr/>
        </p:nvSpPr>
        <p:spPr>
          <a:xfrm>
            <a:off x="6720840" y="2907792"/>
            <a:ext cx="155448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0" name="Rectangle 29"/>
          <p:cNvSpPr/>
          <p:nvPr/>
        </p:nvSpPr>
        <p:spPr>
          <a:xfrm>
            <a:off x="8275319" y="2907792"/>
            <a:ext cx="32918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1" name="TextBox 30"/>
          <p:cNvSpPr txBox="1"/>
          <p:nvPr/>
        </p:nvSpPr>
        <p:spPr>
          <a:xfrm>
            <a:off x="640080" y="2957347"/>
            <a:ext cx="137160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②  調到雜音剛消失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049680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慢慢往上轉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049680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沒人發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034290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5E7D5A"/>
                </a:solidFill>
                <a:latin typeface="Cambria"/>
              </a:rPr>
              <a:t>安靜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065068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這個值＝「門檻」（設在底噪之上）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474720"/>
            <a:ext cx="137160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7" name="Rectangle 36"/>
          <p:cNvSpPr/>
          <p:nvPr/>
        </p:nvSpPr>
        <p:spPr>
          <a:xfrm>
            <a:off x="2011680" y="3474720"/>
            <a:ext cx="233172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8" name="Rectangle 37"/>
          <p:cNvSpPr/>
          <p:nvPr/>
        </p:nvSpPr>
        <p:spPr>
          <a:xfrm>
            <a:off x="4343400" y="3474720"/>
            <a:ext cx="23774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9" name="Rectangle 38"/>
          <p:cNvSpPr/>
          <p:nvPr/>
        </p:nvSpPr>
        <p:spPr>
          <a:xfrm>
            <a:off x="6720840" y="3474720"/>
            <a:ext cx="155448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0" name="Rectangle 39"/>
          <p:cNvSpPr/>
          <p:nvPr/>
        </p:nvSpPr>
        <p:spPr>
          <a:xfrm>
            <a:off x="8275319" y="3474720"/>
            <a:ext cx="32918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7160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③  維持門檻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3616608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不動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3616608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乙近距·正常發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601218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5E7D5A"/>
                </a:solidFill>
                <a:latin typeface="Cambria"/>
              </a:rPr>
              <a:t>出聲、清楚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19" y="3631996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設對：安靜又收得到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4041648"/>
            <a:ext cx="137160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Rectangle 46"/>
          <p:cNvSpPr/>
          <p:nvPr/>
        </p:nvSpPr>
        <p:spPr>
          <a:xfrm>
            <a:off x="2011680" y="4041648"/>
            <a:ext cx="233172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8" name="Rectangle 47"/>
          <p:cNvSpPr/>
          <p:nvPr/>
        </p:nvSpPr>
        <p:spPr>
          <a:xfrm>
            <a:off x="4343400" y="4041648"/>
            <a:ext cx="23774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9" name="Rectangle 48"/>
          <p:cNvSpPr/>
          <p:nvPr/>
        </p:nvSpPr>
        <p:spPr>
          <a:xfrm>
            <a:off x="6720840" y="4041648"/>
            <a:ext cx="155448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0" name="Rectangle 49"/>
          <p:cNvSpPr/>
          <p:nvPr/>
        </p:nvSpPr>
        <p:spPr>
          <a:xfrm>
            <a:off x="8275319" y="4041648"/>
            <a:ext cx="32918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1" name="TextBox 50"/>
          <p:cNvSpPr txBox="1"/>
          <p:nvPr/>
        </p:nvSpPr>
        <p:spPr>
          <a:xfrm>
            <a:off x="640080" y="4091203"/>
            <a:ext cx="137160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④  SQL 轉到最高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1680" y="4183536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調到最大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4183536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乙轉低功率 L 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4016823"/>
            <a:ext cx="1554480" cy="616579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 dirty="0" err="1" smtClean="0">
                <a:solidFill>
                  <a:srgbClr val="B53B2E"/>
                </a:solidFill>
                <a:latin typeface="Cambria"/>
              </a:rPr>
              <a:t>聽不到</a:t>
            </a:r>
            <a:endParaRPr lang="en-US" b="1" dirty="0" smtClean="0">
              <a:solidFill>
                <a:srgbClr val="B53B2E"/>
              </a:solidFill>
              <a:latin typeface="Cambria"/>
            </a:endParaRP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 smtClean="0">
                <a:solidFill>
                  <a:srgbClr val="B53B2E"/>
                </a:solidFill>
                <a:latin typeface="Cambria"/>
              </a:rPr>
              <a:t>（</a:t>
            </a:r>
            <a:r>
              <a:rPr b="1" dirty="0" err="1">
                <a:solidFill>
                  <a:srgbClr val="B53B2E"/>
                </a:solidFill>
                <a:latin typeface="Cambria"/>
              </a:rPr>
              <a:t>漏接</a:t>
            </a:r>
            <a:r>
              <a:rPr b="1" dirty="0">
                <a:solidFill>
                  <a:srgbClr val="B53B2E"/>
                </a:solidFill>
                <a:latin typeface="Cambria"/>
              </a:rPr>
              <a:t>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19" y="4198924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太高＝有人也漏接；SDR／BUSY 仍看得到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" y="5321808"/>
            <a:ext cx="10927080" cy="1060704"/>
          </a:xfrm>
          <a:prstGeom prst="roundRect">
            <a:avLst>
              <a:gd name="adj" fmla="val 8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7" name="TextBox 66"/>
          <p:cNvSpPr txBox="1"/>
          <p:nvPr/>
        </p:nvSpPr>
        <p:spPr>
          <a:xfrm>
            <a:off x="914400" y="5429994"/>
            <a:ext cx="10424160" cy="84433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靜噪＝訊號強度的門檻，只關喇叭、不動電波</a:t>
            </a:r>
            <a:r>
              <a:rPr sz="1400" b="0">
                <a:solidFill>
                  <a:srgbClr val="FBF7F2"/>
                </a:solidFill>
                <a:latin typeface="Calibri"/>
              </a:rPr>
              <a:t>（沒聲 ≠ 沒收到；SDR／別人照收）。太低一直吵、太高會漏接，門檻設在「底噪之上一點點」最好。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C87A2E"/>
                </a:solidFill>
                <a:latin typeface="Calibri"/>
              </a:rPr>
              <a:t>⚑ 收不到先分辨：</a:t>
            </a:r>
            <a:r>
              <a:rPr sz="1400" b="0">
                <a:solidFill>
                  <a:srgbClr val="FBF7F2"/>
                </a:solidFill>
                <a:latin typeface="Calibri"/>
              </a:rPr>
              <a:t>「靜噪太高」還是「真的沒訊號」？按 MONI（監聽）或看 SDR 瀑布圖——有訊號卻沒聲＝靜噪太高。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出問題，怎麼查？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排查心法：先聽、分層、一次一項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27080" cy="603504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 dirty="0" err="1" smtClean="0">
                <a:solidFill>
                  <a:srgbClr val="A44E36"/>
                </a:solidFill>
                <a:latin typeface="Calibri"/>
              </a:rPr>
              <a:t>靠機器自己的工具排查</a:t>
            </a:r>
            <a:r>
              <a:rPr sz="1600" b="1" i="0" dirty="0">
                <a:solidFill>
                  <a:srgbClr val="A44E36"/>
                </a:solidFill>
                <a:latin typeface="Calibri"/>
              </a:rPr>
              <a:t>——</a:t>
            </a:r>
            <a:r>
              <a:rPr sz="1600" b="1" i="0" dirty="0" err="1">
                <a:solidFill>
                  <a:srgbClr val="A44E36"/>
                </a:solidFill>
                <a:latin typeface="Calibri"/>
              </a:rPr>
              <a:t>大多數問題出在設定，不是設備</a:t>
            </a:r>
            <a:r>
              <a:rPr sz="1600" b="1" i="0" dirty="0" smtClean="0">
                <a:solidFill>
                  <a:srgbClr val="A44E36"/>
                </a:solidFill>
                <a:latin typeface="Calibri"/>
              </a:rPr>
              <a:t>。</a:t>
            </a:r>
            <a:r>
              <a:rPr lang="zh-TW" altLang="en-US" sz="1600" b="1" i="0" dirty="0" smtClean="0">
                <a:solidFill>
                  <a:srgbClr val="A44E36"/>
                </a:solidFill>
                <a:latin typeface="Calibri"/>
              </a:rPr>
              <a:t>但先檢查自己的設備，如天線有沒有用錯頭、鎖緊</a:t>
            </a:r>
            <a:endParaRPr sz="1600" b="1" i="0" dirty="0">
              <a:solidFill>
                <a:srgbClr val="A44E36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2258568"/>
            <a:ext cx="2121408" cy="457200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① 先聽、先看表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6" y="2843784"/>
            <a:ext cx="3300985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靜噪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400" b="0" i="0" dirty="0" smtClean="0">
                <a:solidFill>
                  <a:srgbClr val="8C7A6E"/>
                </a:solidFill>
                <a:latin typeface="Calibri"/>
              </a:rPr>
              <a:t>SQL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4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400" dirty="0">
                <a:solidFill>
                  <a:srgbClr val="8C7A6E"/>
                </a:solidFill>
                <a:latin typeface="Calibri"/>
              </a:rPr>
              <a:t>0</a:t>
            </a:r>
            <a:r>
              <a:rPr sz="1400" b="0" i="0" dirty="0" smtClean="0">
                <a:solidFill>
                  <a:srgbClr val="8C7A6E"/>
                </a:solidFill>
                <a:latin typeface="Calibri"/>
              </a:rPr>
              <a:t>，聽有沒有訊號或雜音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，</a:t>
            </a:r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先分辨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「真沒訊號」還是「設定問題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44568" y="2258568"/>
            <a:ext cx="2121408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② 分層照成本查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設定(免費最常見)→ 實體(天線接頭＞高度視距＞功率)→ 系統(中繼位移/亞音、可達性、單點失效)。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47888" y="2258568"/>
            <a:ext cx="2779775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③ 一次一項＋找人對測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改一個參數就測一次；請隊友用另一台幫你聽，才分得出是「發不出」還是「收不到」。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10927080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黃金順序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先查五個免費設定——頻率／步進／寬窄／亞音／靜噪；再懷疑天線與距離(接頭鎖緊、架高、視距)；最後才動功率——功率不是萬靈丹(S3)。</a:t>
            </a:r>
          </a:p>
        </p:txBody>
      </p:sp>
      <p:pic>
        <p:nvPicPr>
          <p:cNvPr id="15" name="Picture 14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收訊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聽不到、聽不清：症狀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71600"/>
            <a:ext cx="28803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完全沒聲音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沒對到頻率／靜噪太高／要亞音沒對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6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600" dirty="0" smtClean="0">
                <a:solidFill>
                  <a:srgbClr val="8C7A6E"/>
                </a:solidFill>
                <a:latin typeface="Calibri"/>
              </a:rPr>
              <a:t>SQL =0</a:t>
            </a:r>
            <a:r>
              <a:rPr sz="16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監聽有沒有雜音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訊號；核對頻率與步進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對頻＋對步進；降靜噪；關或對正亞音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401568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聲音破、尖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01568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對方寬頻、你窄頻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01568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問對方是 W 還是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401568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40080" y="4187952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聲音悶、小聲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187952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對方窄頻、你寬頻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87952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同上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187952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40080" y="4974336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一直有雜音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974336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訊號弱／靜噪太低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74336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 S 表格數低不低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974336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靠近／架高／換天線；調高靜噪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" y="2615184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轉不到想要的頻率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35224" y="2615184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步進設太大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52744" y="2615184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試著轉到 145.0125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95944" y="2615184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改小步進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pic>
        <p:nvPicPr>
          <p:cNvPr id="32" name="Picture 31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發射與系統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發不出去、中繼與覆蓋：症狀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37160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別人都收不到我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天線沒鎖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接錯、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功率太低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0" y="18288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檢查接頭公母、鎖緊；請隊友用另一台聽你發射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鎖緊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smtClean="0">
                <a:solidFill>
                  <a:srgbClr val="8C7A6E"/>
                </a:solidFill>
                <a:latin typeface="Calibri"/>
              </a:rPr>
              <a:t>換對接頭；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架高；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適度功率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直通不通、走中繼才通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7432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兩台互相聽不到(可達性)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7432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隊友互相直呼看得到彼此嗎；是不是被地形擋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7432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靠近／架高／走中繼台(第二節)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開不了中繼台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6576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入口亞音錯、位移方向或大小錯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36576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對照中繼台的參數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6576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設對入口亞音與位移(想一想)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中繼台一倒全斷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5720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星狀單點失效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5720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45720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預留直通備援頻率、分散節點(第二節)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864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覆蓋不到遠隊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4864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距離／地形超出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54864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看地形與視距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54864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高增益天線＋架高(天線＞功率)；中繼台延伸</a:t>
            </a:r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  <p:pic>
        <p:nvPicPr>
          <p:cNvPr id="7" name="Picture 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238781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 sz="28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32104" y="2366412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400" b="1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情境</a:t>
            </a:r>
            <a:r>
              <a:rPr sz="24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強震後市電中斷。你是新竹市現場指揮所民防通訊官，要替下列單位設計一份「能立即部署」的通訊計畫：指揮所（市區高點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）、搜救隊×3（分散山區與倒塌區，相距數公里、地形遮蔽）、後送隊×2（往醫院</a:t>
            </a:r>
            <a:r>
              <a:rPr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zh-TW" altLang="en-US"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，每隊僅能聽到自己隊員的通訊</a:t>
            </a:r>
            <a:r>
              <a:rPr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可用器材：每人一台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2m/70cm 手持機（0.5–5 W）、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少量高增益天線、可選配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Meshtastic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節點；電力僅電池與少量太陽能；市內有一座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2m 中繼台可用（145.700 MHz，−0.6 MHz）。部分傷患名單需保密。指定主用頻段：2m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業餘頻段（需執照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每組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3–4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人，交付頻率／亞音／功率／天線／資料鏈路／韌性都想清楚的計畫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" name="Picture 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1" i="0" dirty="0" err="1">
                <a:solidFill>
                  <a:srgbClr val="A44E36"/>
                </a:solidFill>
                <a:latin typeface="Cambria"/>
              </a:rPr>
              <a:t>交付</a:t>
            </a:r>
            <a:r>
              <a:rPr sz="1400" b="1" i="0" dirty="0">
                <a:solidFill>
                  <a:srgbClr val="A44E36"/>
                </a:solidFill>
                <a:latin typeface="Cambria"/>
              </a:rPr>
              <a:t>　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每組上台用一句「症狀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用哪個參數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為什麼」講一個你們預先擋掉的通訊故障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34" name="Picture 33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各隊分配不同頻率、步進統一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0" i="0" dirty="0">
                <a:solidFill>
                  <a:srgbClr val="8C7A6E"/>
                </a:solidFill>
                <a:latin typeface="Calibri"/>
              </a:rPr>
              <a:t>＊ 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數字為範例，實際依頻率協調與現場而定；重點是每一項都說得出「為什麼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需保密內容必須另規劃管道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29" name="Picture 28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4530</Words>
  <Application>Microsoft Office PowerPoint</Application>
  <PresentationFormat>寬螢幕</PresentationFormat>
  <Paragraphs>784</Paragraphs>
  <Slides>54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54</vt:i4>
      </vt:variant>
    </vt:vector>
  </HeadingPairs>
  <TitlesOfParts>
    <vt:vector size="60" baseType="lpstr">
      <vt:lpstr>微軟正黑體</vt:lpstr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31</cp:revision>
  <dcterms:created xsi:type="dcterms:W3CDTF">2026-08-22T02:39:20Z</dcterms:created>
  <dcterms:modified xsi:type="dcterms:W3CDTF">2026-08-29T23:55:32Z</dcterms:modified>
</cp:coreProperties>
</file>