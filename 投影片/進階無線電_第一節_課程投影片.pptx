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5" r:id="rId19"/>
    <p:sldId id="296" r:id="rId20"/>
    <p:sldId id="297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5" r:id="rId33"/>
    <p:sldId id="286" r:id="rId34"/>
    <p:sldId id="287" r:id="rId35"/>
    <p:sldId id="288" r:id="rId36"/>
    <p:sldId id="309" r:id="rId37"/>
    <p:sldId id="306" r:id="rId38"/>
    <p:sldId id="307" r:id="rId39"/>
    <p:sldId id="308" r:id="rId40"/>
    <p:sldId id="293" r:id="rId41"/>
    <p:sldId id="284" r:id="rId42"/>
    <p:sldId id="294" r:id="rId43"/>
    <p:sldId id="289" r:id="rId44"/>
    <p:sldId id="300" r:id="rId45"/>
    <p:sldId id="310" r:id="rId46"/>
    <p:sldId id="311" r:id="rId47"/>
    <p:sldId id="302" r:id="rId48"/>
    <p:sldId id="303" r:id="rId49"/>
    <p:sldId id="304" r:id="rId50"/>
    <p:sldId id="305" r:id="rId51"/>
    <p:sldId id="290" r:id="rId52"/>
    <p:sldId id="291" r:id="rId53"/>
    <p:sldId id="299" r:id="rId54"/>
    <p:sldId id="30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49" autoAdjust="0"/>
    <p:restoredTop sz="94610"/>
  </p:normalViewPr>
  <p:slideViewPr>
    <p:cSldViewPr snapToGrid="0" snapToObjects="1">
      <p:cViewPr varScale="1">
        <p:scale>
          <a:sx n="65" d="100"/>
          <a:sy n="65" d="100"/>
        </p:scale>
        <p:origin x="58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95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開場：手持機選單上每一個看不懂的參數，我們都用瀑布圖把它變成看得見的現象。所有量測都是相對比較，不需要頻譜分析儀。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先給地圖：七個參數 + 最後的分組任務。第一段最重要，聽不懂瀑布圖後面都接不下去。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打地基。聽眾看不懂這張圖，後面六段都講不下去。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重點講兩件事：上圖(頻譜)的 Y 軸是即時強度 dBFS，下圖(瀑布)把強度換成亮度、並多了一條由上往下的時間軸。亮度是相對的，色階拉高訊號看起來會變窄——收尾回扣。順帶帶出寬度＝佔用頻寬。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配合瀑布圖把五個常用詞先講清楚：載波(那根線)、底噪(背景基準)、頻寬(寬度)、頻段(用途分區,圖上紅條)、DC(中央假訊號)。2m 業餘段=波長約2公尺的業餘VHF頻段(144–148MHz,台灣實際範圍待查)。後面每一段都會用到這些詞。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判斷前要先有『標準答案』。四種理想頻譜：純載波=一根；FM+單音=等距邊帶(多根,可數);FM語音=連續丘(看似一坨);數位=平頂方塊。回答學員疑問：FM本身是一根載波，一調變就長邊帶——純音邊帶可數(這就是W/N測試音與CTCSS亞音的多根)，語音因含多頻率而糊成一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重點：就算沒看過某個訊號，也能用常識推理——(1)它有理由待在這頻段嗎 (2)形狀配得上用途嗎(語音有一定寬度、信標很窄) (3)行為像真的嗎(會來會走/週期/一整排等距=過載)。不確定就動手戳：PTT、移中心、降功率。假訊號指紋：完美等距=過載、正中央不動=DC、退調就消失=互調。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1。頻率就是左右位置。這一節從『位置』延伸到 VHF/UHF、波長與傳播。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這一頁把『頻率對得上是根本』highlight 出來。順序：先對頻率(碰面地點)，再談功率/天線。現場口訣：叫不到先查頻率末位。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三張只按 PTT 不說話。線往右＝頻率高。現場：聽得到卻叫不到，先查頻率末位。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VHF 30–300M、UHF 300M–3G。業餘 2m 段在 VHF、70cm 段在 UHF。λ=c/f，145M→約 2m、435M→約 0.7m，段名就是這麼來的。頻率越高波長越短，天線也越短。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長波長繞射好、開闊地傳遠（VHF/2m）；短波長靠反射鑽建築、市區室內佔優（UHF/70cm）。天線長度也跟著波長。強調：這是理論上的相對優勢。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六種效應：多路徑、反射、折射、散射、繞射、吸收/遮蔽。合起來造成衰落與不穩定。關鍵訊息：理論優勢會被環境洗掉，要用 SDR 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近代數位手段：FEC、展頻/OFDM、分集/MIMO、自適應重傳。業餘 FM 是類比、沒有這些，但正因為簡單堅固無需基礎設施，成為災害/民防的最後手段。抗噪靠捕獲效應（後面亞音那段會再提）。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2。功率對應亮度/高度。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功率的目的：對抗距離衰減。設計成分段可調，讓你權衡覆蓋 vs 耗電/干擾。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功率動高度不動寬度——用示意圖講最清楚。現有實測 H/L 太近、都接近滿檔看不出差，正好帶出 Demo 2 的操作重點：先拉遠再比。此組截圖待重拍。對照 Demo 4：功率動高度、音量動寬度，別混。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3。W/N 的物理意義：設定最大頻偏(±5k/±2.5k)，也就是佔用寬度的上限(約16k/11k)。對學員用『寬度天花板』說明，『頻偏』留在此備註即可。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W/N 的目的：頻譜效率。窄頻＝拿音質換頻道數。實務重點：全隊統一，寫進通聯計畫。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用固定音源而非講話，寬窄差異才乾淨。窄頻省一半頻譜，代價 SNR 約掉 6 dB。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步進有兩層意思：先講最原始的——轉頻率的最小跳動單位；再講協調沒做好的後果——鄰頻重疊。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步進的目的：把頻譜規劃成整齊頻道。設錯→停不上格線(叫不到)或間隔不對(壓鄰頻)。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步進最原始的意義：調頻率的最小單位。調不到某頻率＝步進太大跳過了。例：想停 145.0125，步進 25k 停不到、12.5k 才停得到。下一頁講步進沒協調好的後果。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概念圖，實拍待補：一台 145.050、一台 145.0625，相隔 12.5 kHz，兩邊寬頻邊帶重疊。25 kHz 或窄頻才分得開。最惡劣：設寬頻的人自己無感，受害的是鄰頻。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保護頻帶不是浪費，是給三件『真實世界的不完美』留的緩衝：①裙擺(訊號超出理論頻寬) ②發射漂移 ③接收濾波器不夠陡。FM 要多寬：寬頻約 9 kHz、窄頻只剩 1.5 kHz——窄頻幾乎沒緩衝，所以對頻率準確度/濾波器更嚴。這頁為下一段『中繼台為什麼位移要那麼大』鋪路。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小實作標題頁。目標：每組一對無線電，一台寬頻+低功率、一台窄頻+高功率，頻率略微錯開，在SDR上疊出一寬一窄的形狀（形狀在下一頁題目頁展示）。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要：原版頻率(145.0–146.65)踩到地雷——超出台灣2m(144–146)、壓到ISS/衛星145.800、鄰近呼叫145.500。已重排：六組各100kHz、全部在145.480以下、限制在2m內、避開145.500與145.800。同時發射改為『低功率+先看SDR』。開課前務必再對NCC頻段規劃與當地緊急/中繼/衛星/APRS頻率(講義附錄待查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題目：一台寬頻+低功率(矮又寬)、一台窄頻+高功率(高又窄)，頻率錯開，開FFT Hold兩台輪流發，疊出一寬一窄的目標形狀。綜合Demo2+3：高度=功率、寬度=W/N,兩軸獨立。也是判讀『一個頻段裡幾台、各什麼設定』的基本功。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5。全課教學價值最高的一段。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亞音的目的：在共用頻率上分群、過濾。機制=收端門檻，不動電波、不保密。中繼台常要求正確亞音。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梳齒間隔就是亞音頻率。用格線(100Hz/格)當尺，數格子就讀出頻率，六個設定誤差都在 1.4% 內。亞音一點都藏不住。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①⑤ 的 A 都沒發亞音，電波幾乎一樣，但 B 的 RX 亞音決定喇叭開不開。BUSY 燈亮＝機器收到了。任何 SDR 都收得到全部內容。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動動腦=綜合設計題。中繼台同時收發(全雙工,基礎課已教,這裡不重講)。四個參數要學員自己決定並說為什麼：①位移(回扣保護頻帶+自我干擾:為何不能只差12.5k) ②亞音存取(S6) ③功率位置(S3) ④和鄰台協調(S5鄰頻重疊放大版)。陷阱:方向反/亞音錯/鄰台打架/位移太小自我干擾。加分可談反轉(聽輸入判斷能否直通)。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靜噪還沒實測，先留占位。接在 Demo 5 後講最順：SQL 是『兩道門』的第一道。之後補：同一訊號 SQL 高/低兩張，畫面一樣。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進入分組任務。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四面向對應今天四個 demo。評分重點在推理過程，不是標準答案。要求每組講一個他們預先避開的故障。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418320" y="4023360"/>
            <a:ext cx="4937760" cy="493776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241280" y="-1188720"/>
            <a:ext cx="2377440" cy="2377440"/>
          </a:xfrm>
          <a:prstGeom prst="ellipse">
            <a:avLst/>
          </a:prstGeom>
          <a:solidFill>
            <a:srgbClr val="C0674A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× 手持無線電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zh-TW" altLang="en-US" sz="4800" dirty="0" smtClean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進階無線電</a:t>
            </a:r>
            <a:endParaRPr lang="en-US" sz="4600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9235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892040"/>
            <a:ext cx="9235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用一台 RTL-SDR，把頻率、功率、頻寬、亞音一個一個指給學員看</a:t>
            </a:r>
            <a:endParaRPr lang="en-US" sz="14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3977" y="5084064"/>
            <a:ext cx="1366821" cy="14813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今天的九段路 ＋ </a:t>
            </a:r>
            <a:r>
              <a:rPr lang="en-US" sz="3200" b="1" dirty="0" err="1" smtClean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三段實作</a:t>
            </a:r>
            <a:r>
              <a:rPr lang="en-US" sz="3200" b="1" dirty="0" smtClean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＋ </a:t>
            </a:r>
            <a:r>
              <a:rPr lang="en-US" sz="3200" b="1" dirty="0" err="1" smtClean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一個任務</a:t>
            </a:r>
            <a:endParaRPr lang="en-US" sz="3200" dirty="0"/>
          </a:p>
        </p:txBody>
      </p:sp>
      <p:pic>
        <p:nvPicPr>
          <p:cNvPr id="58" name="Picture 57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  <p:grpSp>
        <p:nvGrpSpPr>
          <p:cNvPr id="72" name="群組 71"/>
          <p:cNvGrpSpPr/>
          <p:nvPr/>
        </p:nvGrpSpPr>
        <p:grpSpPr>
          <a:xfrm>
            <a:off x="640080" y="1600200"/>
            <a:ext cx="11210544" cy="4754880"/>
            <a:chOff x="640080" y="1600200"/>
            <a:chExt cx="11210544" cy="4754880"/>
          </a:xfrm>
        </p:grpSpPr>
        <p:sp>
          <p:nvSpPr>
            <p:cNvPr id="70" name="Shape 32"/>
            <p:cNvSpPr/>
            <p:nvPr/>
          </p:nvSpPr>
          <p:spPr>
            <a:xfrm>
              <a:off x="8284464" y="5298052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" name="Shape 2"/>
            <p:cNvSpPr/>
            <p:nvPr/>
          </p:nvSpPr>
          <p:spPr>
            <a:xfrm>
              <a:off x="640080" y="160020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5" name="Shape 3"/>
            <p:cNvSpPr/>
            <p:nvPr/>
          </p:nvSpPr>
          <p:spPr>
            <a:xfrm>
              <a:off x="841247" y="1837943"/>
              <a:ext cx="566928" cy="566928"/>
            </a:xfrm>
            <a:prstGeom prst="ellipse">
              <a:avLst/>
            </a:prstGeom>
            <a:solidFill>
              <a:srgbClr val="8AA08C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Text 4"/>
            <p:cNvSpPr/>
            <p:nvPr/>
          </p:nvSpPr>
          <p:spPr>
            <a:xfrm>
              <a:off x="841247" y="1837943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1</a:t>
              </a:r>
              <a:endParaRPr lang="en-US" sz="22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1572768" y="174650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瀑布圖</a:t>
              </a:r>
              <a:endParaRPr lang="en-US" sz="19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1572768" y="213055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看懂這張圖，後面才聽得懂</a:t>
              </a:r>
              <a:endParaRPr lang="en-US" sz="12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4462272" y="160020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Shape 8"/>
            <p:cNvSpPr/>
            <p:nvPr/>
          </p:nvSpPr>
          <p:spPr>
            <a:xfrm>
              <a:off x="4663440" y="1837943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1" name="Text 9"/>
            <p:cNvSpPr/>
            <p:nvPr/>
          </p:nvSpPr>
          <p:spPr>
            <a:xfrm>
              <a:off x="4663440" y="1837943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2</a:t>
              </a:r>
              <a:endParaRPr lang="en-US" sz="2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5394960" y="174650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頻率</a:t>
              </a:r>
              <a:endParaRPr lang="en-US" sz="19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5394960" y="213055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位置、VHF/UHF、傳播環境</a:t>
              </a:r>
              <a:endParaRPr lang="en-US" sz="12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8284464" y="160020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5" name="Shape 13"/>
            <p:cNvSpPr/>
            <p:nvPr/>
          </p:nvSpPr>
          <p:spPr>
            <a:xfrm>
              <a:off x="8485632" y="1837943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6" name="Text 14"/>
            <p:cNvSpPr/>
            <p:nvPr/>
          </p:nvSpPr>
          <p:spPr>
            <a:xfrm>
              <a:off x="8485632" y="1837943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3</a:t>
              </a:r>
              <a:endParaRPr lang="en-US" sz="220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9217152" y="174650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發射功率</a:t>
              </a:r>
              <a:endParaRPr lang="en-US" sz="19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9217152" y="213055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亮度 = 相對強度</a:t>
              </a:r>
              <a:endParaRPr lang="en-US" sz="12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462272" y="283464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20" name="Shape 18"/>
            <p:cNvSpPr/>
            <p:nvPr/>
          </p:nvSpPr>
          <p:spPr>
            <a:xfrm>
              <a:off x="4663440" y="3072384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21" name="Text 19"/>
            <p:cNvSpPr/>
            <p:nvPr/>
          </p:nvSpPr>
          <p:spPr>
            <a:xfrm>
              <a:off x="4663440" y="307238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5</a:t>
              </a:r>
              <a:endParaRPr lang="en-US" sz="22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5394960" y="298094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寬 / 窄頻</a:t>
              </a:r>
              <a:endParaRPr lang="en-US" sz="19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5394960" y="336499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面板寫頻寬，其實設的是上限</a:t>
              </a:r>
              <a:endParaRPr lang="en-US" sz="125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8284464" y="283464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25" name="Shape 23"/>
            <p:cNvSpPr/>
            <p:nvPr/>
          </p:nvSpPr>
          <p:spPr>
            <a:xfrm>
              <a:off x="8485632" y="3072384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26" name="Text 24"/>
            <p:cNvSpPr/>
            <p:nvPr/>
          </p:nvSpPr>
          <p:spPr>
            <a:xfrm>
              <a:off x="8485632" y="307238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6</a:t>
              </a:r>
              <a:endParaRPr lang="en-US" sz="22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9217152" y="298094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頻道步進</a:t>
              </a:r>
              <a:endParaRPr lang="en-US" sz="19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9217152" y="336499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最小跳動單位，別壓到隔壁</a:t>
              </a:r>
              <a:endParaRPr lang="en-US" sz="1250" dirty="0"/>
            </a:p>
          </p:txBody>
        </p:sp>
        <p:sp>
          <p:nvSpPr>
            <p:cNvPr id="29" name="Shape 27"/>
            <p:cNvSpPr/>
            <p:nvPr/>
          </p:nvSpPr>
          <p:spPr>
            <a:xfrm>
              <a:off x="4462272" y="406908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30" name="Shape 28"/>
            <p:cNvSpPr/>
            <p:nvPr/>
          </p:nvSpPr>
          <p:spPr>
            <a:xfrm>
              <a:off x="4663440" y="4306824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31" name="Text 29"/>
            <p:cNvSpPr/>
            <p:nvPr/>
          </p:nvSpPr>
          <p:spPr>
            <a:xfrm>
              <a:off x="4663440" y="430682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7</a:t>
              </a:r>
              <a:endParaRPr lang="en-US" sz="2200" dirty="0"/>
            </a:p>
          </p:txBody>
        </p:sp>
        <p:sp>
          <p:nvSpPr>
            <p:cNvPr id="32" name="Text 30"/>
            <p:cNvSpPr/>
            <p:nvPr/>
          </p:nvSpPr>
          <p:spPr>
            <a:xfrm>
              <a:off x="5394960" y="421538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亞音 CTCSS</a:t>
              </a:r>
              <a:endParaRPr lang="en-US" sz="19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5394960" y="459943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不是加密 · 動手做：設收/發碼</a:t>
              </a:r>
              <a:endParaRPr lang="en-US" sz="125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640080" y="530352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0" name="Shape 38"/>
            <p:cNvSpPr/>
            <p:nvPr/>
          </p:nvSpPr>
          <p:spPr>
            <a:xfrm>
              <a:off x="8485632" y="5541264"/>
              <a:ext cx="566928" cy="566928"/>
            </a:xfrm>
            <a:prstGeom prst="ellipse">
              <a:avLst/>
            </a:prstGeom>
            <a:solidFill>
              <a:srgbClr val="C0674A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1" name="Text 39"/>
            <p:cNvSpPr/>
            <p:nvPr/>
          </p:nvSpPr>
          <p:spPr>
            <a:xfrm>
              <a:off x="8485632" y="554126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43312A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9</a:t>
              </a:r>
              <a:endParaRPr lang="en-US" sz="2000" dirty="0"/>
            </a:p>
          </p:txBody>
        </p:sp>
        <p:sp>
          <p:nvSpPr>
            <p:cNvPr id="42" name="Text 40"/>
            <p:cNvSpPr/>
            <p:nvPr/>
          </p:nvSpPr>
          <p:spPr>
            <a:xfrm>
              <a:off x="9253728" y="5756777"/>
              <a:ext cx="2560320" cy="502561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sz="1250" dirty="0" err="1" smtClean="0">
                  <a:solidFill>
                    <a:srgbClr val="8C7A6E"/>
                  </a:solidFill>
                  <a:latin typeface="Calibri"/>
                </a:rPr>
                <a:t>讓喇叭安靜</a:t>
              </a:r>
              <a:r>
                <a:rPr sz="1250" dirty="0" err="1">
                  <a:solidFill>
                    <a:srgbClr val="8C7A6E"/>
                  </a:solidFill>
                  <a:latin typeface="Calibri"/>
                </a:rPr>
                <a:t>，但電波照舊</a:t>
              </a:r>
              <a:endParaRPr sz="1250" dirty="0">
                <a:solidFill>
                  <a:srgbClr val="8C7A6E"/>
                </a:solidFill>
                <a:latin typeface="Calibri"/>
              </a:endParaRPr>
            </a:p>
          </p:txBody>
        </p:sp>
        <p:sp>
          <p:nvSpPr>
            <p:cNvPr id="43" name="Shape 2"/>
            <p:cNvSpPr/>
            <p:nvPr/>
          </p:nvSpPr>
          <p:spPr>
            <a:xfrm>
              <a:off x="640080" y="283464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FFFF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4" name="Shape 3"/>
            <p:cNvSpPr/>
            <p:nvPr/>
          </p:nvSpPr>
          <p:spPr>
            <a:xfrm>
              <a:off x="841247" y="3072384"/>
              <a:ext cx="566928" cy="566928"/>
            </a:xfrm>
            <a:prstGeom prst="ellipse">
              <a:avLst/>
            </a:prstGeom>
            <a:solidFill>
              <a:srgbClr val="8AA08C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5" name="Text 4"/>
            <p:cNvSpPr/>
            <p:nvPr/>
          </p:nvSpPr>
          <p:spPr>
            <a:xfrm>
              <a:off x="841247" y="307238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4</a:t>
              </a:r>
              <a:endParaRPr lang="en-US" sz="2200" dirty="0"/>
            </a:p>
          </p:txBody>
        </p:sp>
        <p:sp>
          <p:nvSpPr>
            <p:cNvPr id="46" name="Text 5"/>
            <p:cNvSpPr/>
            <p:nvPr/>
          </p:nvSpPr>
          <p:spPr>
            <a:xfrm>
              <a:off x="1572768" y="298094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天線</a:t>
              </a:r>
              <a:endParaRPr lang="en-US" sz="1900" dirty="0"/>
            </a:p>
          </p:txBody>
        </p:sp>
        <p:sp>
          <p:nvSpPr>
            <p:cNvPr id="47" name="Text 6"/>
            <p:cNvSpPr/>
            <p:nvPr/>
          </p:nvSpPr>
          <p:spPr>
            <a:xfrm>
              <a:off x="1572768" y="336499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增益＝把功率集中，打得更遠</a:t>
              </a:r>
              <a:endParaRPr lang="en-US" sz="1250" dirty="0"/>
            </a:p>
          </p:txBody>
        </p:sp>
        <p:sp>
          <p:nvSpPr>
            <p:cNvPr id="48" name="Shape 2"/>
            <p:cNvSpPr/>
            <p:nvPr/>
          </p:nvSpPr>
          <p:spPr>
            <a:xfrm>
              <a:off x="640080" y="406908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3EAD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49" name="Shape 3"/>
            <p:cNvSpPr/>
            <p:nvPr/>
          </p:nvSpPr>
          <p:spPr>
            <a:xfrm>
              <a:off x="841247" y="4306824"/>
              <a:ext cx="566928" cy="566928"/>
            </a:xfrm>
            <a:prstGeom prst="ellipse">
              <a:avLst/>
            </a:prstGeom>
            <a:solidFill>
              <a:srgbClr val="D99A5B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50" name="Text 4"/>
            <p:cNvSpPr/>
            <p:nvPr/>
          </p:nvSpPr>
          <p:spPr>
            <a:xfrm>
              <a:off x="841247" y="430682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做</a:t>
              </a:r>
              <a:endParaRPr lang="en-US" sz="2200" dirty="0"/>
            </a:p>
          </p:txBody>
        </p:sp>
        <p:sp>
          <p:nvSpPr>
            <p:cNvPr id="51" name="Text 5"/>
            <p:cNvSpPr/>
            <p:nvPr/>
          </p:nvSpPr>
          <p:spPr>
            <a:xfrm>
              <a:off x="1572768" y="421538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動手做</a:t>
              </a:r>
              <a:endParaRPr lang="en-US" sz="1900" dirty="0"/>
            </a:p>
          </p:txBody>
        </p:sp>
        <p:sp>
          <p:nvSpPr>
            <p:cNvPr id="52" name="Text 6"/>
            <p:cNvSpPr/>
            <p:nvPr/>
          </p:nvSpPr>
          <p:spPr>
            <a:xfrm>
              <a:off x="1572768" y="459943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分組實作：把形狀調出來</a:t>
              </a:r>
              <a:endParaRPr lang="en-US" sz="1250" dirty="0"/>
            </a:p>
          </p:txBody>
        </p:sp>
        <p:sp>
          <p:nvSpPr>
            <p:cNvPr id="53" name="Shape 2"/>
            <p:cNvSpPr/>
            <p:nvPr/>
          </p:nvSpPr>
          <p:spPr>
            <a:xfrm>
              <a:off x="4453128" y="530352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3EAD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grpSp>
          <p:nvGrpSpPr>
            <p:cNvPr id="69" name="群組 68"/>
            <p:cNvGrpSpPr/>
            <p:nvPr/>
          </p:nvGrpSpPr>
          <p:grpSpPr>
            <a:xfrm>
              <a:off x="841247" y="5564124"/>
              <a:ext cx="566928" cy="566928"/>
              <a:chOff x="4654296" y="5541264"/>
              <a:chExt cx="566928" cy="566928"/>
            </a:xfrm>
          </p:grpSpPr>
          <p:sp>
            <p:nvSpPr>
              <p:cNvPr id="54" name="Shape 3"/>
              <p:cNvSpPr/>
              <p:nvPr/>
            </p:nvSpPr>
            <p:spPr>
              <a:xfrm>
                <a:off x="4654296" y="5541264"/>
                <a:ext cx="566928" cy="566928"/>
              </a:xfrm>
              <a:prstGeom prst="ellipse">
                <a:avLst/>
              </a:prstGeom>
              <a:solidFill>
                <a:srgbClr val="C0674A"/>
              </a:solidFill>
              <a:ln/>
              <a:effectLst>
                <a:outerShdw blurRad="114300" dist="50800" dir="5400000" algn="bl" rotWithShape="0">
                  <a:srgbClr val="6B4A3A">
                    <a:alpha val="28000"/>
                  </a:srgbClr>
                </a:outerShdw>
              </a:effectLst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55" name="Text 4"/>
              <p:cNvSpPr/>
              <p:nvPr/>
            </p:nvSpPr>
            <p:spPr>
              <a:xfrm>
                <a:off x="4654296" y="5541264"/>
                <a:ext cx="566928" cy="56692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b="1" dirty="0">
                    <a:solidFill>
                      <a:srgbClr val="FFFFFF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8</a:t>
                </a:r>
                <a:endParaRPr lang="en-US" sz="2200" dirty="0"/>
              </a:p>
            </p:txBody>
          </p:sp>
        </p:grpSp>
        <p:sp>
          <p:nvSpPr>
            <p:cNvPr id="56" name="Text 5"/>
            <p:cNvSpPr/>
            <p:nvPr/>
          </p:nvSpPr>
          <p:spPr>
            <a:xfrm>
              <a:off x="1572767" y="5412352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Offset</a:t>
              </a:r>
              <a:endParaRPr lang="en-US" sz="1900" dirty="0"/>
            </a:p>
          </p:txBody>
        </p:sp>
        <p:sp>
          <p:nvSpPr>
            <p:cNvPr id="57" name="Text 6"/>
            <p:cNvSpPr/>
            <p:nvPr/>
          </p:nvSpPr>
          <p:spPr>
            <a:xfrm>
              <a:off x="1572767" y="5796400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收發分裂：TX 移、RX 不動</a:t>
              </a:r>
              <a:endParaRPr lang="en-US" sz="1250" dirty="0"/>
            </a:p>
          </p:txBody>
        </p:sp>
        <p:sp>
          <p:nvSpPr>
            <p:cNvPr id="63" name="Shape 2"/>
            <p:cNvSpPr/>
            <p:nvPr/>
          </p:nvSpPr>
          <p:spPr>
            <a:xfrm>
              <a:off x="8284464" y="4069080"/>
              <a:ext cx="3566160" cy="1051560"/>
            </a:xfrm>
            <a:prstGeom prst="roundRect">
              <a:avLst>
                <a:gd name="adj" fmla="val 8696"/>
              </a:avLst>
            </a:prstGeom>
            <a:solidFill>
              <a:srgbClr val="F3EADF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4" name="Shape 3"/>
            <p:cNvSpPr/>
            <p:nvPr/>
          </p:nvSpPr>
          <p:spPr>
            <a:xfrm>
              <a:off x="8485631" y="4306824"/>
              <a:ext cx="566928" cy="566928"/>
            </a:xfrm>
            <a:prstGeom prst="ellipse">
              <a:avLst/>
            </a:prstGeom>
            <a:solidFill>
              <a:srgbClr val="D99A5B"/>
            </a:solidFill>
            <a:ln/>
            <a:effectLst>
              <a:outerShdw blurRad="114300" dist="50800" dir="5400000" algn="bl" rotWithShape="0">
                <a:srgbClr val="6B4A3A">
                  <a:alpha val="28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5" name="Text 4"/>
            <p:cNvSpPr/>
            <p:nvPr/>
          </p:nvSpPr>
          <p:spPr>
            <a:xfrm>
              <a:off x="8485631" y="4306824"/>
              <a:ext cx="566928" cy="56692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2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做</a:t>
              </a:r>
              <a:endParaRPr lang="en-US" sz="2200" dirty="0"/>
            </a:p>
          </p:txBody>
        </p:sp>
        <p:sp>
          <p:nvSpPr>
            <p:cNvPr id="66" name="Text 5"/>
            <p:cNvSpPr/>
            <p:nvPr/>
          </p:nvSpPr>
          <p:spPr>
            <a:xfrm>
              <a:off x="9217152" y="4215384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動手做</a:t>
              </a:r>
              <a:endParaRPr lang="en-US" sz="1900" dirty="0"/>
            </a:p>
          </p:txBody>
        </p:sp>
        <p:sp>
          <p:nvSpPr>
            <p:cNvPr id="67" name="Text 6"/>
            <p:cNvSpPr/>
            <p:nvPr/>
          </p:nvSpPr>
          <p:spPr>
            <a:xfrm>
              <a:off x="9217152" y="4599432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 err="1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分組實作</a:t>
              </a:r>
              <a:r>
                <a:rPr lang="en-US" sz="1450" dirty="0" smtClean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：</a:t>
              </a:r>
              <a:r>
                <a:rPr lang="zh-TW" alt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體驗亞音設定</a:t>
              </a:r>
              <a:endParaRPr lang="en-US" sz="1250" dirty="0"/>
            </a:p>
          </p:txBody>
        </p:sp>
        <p:grpSp>
          <p:nvGrpSpPr>
            <p:cNvPr id="68" name="群組 67"/>
            <p:cNvGrpSpPr/>
            <p:nvPr/>
          </p:nvGrpSpPr>
          <p:grpSpPr>
            <a:xfrm>
              <a:off x="4661288" y="5540547"/>
              <a:ext cx="566928" cy="566928"/>
              <a:chOff x="841247" y="5541264"/>
              <a:chExt cx="566928" cy="566928"/>
            </a:xfrm>
          </p:grpSpPr>
          <p:sp>
            <p:nvSpPr>
              <p:cNvPr id="35" name="Shape 33"/>
              <p:cNvSpPr/>
              <p:nvPr/>
            </p:nvSpPr>
            <p:spPr>
              <a:xfrm>
                <a:off x="841247" y="5541264"/>
                <a:ext cx="566928" cy="566928"/>
              </a:xfrm>
              <a:prstGeom prst="ellipse">
                <a:avLst/>
              </a:prstGeom>
              <a:solidFill>
                <a:srgbClr val="8C7A6E"/>
              </a:solidFill>
              <a:ln/>
              <a:effectLst>
                <a:outerShdw blurRad="114300" dist="50800" dir="5400000" algn="bl" rotWithShape="0">
                  <a:srgbClr val="6B4A3A">
                    <a:alpha val="28000"/>
                  </a:srgbClr>
                </a:outerShdw>
              </a:effectLst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36" name="Text 34"/>
              <p:cNvSpPr/>
              <p:nvPr/>
            </p:nvSpPr>
            <p:spPr>
              <a:xfrm>
                <a:off x="841247" y="5541264"/>
                <a:ext cx="566928" cy="566928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</a:pPr>
                <a:r>
                  <a:rPr lang="en-US" sz="2200" b="1" dirty="0">
                    <a:solidFill>
                      <a:srgbClr val="FFFFFF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想</a:t>
                </a:r>
                <a:endParaRPr lang="en-US" sz="2200" dirty="0"/>
              </a:p>
            </p:txBody>
          </p:sp>
        </p:grpSp>
        <p:sp>
          <p:nvSpPr>
            <p:cNvPr id="37" name="Text 35"/>
            <p:cNvSpPr/>
            <p:nvPr/>
          </p:nvSpPr>
          <p:spPr>
            <a:xfrm>
              <a:off x="5394960" y="5412352"/>
              <a:ext cx="256032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900" b="1" dirty="0">
                  <a:solidFill>
                    <a:srgbClr val="3A2E28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想一想</a:t>
              </a:r>
              <a:endParaRPr lang="en-US" sz="1900" dirty="0"/>
            </a:p>
          </p:txBody>
        </p:sp>
        <p:sp>
          <p:nvSpPr>
            <p:cNvPr id="38" name="Text 36"/>
            <p:cNvSpPr/>
            <p:nvPr/>
          </p:nvSpPr>
          <p:spPr>
            <a:xfrm>
              <a:off x="5394960" y="5796400"/>
              <a:ext cx="25603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50" dirty="0">
                  <a:solidFill>
                    <a:srgbClr val="8C7A6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換你設計：2m 中繼台</a:t>
              </a:r>
              <a:endParaRPr lang="en-US" sz="1250" dirty="0"/>
            </a:p>
          </p:txBody>
        </p:sp>
        <p:sp>
          <p:nvSpPr>
            <p:cNvPr id="71" name="Text 40"/>
            <p:cNvSpPr/>
            <p:nvPr/>
          </p:nvSpPr>
          <p:spPr>
            <a:xfrm>
              <a:off x="9253728" y="5436017"/>
              <a:ext cx="2560320" cy="52246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800" b="1" dirty="0" err="1" smtClean="0">
                  <a:solidFill>
                    <a:srgbClr val="D99A5B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靜噪</a:t>
              </a:r>
              <a:endParaRPr lang="en-US" sz="1800" dirty="0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zh-TW" altLang="en-US" sz="4400" b="1" dirty="0" smtClean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頻譜 </a:t>
            </a:r>
            <a:r>
              <a:rPr lang="en-US" altLang="zh-TW" sz="4400" b="1" dirty="0" smtClean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Spectrum &amp; </a:t>
            </a:r>
            <a:r>
              <a:rPr lang="en-US" sz="4400" b="1" dirty="0" err="1" smtClean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</a:t>
            </a:r>
            <a:r>
              <a:rPr lang="en-US" sz="4400" b="1" dirty="0" smtClean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4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Waterfall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先學會讀這張圖——它是後面每一段共用的工具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「看到訊號，就是有人在發」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有些是接收機自己生的假訊號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一張圖，兩層資訊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07024" y="1700784"/>
            <a:ext cx="578815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783080"/>
            <a:ext cx="562356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71616" y="2071116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5989320" y="2112264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3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上：頻譜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071616" y="4425696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071616" y="4425696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下：瀑布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89320" y="5157216"/>
            <a:ext cx="5623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同一份資料的兩種畫法：上圖看此刻、下圖看歷史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1627632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804672" y="1764792"/>
            <a:ext cx="512064" cy="512064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804672" y="176479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26464" y="168249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橫軸  </a:t>
            </a:r>
            <a:r>
              <a:rPr lang="en-US" sz="1600" b="1" dirty="0">
                <a:solidFill>
                  <a:srgbClr val="C06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頻率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426464" y="201168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上下兩圖共用；訊號在左右哪裡，就是頻率多少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523744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804672" y="2660904"/>
            <a:ext cx="512064" cy="512064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804672" y="266090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426464" y="257860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上圖 · Y 軸  </a:t>
            </a: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即時強度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426464" y="290779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頻譜圖：此刻每個頻率有多強（dBFS，相對值）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3419856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804672" y="3557016"/>
            <a:ext cx="512064" cy="512064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804672" y="35570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426464" y="34747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往下  </a:t>
            </a:r>
            <a:r>
              <a:rPr lang="en-US" sz="160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時間流動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426464" y="3803904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瀑布圖：新的在上、舊的往下捲，看得到歷史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4315968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804672" y="4453128"/>
            <a:ext cx="512064" cy="512064"/>
          </a:xfrm>
          <a:prstGeom prst="ellipse">
            <a:avLst/>
          </a:prstGeom>
          <a:solidFill>
            <a:srgbClr val="A44E36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804672" y="44531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1426464" y="437083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亮度  </a:t>
            </a: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強度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1426464" y="4700016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把上圖的「高度」換成「顏色深淺」，越亮越強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0080" y="539496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896112" y="539496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亮度＝相對強度，由你設的色階決定；訊號攤多寬＝佔用頻寬。</a:t>
            </a:r>
            <a:endParaRPr lang="en-US" sz="1300" dirty="0"/>
          </a:p>
        </p:txBody>
      </p:sp>
      <p:pic>
        <p:nvPicPr>
          <p:cNvPr id="33" name="Picture 32" descr="logo_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瀑布圖上會遇到的五個詞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23951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07492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17550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同一張圖，把這五個詞指出來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187931" y="3682060"/>
            <a:ext cx="355244" cy="0"/>
          </a:xfrm>
          <a:prstGeom prst="line">
            <a:avLst/>
          </a:prstGeom>
          <a:noFill/>
          <a:ln w="31750">
            <a:solidFill>
              <a:srgbClr val="8AA08C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2213991" y="2185416"/>
            <a:ext cx="329184" cy="329184"/>
          </a:xfrm>
          <a:prstGeom prst="ellipse">
            <a:avLst/>
          </a:prstGeom>
          <a:solidFill>
            <a:srgbClr val="C0674A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2213991" y="218541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109853" y="3760927"/>
            <a:ext cx="329184" cy="329184"/>
          </a:xfrm>
          <a:prstGeom prst="ellipse">
            <a:avLst/>
          </a:prstGeom>
          <a:solidFill>
            <a:srgbClr val="D99A5B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109853" y="3760927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556205" y="3517468"/>
            <a:ext cx="329184" cy="329184"/>
          </a:xfrm>
          <a:prstGeom prst="ellipse">
            <a:avLst/>
          </a:prstGeom>
          <a:solidFill>
            <a:srgbClr val="8AA08C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2556205" y="35174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672688" y="4004386"/>
            <a:ext cx="329184" cy="329184"/>
          </a:xfrm>
          <a:prstGeom prst="ellipse">
            <a:avLst/>
          </a:prstGeom>
          <a:solidFill>
            <a:srgbClr val="A44E36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3672688" y="400438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97723" y="2543632"/>
            <a:ext cx="329184" cy="329184"/>
          </a:xfrm>
          <a:prstGeom prst="ellipse">
            <a:avLst/>
          </a:prstGeom>
          <a:solidFill>
            <a:srgbClr val="5A4038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2997723" y="25436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943600" y="1627632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6089904" y="1728216"/>
            <a:ext cx="420624" cy="42062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6089904" y="172821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656832" y="166420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載波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56832" y="1956816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被調變的那根基礎電波；沒說話時就是圖上乾淨的一根線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943600" y="2350008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6089904" y="2450592"/>
            <a:ext cx="420624" cy="42062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6089904" y="24505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656832" y="2386584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底噪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Floor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656832" y="267919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沒有訊號時的背景雜訊；一切強度都跟它比高低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43600" y="3072384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089904" y="3172968"/>
            <a:ext cx="420624" cy="42062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6089904" y="317296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656832" y="310896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頻寬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56832" y="3401568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一個訊號左右攤開的寬度，決定它佔多少頻譜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943600" y="3794760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1"/>
          <p:cNvSpPr/>
          <p:nvPr/>
        </p:nvSpPr>
        <p:spPr>
          <a:xfrm>
            <a:off x="6089904" y="3895344"/>
            <a:ext cx="420624" cy="42062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2"/>
          <p:cNvSpPr/>
          <p:nvPr/>
        </p:nvSpPr>
        <p:spPr>
          <a:xfrm>
            <a:off x="6089904" y="3895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6656832" y="383133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頻段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6656832" y="4123944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一段頻率的用途分區；圖上紅色標的「2m 業餘段」就是一個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943600" y="4517136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6"/>
          <p:cNvSpPr/>
          <p:nvPr/>
        </p:nvSpPr>
        <p:spPr>
          <a:xfrm>
            <a:off x="6089904" y="4617720"/>
            <a:ext cx="420624" cy="42062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7"/>
          <p:cNvSpPr/>
          <p:nvPr/>
        </p:nvSpPr>
        <p:spPr>
          <a:xfrm>
            <a:off x="6089904" y="46177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6656832" y="455371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尖峰  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Spike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6656832" y="484632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接收機自己在正中央產生的假訊號，PTT 放開也不會消失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5943600" y="5285232"/>
            <a:ext cx="5623560" cy="713232"/>
          </a:xfrm>
          <a:prstGeom prst="roundRect">
            <a:avLst>
              <a:gd name="adj" fmla="val 12821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1"/>
          <p:cNvSpPr/>
          <p:nvPr/>
        </p:nvSpPr>
        <p:spPr>
          <a:xfrm>
            <a:off x="6144768" y="5285232"/>
            <a:ext cx="5257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什麼是「2m 業餘段」？　</a:t>
            </a: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波長約 2 公尺（144–148 MHz）的業餘無線電頻段——我們整堂課的手持機都在這裡。</a:t>
            </a:r>
            <a:endParaRPr lang="en-US" sz="1150" dirty="0"/>
          </a:p>
        </p:txBody>
      </p:sp>
      <p:pic>
        <p:nvPicPr>
          <p:cNvPr id="45" name="Picture 44" descr="logo_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先有標準答案：理想的頻譜長什麼樣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993392" y="2011680"/>
            <a:ext cx="0" cy="1581912"/>
          </a:xfrm>
          <a:prstGeom prst="line">
            <a:avLst/>
          </a:prstGeom>
          <a:noFill/>
          <a:ln w="381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96112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純載波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沒調變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沒說話、沒資料——就是一根線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38144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072128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251960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431792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611624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791456" y="2011680"/>
            <a:ext cx="0" cy="1581912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971288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151120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30952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510784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712464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694176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694176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＋ 單音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38144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一排等距的線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29584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純音調變（測試音、亞音）長出可數的邊帶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36208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855805" y="2011680"/>
            <a:ext cx="1467429" cy="3163824"/>
          </a:xfrm>
          <a:prstGeom prst="ellipse">
            <a:avLst/>
          </a:prstGeom>
          <a:solidFill>
            <a:srgbClr val="A44E36">
              <a:alpha val="8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272784" y="3597250"/>
            <a:ext cx="2633472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272784" y="3977640"/>
            <a:ext cx="2633472" cy="1517904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510528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92240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492240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語音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一坨連續的丘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27648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真人講話＝很多頻率混在一起，邊帶糊成一片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34272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9524390" y="2148840"/>
            <a:ext cx="1726387" cy="1444752"/>
          </a:xfrm>
          <a:prstGeom prst="roundRect">
            <a:avLst>
              <a:gd name="adj" fmla="val 2532"/>
            </a:avLst>
          </a:prstGeom>
          <a:solidFill>
            <a:srgbClr val="8AA08C">
              <a:alpha val="80000"/>
            </a:srgbClr>
          </a:solidFill>
          <a:ln w="127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9308592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9290304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9290304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數位訊號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34272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一塊平頂方塊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125712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資料把整段頻寬填滿，像一堵牆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623560"/>
            <a:ext cx="10927080" cy="868680"/>
          </a:xfrm>
          <a:prstGeom prst="roundRect">
            <a:avLst>
              <a:gd name="adj" fmla="val 1263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14400" y="56235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關鍵：FM 一「調變」就長出邊帶。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用純音（測試音 1kHz、亞音 88.5Hz）→ 一根一根數得出來；用真人語音 → 糊成一坨。所以後面 W/N、亞音的「多根」是正常的。</a:t>
            </a:r>
            <a:endParaRPr lang="en-US" sz="1500" dirty="0"/>
          </a:p>
        </p:txBody>
      </p:sp>
      <p:pic>
        <p:nvPicPr>
          <p:cNvPr id="44" name="Picture 43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沒看過的訊號，怎麼判斷真假？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883664"/>
            <a:ext cx="505663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65960"/>
            <a:ext cx="489204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32180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第一次看到這排訊號，你怎麼知道它們是真是假？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0" y="1691640"/>
            <a:ext cx="5897880" cy="2468880"/>
          </a:xfrm>
          <a:prstGeom prst="roundRect">
            <a:avLst>
              <a:gd name="adj" fmla="val 4444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943600" y="1828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不用看過，用常識推理三個問題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943600" y="2258568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943600" y="22585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27648" y="2231136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它有理由待在這裡嗎？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真訊號有來源與用途，會落在已知頻段；頻譜的無人地帶突然冒出東西，可疑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43600" y="2862072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594360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27648" y="283464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形狀配得上用途嗎？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語音要一定寬度、資料更寬、信標很窄——寬度不合理就存疑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43600" y="3465576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5943600" y="34655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3438144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行為像真的嗎？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會來會走＝有人通話；規律週期＝機器；一整排完美等距＝多半是你自己過載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0" y="4297680"/>
            <a:ext cx="5897880" cy="2011680"/>
          </a:xfrm>
          <a:prstGeom prst="roundRect">
            <a:avLst>
              <a:gd name="adj" fmla="val 5455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5943600" y="438912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還是不確定？動手戳它一下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961888" y="4809744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5961888" y="4809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345936" y="4754880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PTT　</a:t>
            </a: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跟著你亮滅的 = 真；不理你的 = 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961888" y="5285232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5961888" y="52852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45936" y="52303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移中心頻率　</a:t>
            </a: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真訊號不動；鏡像/DC 假訊號跟著中心跑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961888" y="5760720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5961888" y="5760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345936" y="5705856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降功率　</a:t>
            </a: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真訊號掉一點；過載假峰掉更多、甚至消失</a:t>
            </a:r>
            <a:endParaRPr lang="en-US" sz="1250" dirty="0"/>
          </a:p>
        </p:txBody>
      </p:sp>
      <p:pic>
        <p:nvPicPr>
          <p:cNvPr id="29" name="Picture 28" descr="logo_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Frequency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大家最常碰到的參數——它在哪，以及它怎麼傳播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「頻率越高，一定傳越遠」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看環境；VHF、UHF 各有各的場子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為什麼要對頻率？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0120" y="160020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2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頻率對不上，其他全部免談——這是通訊的第一道門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22960" y="308610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22960" y="30861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283464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空中同時有無數訊號。你要跟誰通，就得先和對方站到「同一個頻率」上。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014216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426567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22960" y="42656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4014216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頻率＝事先約好的碰面地點；雙方對齊，才聽得到彼此。功率、天線都是之後的事。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193792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22960" y="544525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544525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5193792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聽得到卻叫不到 → 先核對頻率與末位數字，比換天線、加功率都優先。</a:t>
            </a:r>
            <a:endParaRPr lang="en-US" sz="1500" dirty="0"/>
          </a:p>
        </p:txBody>
      </p:sp>
      <p:pic>
        <p:nvPicPr>
          <p:cNvPr id="18" name="Picture 17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＝ 水平位置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3675888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89304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89304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144.900 MHz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06240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C:\Users\10004782\AppData\Local\Temp\claude\D--MyProject-RadioAdvance\b11d5773-524b-456b-b03a-3ee843661b40\scratchpad\deck\assets\f_145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965960"/>
            <a:ext cx="3675888" cy="2331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74920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5074920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 MHz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1856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C:\Users\10004782\AppData\Local\Temp\claude\D--MyProject-RadioAdvance\b11d5773-524b-456b-b03a-3ee843661b40\scratchpad\deck\assets\f_145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965960"/>
            <a:ext cx="3675888" cy="233172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860536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8860536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145.050 MHz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轉一個頻道，那根線就往右跳一格 →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02920" y="5029200"/>
            <a:ext cx="11192256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3"/>
          <p:cNvSpPr/>
          <p:nvPr/>
        </p:nvSpPr>
        <p:spPr>
          <a:xfrm>
            <a:off x="758952" y="5029200"/>
            <a:ext cx="1073505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頻率就是這根線的左右位置。聽得到卻叫不到，先查頻率末位數字，比查天線還優先。</a:t>
            </a:r>
            <a:endParaRPr lang="en-US" sz="1300" dirty="0"/>
          </a:p>
        </p:txBody>
      </p:sp>
      <p:pic>
        <p:nvPicPr>
          <p:cNvPr id="19" name="Picture 18" descr="logo_s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與 UHF：住在頻譜的哪裡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
</a:t>
            </a:r>
            <a:r>
              <a:rPr lang="en-US" sz="1500" dirty="0">
                <a:solidFill>
                  <a:srgbClr val="F2F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– 300 MHz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30936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
</a:t>
            </a:r>
            <a:r>
              <a:rPr lang="en-US" sz="1500" dirty="0">
                <a:solidFill>
                  <a:srgbClr val="FBE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MHz – 3 GHz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頻率低 · 波長長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頻率高 · 波長短 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1732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1732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C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2m 業餘段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– 148 MHz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8660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08660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70cm 業餘段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 – 440 MHz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0927080" cy="1417320"/>
          </a:xfrm>
          <a:prstGeom prst="roundRect">
            <a:avLst>
              <a:gd name="adj" fmla="val 774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14400" y="41148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 λ  =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光速 c</a:t>
            </a:r>
            <a:r>
              <a:rPr lang="en-US" sz="2400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⁄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14400" y="482803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≈ 3 × 10⁸ 公尺/秒。頻率越高，波長越短。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26364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2.07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＝「2 米」段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96112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96112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29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0.69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5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＝「70 公分」段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577840"/>
            <a:ext cx="10927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頻譜條為示意，非等比例。業餘無線電的兩個主力頻段，一個在 VHF、一個在 UHF。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9436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96112" y="59436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波長由頻率決定；波長決定了天線多大、以及電波怎麼傳——這是下一頁的重點。</a:t>
            </a:r>
            <a:endParaRPr lang="en-US" sz="1300" dirty="0"/>
          </a:p>
        </p:txBody>
      </p:sp>
      <p:pic>
        <p:nvPicPr>
          <p:cNvPr id="24" name="Picture 23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波長長短，各有各的場子（理論上）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9611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· 2m</a:t>
            </a:r>
            <a:r>
              <a:rPr lang="en-US" sz="15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波長長（約 2 公尺）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24128" y="2953512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8016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繞射強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能繞過山丘、地形起伏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24128" y="3520440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28016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開闊佔優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郊區、野外傳得更遠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24128" y="4087368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28016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天線較長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但增益容易做出來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24128" y="4654296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28016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山區、野外、長距離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2823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2823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 · 70cm</a:t>
            </a:r>
            <a:r>
              <a:rPr lang="en-US" sz="15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波長短（約 0.7 公尺）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56248" y="2953512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81228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直線性強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靠反射鑽進建築、走廊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56248" y="3520440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81228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穿透雜亂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市區、室內、大樓密集佔優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56248" y="4087368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81228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天線較短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頻寬也較充裕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56248" y="4654296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81228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都市、室內、複雜地形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4864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96112" y="54864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沒有哪個「比較好」——看你在什麼環境。這是理論；真實世界還有下一頁的變數。</a:t>
            </a:r>
            <a:endParaRPr lang="en-US" sz="1300" dirty="0"/>
          </a:p>
        </p:txBody>
      </p:sp>
      <p:pic>
        <p:nvPicPr>
          <p:cNvPr id="28" name="Picture 27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但理論歸理論：電波在真實環境會被折騰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0467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77824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673352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41832" y="2125980"/>
            <a:ext cx="795528" cy="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 flipV="1">
            <a:off x="941832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339596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 rot="5400000">
            <a:off x="1645920" y="2052828"/>
            <a:ext cx="146304" cy="146304"/>
          </a:xfrm>
          <a:prstGeom prst="triangl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01168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多路徑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Multipath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01168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同一訊號走不同路徑到達，彼此相加相消 → 忽強忽弱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42823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306056" y="1728216"/>
            <a:ext cx="73152" cy="795528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565392" y="1783080"/>
            <a:ext cx="704088" cy="342900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 flipV="1">
            <a:off x="6601968" y="2125980"/>
            <a:ext cx="667512" cy="379476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 rot="13500000">
            <a:off x="6565392" y="2395728"/>
            <a:ext cx="146304" cy="146304"/>
          </a:xfrm>
          <a:prstGeom prst="triangl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63524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反射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Reflection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763524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牆面、金屬、水面把電波彈開，產生第二條路徑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23544" y="3406140"/>
            <a:ext cx="832104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1321308" y="3026664"/>
            <a:ext cx="128016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449324" y="3406140"/>
            <a:ext cx="269748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 rot="8100000">
            <a:off x="1636776" y="3703320"/>
            <a:ext cx="146304" cy="146304"/>
          </a:xfrm>
          <a:prstGeom prst="triangl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201168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折射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Refraction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1168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大氣與對流層讓路徑彎曲，訊號方向偏掉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2823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862572" y="3305556"/>
            <a:ext cx="201168" cy="201168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97396" y="3241548"/>
            <a:ext cx="365760" cy="164592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 rot="-3946335">
            <a:off x="6524244" y="316839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 flipV="1">
            <a:off x="6963156" y="3204972"/>
            <a:ext cx="365760" cy="20116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 rot="3671352">
            <a:off x="7255764" y="313182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 flipV="1">
            <a:off x="6579108" y="3406140"/>
            <a:ext cx="384048" cy="146304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 rot="14948733">
            <a:off x="6505956" y="3479292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6963156" y="3406140"/>
            <a:ext cx="347472" cy="182880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 rot="7065512">
            <a:off x="7237476" y="3515868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 flipV="1">
            <a:off x="6963156" y="3022092"/>
            <a:ext cx="18288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 rot="163579">
            <a:off x="6908292" y="294894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963156" y="3406140"/>
            <a:ext cx="73152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 rot="10152942">
            <a:off x="6963156" y="371703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63524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散射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Scattering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63524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雨、樹葉、粗糙表面把能量打散到四面八方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80467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1069848" y="4704588"/>
            <a:ext cx="310896" cy="397764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960120" y="4325112"/>
            <a:ext cx="457200" cy="0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 flipV="1">
            <a:off x="1380744" y="4325112"/>
            <a:ext cx="36576" cy="292608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1380744" y="4617720"/>
            <a:ext cx="356616" cy="448056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 rot="8700000">
            <a:off x="1655064" y="4983480"/>
            <a:ext cx="146304" cy="146304"/>
          </a:xfrm>
          <a:prstGeom prst="triangl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01168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繞射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Diffraction</a:t>
            </a:r>
            <a:endParaRPr lang="en-US" sz="1550" dirty="0"/>
          </a:p>
        </p:txBody>
      </p:sp>
      <p:sp>
        <p:nvSpPr>
          <p:cNvPr id="55" name="Text 53"/>
          <p:cNvSpPr/>
          <p:nvPr/>
        </p:nvSpPr>
        <p:spPr>
          <a:xfrm>
            <a:off x="201168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從山稜、建築邊緣繞過去，障礙後也收得到一點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26364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642823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6816852" y="4325112"/>
            <a:ext cx="292608" cy="722376"/>
          </a:xfrm>
          <a:prstGeom prst="roundRect">
            <a:avLst>
              <a:gd name="adj" fmla="val 15625"/>
            </a:avLst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528816" y="4686300"/>
            <a:ext cx="251460" cy="0"/>
          </a:xfrm>
          <a:prstGeom prst="line">
            <a:avLst/>
          </a:prstGeom>
          <a:noFill/>
          <a:ln w="4445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 rot="5400000">
            <a:off x="6707124" y="4613148"/>
            <a:ext cx="146304" cy="146304"/>
          </a:xfrm>
          <a:prstGeom prst="triangl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7146036" y="4686300"/>
            <a:ext cx="214884" cy="0"/>
          </a:xfrm>
          <a:prstGeom prst="line">
            <a:avLst/>
          </a:prstGeom>
          <a:noFill/>
          <a:ln w="1270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763524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吸收 / 遮蔽</a:t>
            </a: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Absorption</a:t>
            </a:r>
            <a:endParaRPr lang="en-US" sz="1550" dirty="0"/>
          </a:p>
        </p:txBody>
      </p:sp>
      <p:sp>
        <p:nvSpPr>
          <p:cNvPr id="63" name="Text 61"/>
          <p:cNvSpPr/>
          <p:nvPr/>
        </p:nvSpPr>
        <p:spPr>
          <a:xfrm>
            <a:off x="763524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牆體、人體、雨水吸掉能量，大障礙後形成陰影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0080" y="5413248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914400" y="541324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這些加起來 ＝ 訊號飄移、衰落、時好時壞。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「理論上更好」≠「現場更好」——走幾步、轉正天線就不同。先看，再猜。</a:t>
            </a:r>
            <a:endParaRPr lang="en-US" sz="1500" dirty="0"/>
          </a:p>
        </p:txBody>
      </p:sp>
      <p:pic>
        <p:nvPicPr>
          <p:cNvPr id="66" name="Picture 6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近代想辦法克服——但 FM 是類比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近代數位通訊怎麼對付不穩定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505456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188720" y="2450592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數位調變 + 錯誤更正 (FEC)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收到有錯，靠冗餘碼自己補回來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32688" y="3218688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188720" y="3163824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展頻 / OFDM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把資料攤到多個載波，避開被打爛的頻段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931920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188720" y="387705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分集 / MIMO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多支天線同時收，挑最好的那條路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4645152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188720" y="459028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自適應編碼 + 重傳
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通道差就降速、要求重送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1691640"/>
            <a:ext cx="5394960" cy="3703320"/>
          </a:xfrm>
          <a:prstGeom prst="roundRect">
            <a:avLst>
              <a:gd name="adj" fmla="val 2963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4652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業餘 FM 手持機 ＝ 類比，沒有這些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64808" y="2514600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720840" y="2450592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簡單、堅固、低延遲的即時語音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64808" y="3172968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20840" y="3108960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不需要基地台或網路就能通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64808" y="3831336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720840" y="3767328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跨廠牌互通，靠人與紀律運作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64808" y="4489704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720840" y="4425696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當基礎設施倒下，它還會動 ← 民防/災害的最後手段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46520" y="49560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抗噪靠 FM 捕獲效應，不靠演算法——訊號差就是差。所以前面每個參數都得調對。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96112" y="553212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業餘無線電的定位：在最壞情況下——沒電、沒網、沒基地台——仍然會動的通訊。</a:t>
            </a:r>
            <a:endParaRPr lang="en-US" sz="1300" dirty="0"/>
          </a:p>
        </p:txBody>
      </p:sp>
      <p:pic>
        <p:nvPicPr>
          <p:cNvPr id="27" name="Picture 26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TX Power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/ M / L —— 功率大，只是線更亮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「功率越大越好」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夠用就好；大只是更耗電、更燙、干擾更廣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 H / M / L？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訊號會隨距離變弱。功率決定你「推得多遠」，但推得越遠，也干擾越廣、越耗電。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給你 H / M / L 三段可選，讓你按需要挑——夠用就好，不是越大越好。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近距離用 L：省電、少干擾、機殼不燙；只有邊緣地帶才加到 H。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＝ 高度 / 亮度（寬度不變）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1783080"/>
            <a:ext cx="2103120" cy="4846320"/>
          </a:xfrm>
          <a:prstGeom prst="ellipse">
            <a:avLst/>
          </a:prstGeom>
          <a:solidFill>
            <a:srgbClr val="C0674A">
              <a:alpha val="9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383280" y="2880360"/>
            <a:ext cx="2103120" cy="2651760"/>
          </a:xfrm>
          <a:prstGeom prst="ellipse">
            <a:avLst/>
          </a:prstGeom>
          <a:solidFill>
            <a:srgbClr val="C0674A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0" y="4224528"/>
            <a:ext cx="6126480" cy="26517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521208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14400" y="1810512"/>
            <a:ext cx="0" cy="2395728"/>
          </a:xfrm>
          <a:prstGeom prst="line">
            <a:avLst/>
          </a:prstGeom>
          <a:noFill/>
          <a:ln w="19050">
            <a:solidFill>
              <a:srgbClr val="3A2E28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高度</a:t>
            </a:r>
            <a:endParaRPr lang="en-US" sz="11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亮度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6908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4663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同樣的寬度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示意：H 高又亮、L 矮又暗，但左右寬度一樣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1600200"/>
            <a:ext cx="5166360" cy="1463040"/>
          </a:xfrm>
          <a:prstGeom prst="roundRect">
            <a:avLst>
              <a:gd name="adj" fmla="val 75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675120" y="173736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功率大 ＝ 訊號更高、更亮</a:t>
            </a:r>
            <a:r>
              <a:rPr lang="en-US" sz="15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，但左右寬度完全不變。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通不通，還要看對方收不收得到——加功率不保證通。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18504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8997696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6400800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H　峰值 −47 dB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9079992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L　峰值 −51 dB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40080" y="539496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914400" y="539496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sz="1200" b="1">
                <a:solidFill>
                  <a:srgbClr val="D99A5B"/>
                </a:solidFill>
                <a:latin typeface="Calibri"/>
              </a:rPr>
              <a:t>實測（Narrow 窄頻，加 −20 dB 衰減）　</a:t>
            </a:r>
            <a:r>
              <a:rPr sz="1200" b="0">
                <a:solidFill>
                  <a:srgbClr val="FBF7F2"/>
                </a:solidFill>
                <a:latin typeface="Calibri"/>
              </a:rPr>
              <a:t>H 高功率峰值約 −47 dB、L 低功率約 −51 dB——高度差看得出來（功率＝高度／亮度），而左右寬度一樣。先把訊號拉離天花板（衰減／拉遠），H 與 L 的差異才顯現。</a:t>
            </a:r>
            <a:endParaRPr lang="en-US" sz="1400" dirty="0"/>
          </a:p>
        </p:txBody>
      </p:sp>
      <p:pic>
        <p:nvPicPr>
          <p:cNvPr id="24" name="Picture 23" descr="pwr_hig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520062"/>
            <a:ext cx="2487168" cy="1134610"/>
          </a:xfrm>
          <a:prstGeom prst="rect">
            <a:avLst/>
          </a:prstGeom>
        </p:spPr>
      </p:pic>
      <p:pic>
        <p:nvPicPr>
          <p:cNvPr id="25" name="Picture 24" descr="pwr_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3520062"/>
            <a:ext cx="2487168" cy="1134610"/>
          </a:xfrm>
          <a:prstGeom prst="rect">
            <a:avLst/>
          </a:prstGeom>
        </p:spPr>
      </p:pic>
      <p:pic>
        <p:nvPicPr>
          <p:cNvPr id="26" name="Picture 25" descr="logo_s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 Antenna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增益 ＝ 把功率集中打出去；頻率、接頭要對得上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「天線隨便接就好」　→　頻率要對、增益看場景、接頭要對得上，接錯就白費功率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天線增益實測：換一支天線，載波差約 13 dB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572768"/>
            <a:ext cx="2286000" cy="4160520"/>
          </a:xfrm>
          <a:prstGeom prst="roundRect">
            <a:avLst>
              <a:gd name="adj" fmla="val 9000"/>
            </a:avLst>
          </a:prstGeom>
          <a:solidFill>
            <a:srgbClr val="FBF7F2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2A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64" y="1664208"/>
            <a:ext cx="1966030" cy="3566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321808"/>
            <a:ext cx="228600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43312A"/>
                </a:solidFill>
                <a:latin typeface="Calibri"/>
              </a:rPr>
              <a:t>左 短天線(Ant1)　右 長天線(Ant3)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C7A6E"/>
                </a:solidFill>
                <a:latin typeface="Calibri"/>
              </a:rPr>
              <a:t>同軸接同一台 MTS 發射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517904"/>
            <a:ext cx="4160520" cy="3108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43312A"/>
                </a:solidFill>
                <a:latin typeface="Calibri"/>
              </a:rPr>
              <a:t>短天線 Ant1</a:t>
            </a:r>
            <a:r>
              <a:rPr sz="1050" b="0">
                <a:solidFill>
                  <a:srgbClr val="8C7A6E"/>
                </a:solidFill>
                <a:latin typeface="Calibri"/>
              </a:rPr>
              <a:t>　→　峰值 </a:t>
            </a:r>
            <a:r>
              <a:rPr sz="1300" b="1">
                <a:solidFill>
                  <a:srgbClr val="A44E36"/>
                </a:solidFill>
                <a:latin typeface="Cambria"/>
              </a:rPr>
              <a:t>−42 dB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865376"/>
            <a:ext cx="4160520" cy="1938528"/>
          </a:xfrm>
          <a:prstGeom prst="rect">
            <a:avLst/>
          </a:prstGeom>
          <a:noFill/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dr_sh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9008" y="1911095"/>
            <a:ext cx="4048983" cy="18470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1517904"/>
            <a:ext cx="4160520" cy="3108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43312A"/>
                </a:solidFill>
                <a:latin typeface="Calibri"/>
              </a:rPr>
              <a:t>長天線 Ant3</a:t>
            </a:r>
            <a:r>
              <a:rPr sz="1050" b="0">
                <a:solidFill>
                  <a:srgbClr val="8C7A6E"/>
                </a:solidFill>
                <a:latin typeface="Calibri"/>
              </a:rPr>
              <a:t>　→　峰值 </a:t>
            </a:r>
            <a:r>
              <a:rPr sz="1300" b="1">
                <a:solidFill>
                  <a:srgbClr val="C0674A"/>
                </a:solidFill>
                <a:latin typeface="Cambria"/>
              </a:rPr>
              <a:t>−29 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865376"/>
            <a:ext cx="4160520" cy="1938528"/>
          </a:xfrm>
          <a:prstGeom prst="rect">
            <a:avLst/>
          </a:prstGeom>
          <a:noFill/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sdr_lo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2953" y="1911095"/>
            <a:ext cx="4027893" cy="184708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063240" y="4041648"/>
            <a:ext cx="3246120" cy="1481328"/>
          </a:xfrm>
          <a:prstGeom prst="roundRect">
            <a:avLst>
              <a:gd name="adj" fmla="val 9000"/>
            </a:avLst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54680" y="4114800"/>
            <a:ext cx="3063240" cy="1371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3D9CD"/>
                </a:solidFill>
                <a:latin typeface="Calibri"/>
              </a:rPr>
              <a:t>長 − 短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≈ 13 dB</a:t>
            </a:r>
          </a:p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F6E7E0"/>
                </a:solidFill>
                <a:latin typeface="Calibri"/>
              </a:rPr>
              <a:t>長天線把能量集中 → 載波明顯更強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4041648"/>
            <a:ext cx="5074920" cy="1481328"/>
          </a:xfrm>
          <a:prstGeom prst="roundRect">
            <a:avLst>
              <a:gd name="adj" fmla="val 9000"/>
            </a:avLst>
          </a:prstGeom>
          <a:solidFill>
            <a:srgbClr val="F3EAD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56832" y="4114800"/>
            <a:ext cx="475488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A44E36"/>
                </a:solidFill>
                <a:latin typeface="Cambria"/>
              </a:rPr>
              <a:t>替換法量測條件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4498848"/>
            <a:ext cx="4800600" cy="98755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43312A"/>
                </a:solidFill>
                <a:latin typeface="Calibri"/>
              </a:rPr>
              <a:t>MTS 發純載波 145.050 MHz（Wide／低功率／−20 dB 衰減）；RTL-SDR 固定接收（Gain 0、AGC 全關）。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60" b="0">
                <a:solidFill>
                  <a:srgbClr val="43312A"/>
                </a:solidFill>
                <a:latin typeface="Calibri"/>
              </a:rPr>
              <a:t>只換發射端天線、其他不動，讀 FFT 峰值相減。兩張噪聲底一致（約 −100 dB）＝條件相同。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3240" y="5742432"/>
            <a:ext cx="8503920" cy="786384"/>
          </a:xfrm>
          <a:prstGeom prst="roundRect">
            <a:avLst>
              <a:gd name="adj" fmla="val 9000"/>
            </a:avLst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91840" y="5779008"/>
            <a:ext cx="8138160" cy="7132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D99A5B"/>
                </a:solidFill>
                <a:latin typeface="Calibri"/>
              </a:rPr>
              <a:t>註　</a:t>
            </a:r>
            <a:r>
              <a:rPr sz="1019" b="0">
                <a:solidFill>
                  <a:srgbClr val="FBF7F2"/>
                </a:solidFill>
                <a:latin typeface="Calibri"/>
              </a:rPr>
              <a:t>這是室內相對讀數（含短天線效率低＋近場/反射），非 dBi 認證增益值；但「長 &gt; 短」順序正確，符合『天線越長、增益越高、載波越強』。要認證數字需室外遠場。</a:t>
            </a:r>
          </a:p>
        </p:txBody>
      </p:sp>
      <p:pic>
        <p:nvPicPr>
          <p:cNvPr id="20" name="Picture 19" descr="logo_s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挑天線看三件事：頻率、增益、接頭</a:t>
            </a:r>
            <a:endParaRPr lang="en-US" sz="3200" dirty="0"/>
          </a:p>
        </p:txBody>
      </p:sp>
      <p:sp>
        <p:nvSpPr>
          <p:cNvPr id="5" name="Rounded Rectangle 4"/>
          <p:cNvSpPr/>
          <p:nvPr/>
        </p:nvSpPr>
        <p:spPr>
          <a:xfrm>
            <a:off x="640080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7" y="3474720"/>
            <a:ext cx="1152144" cy="402336"/>
          </a:xfrm>
          <a:prstGeom prst="roundRect">
            <a:avLst/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① 頻率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7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天線有設計頻段（例：標示 FM 136–174 / 400–480MHz ＝ V/U 雙頻）。用在對的頻段才有效率；不對會駐波比(SWR)高、功率被反射回機身。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17136" y="3474720"/>
            <a:ext cx="2194560" cy="402336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② 增益(gain)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7136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常見 dBi / dBd（dBd＝dBi−2.15）。越高打越遠，但波束越扁、仰角越窄。手持/移動未必越高越好。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6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3024" y="3474720"/>
            <a:ext cx="1499616" cy="402336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③ 接頭規格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4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常見 SMA-公 / SMA-母 / BNC…。母機與天線的公母、螺紋要對得上；接錯裝不上或接觸不良、功率漏失。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1371600"/>
            <a:ext cx="10515600" cy="1810512"/>
          </a:xfrm>
          <a:prstGeom prst="roundRect">
            <a:avLst>
              <a:gd name="adj" fmla="val 9000"/>
            </a:avLst>
          </a:prstGeom>
          <a:solidFill>
            <a:srgbClr val="FBF7F2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nts3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892" y="1463040"/>
            <a:ext cx="3791734" cy="1426464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4228175" y="2432304"/>
            <a:ext cx="292608" cy="292608"/>
          </a:xfrm>
          <a:prstGeom prst="ellipse">
            <a:avLst/>
          </a:prstGeom>
          <a:solidFill>
            <a:srgbClr val="A44E3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251943" y="2432304"/>
            <a:ext cx="292608" cy="292608"/>
          </a:xfrm>
          <a:prstGeom prst="ellipse">
            <a:avLst/>
          </a:prstGeom>
          <a:solidFill>
            <a:srgbClr val="A44E3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6484257" y="2432304"/>
            <a:ext cx="292608" cy="292608"/>
          </a:xfrm>
          <a:prstGeom prst="ellipse">
            <a:avLst/>
          </a:prstGeom>
          <a:solidFill>
            <a:srgbClr val="A44E36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71216"/>
            <a:ext cx="10149840" cy="29260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43312A"/>
                </a:solidFill>
                <a:latin typeface="Calibri"/>
              </a:rPr>
              <a:t>① 短　② 中（標示 FM 136–174 / 400–480MHz ＝ V/U 雙頻）　③ 長　</a:t>
            </a:r>
            <a:r>
              <a:rPr sz="1050" b="0">
                <a:solidFill>
                  <a:srgbClr val="A44E36"/>
                </a:solidFill>
                <a:latin typeface="Calibri"/>
              </a:rPr>
              <a:t>辨識：中央有針＝公、凹孔＝母，天線要和機身「相反」才鎖得上。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852160"/>
            <a:ext cx="1092708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A44E36"/>
                </a:solidFill>
                <a:latin typeface="Cambria"/>
              </a:rPr>
              <a:t>接頭要對得上　</a:t>
            </a:r>
            <a:r>
              <a:rPr sz="1000" b="0">
                <a:solidFill>
                  <a:srgbClr val="43312A"/>
                </a:solidFill>
                <a:latin typeface="Calibri"/>
              </a:rPr>
              <a:t>這三支都是 SMA 類接頭但公母/螺紋未必相同——母機與天線要「公對母」才鎖得上、接觸才好。SMA 與 RP-SMA 外觀近似，中央針/孔相反，買前務必先確認機身規格。</a:t>
            </a:r>
          </a:p>
        </p:txBody>
      </p:sp>
      <p:pic>
        <p:nvPicPr>
          <p:cNvPr id="21" name="Picture 20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寬頻 / 窄頻 W / 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面板寫「頻寬」，其實它設的是「訊號最多能佔多寬」的上限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「面板寫頻寬，就是在設頻寬」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設的是寬度的天花板；實際多寬看你多大聲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為什麼要有寬 / 窄頻？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頻譜不夠用。使用者暴增，主管機關必須在不新增頻譜下擠出更多頻道。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把訊號寬度的天花板砍一半（窄頻），頻道間隔就能縮一半，同一段頻譜塞進兩倍頻道。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代價是音質與訊噪比略降；跨單位務必統一 W 或 N，否則一個破音、一個太小聲。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 ＝ 訊號寬度的天花板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wn_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80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W：天花板高，最寬可到約 16 kHz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wn_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80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N：天花板低，最寬約 11 kHz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1206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96112" y="51206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W/N 設的是「最寬能到多寬」的上限；你講多大聲，決定實際走到哪。太小聲用不滿、太大聲會超出。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5998464"/>
            <a:ext cx="10927080" cy="603504"/>
          </a:xfrm>
          <a:prstGeom prst="roundRect">
            <a:avLst>
              <a:gd name="adj" fmla="val 15152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9"/>
          <p:cNvSpPr/>
          <p:nvPr/>
        </p:nvSpPr>
        <p:spPr>
          <a:xfrm>
            <a:off x="914400" y="5998464"/>
            <a:ext cx="10424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場景　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跨單位一邊寬一邊窄 → 聲音一個破一個太小，兩邊都以為是對方訊號弱。統一 W/N，寫進通聯計畫。</a:t>
            </a:r>
            <a:endParaRPr lang="en-US" sz="1300" dirty="0"/>
          </a:p>
        </p:txBody>
      </p:sp>
      <p:pic>
        <p:nvPicPr>
          <p:cNvPr id="14" name="Picture 13" descr="logo_s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 Step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從「轉頻率的最小單位」，到「沒協調好就壓到隔壁」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「步進只是調頻率的方便設定」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設錯會叫不到頻率，還會壓到隔壁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為什麼要有頻道步進？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整段頻譜要切成整齊的「頻道格」，大家才停在同樣的位置上、不各停各的。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步進＝頻道間隔的跳動單位；設對，才停得上格線、也才不會壓到鄰頻。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叫不到某頻率（步進太大跳過了）、或被鄰頻抱怨干擾 → 都先查步進。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步進：轉頻率的最小跳動單位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(STEP) </a:t>
            </a:r>
            <a:r>
              <a:rPr lang="en-US" sz="16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你每按一下、轉一格，頻率跳動的最小量。常見 5 / 6.25 / 12.5 / 25 kHz。整個頻段被它切成一格一格。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25 kHz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63040" y="32461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463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749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035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321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10607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505456" y="3145536"/>
            <a:ext cx="201168" cy="201168"/>
          </a:xfrm>
          <a:prstGeom prst="ellipse">
            <a:avLst/>
          </a:prstGeom>
          <a:solidFill>
            <a:srgbClr val="C0674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691640" y="26791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停不到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691640" y="33924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25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E6B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12.5 kHz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63040" y="46177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1463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606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749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892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035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178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21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9464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0607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505456" y="4517136"/>
            <a:ext cx="201168" cy="201168"/>
          </a:xfrm>
          <a:prstGeom prst="ellipse">
            <a:avLst/>
          </a:prstGeom>
          <a:solidFill>
            <a:srgbClr val="8AA08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691640" y="40507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停得到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47640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463040" y="513892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想停在 145.0125？步進 25k 會跳過它；改 12.5k 才剛好落在格線上。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0080" y="55778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96112" y="55778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聽得到卻停不上去，八成是步進設太大——先查步進，再懷疑天線。</a:t>
            </a:r>
            <a:endParaRPr lang="en-US" sz="1300" dirty="0"/>
          </a:p>
        </p:txBody>
      </p:sp>
      <p:sp>
        <p:nvSpPr>
          <p:cNvPr id="35" name="TextBox 34"/>
          <p:cNvSpPr txBox="1"/>
          <p:nvPr/>
        </p:nvSpPr>
        <p:spPr>
          <a:xfrm>
            <a:off x="914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399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145.0375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145.0625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145.0875</a:t>
            </a:r>
          </a:p>
        </p:txBody>
      </p:sp>
      <p:pic>
        <p:nvPicPr>
          <p:cNvPr id="46" name="Picture 4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步進沒協調 → 鄰頻重疊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只差 12.5 kHz + 兩邊都寬頻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25880" y="2468880"/>
            <a:ext cx="2834640" cy="3017520"/>
          </a:xfrm>
          <a:prstGeom prst="ellipse">
            <a:avLst/>
          </a:prstGeom>
          <a:solidFill>
            <a:srgbClr val="C0674A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606040" y="2468880"/>
            <a:ext cx="2834640" cy="3017520"/>
          </a:xfrm>
          <a:prstGeom prst="ellipse">
            <a:avLst/>
          </a:prstGeom>
          <a:solidFill>
            <a:srgbClr val="D99A5B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94944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拉到 25 kHz 或改窄頻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49440" y="2697480"/>
            <a:ext cx="2011680" cy="2560320"/>
          </a:xfrm>
          <a:prstGeom prst="ellipse">
            <a:avLst/>
          </a:prstGeom>
          <a:solidFill>
            <a:srgbClr val="8AA08C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235440" y="2697480"/>
            <a:ext cx="2011680" cy="2560320"/>
          </a:xfrm>
          <a:prstGeom prst="ellipse">
            <a:avLst/>
          </a:prstGeom>
          <a:solidFill>
            <a:srgbClr val="5A4038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0" y="3995928"/>
            <a:ext cx="12191695" cy="28803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397764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0607040" y="40507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7A1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邊帶疊在一起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5236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3D5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中間留黑、互不干擾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462272"/>
            <a:ext cx="10515600" cy="566928"/>
          </a:xfrm>
          <a:prstGeom prst="roundRect">
            <a:avLst>
              <a:gd name="adj" fmla="val 16129"/>
            </a:avLst>
          </a:prstGeom>
          <a:solidFill>
            <a:srgbClr val="4331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97280" y="4462272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 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頻道間隔 − 佔用頻寬　　</a:t>
            </a:r>
            <a:r>
              <a:rPr lang="en-US" sz="16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算出負數 = 必定重疊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0040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頻道間隔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955280" y="5212080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kHz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7784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kHz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55280" y="554126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8AA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7784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 kHz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955280" y="58521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重疊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11k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0040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7784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 kHz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616305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勉強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5288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概念示意圖，實拍截圖待補（兩台相隔 12.5 kHz 同時發射）</a:t>
            </a:r>
            <a:endParaRPr lang="en-US" sz="1000" dirty="0"/>
          </a:p>
        </p:txBody>
      </p:sp>
      <p:pic>
        <p:nvPicPr>
          <p:cNvPr id="34" name="Picture 33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為什麼要留「保護頻帶」？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892040" y="1920240"/>
            <a:ext cx="1828800" cy="1737360"/>
          </a:xfrm>
          <a:prstGeom prst="rect">
            <a:avLst/>
          </a:prstGeom>
          <a:solidFill>
            <a:srgbClr val="D99A5B">
              <a:alpha val="38000"/>
            </a:srgbClr>
          </a:solidFill>
          <a:ln/>
        </p:spPr>
        <p:txBody>
          <a:bodyPr/>
          <a:lstStyle/>
          <a:p>
            <a:endParaRPr/>
          </a:p>
        </p:txBody>
      </p:sp>
      <p:grpSp>
        <p:nvGrpSpPr>
          <p:cNvPr id="4" name="群組 3"/>
          <p:cNvGrpSpPr/>
          <p:nvPr/>
        </p:nvGrpSpPr>
        <p:grpSpPr>
          <a:xfrm>
            <a:off x="1589382" y="2145075"/>
            <a:ext cx="3222035" cy="3540969"/>
            <a:chOff x="1589382" y="2145075"/>
            <a:chExt cx="3222035" cy="3540969"/>
          </a:xfrm>
        </p:grpSpPr>
        <p:sp>
          <p:nvSpPr>
            <p:cNvPr id="30" name="Oval 29"/>
            <p:cNvSpPr/>
            <p:nvPr/>
          </p:nvSpPr>
          <p:spPr>
            <a:xfrm>
              <a:off x="1589382" y="3125724"/>
              <a:ext cx="81968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3884467" y="3075792"/>
              <a:ext cx="92695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3483777" y="2807207"/>
              <a:ext cx="938910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1918020" y="2824734"/>
              <a:ext cx="991945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2422957" y="2145075"/>
              <a:ext cx="1461695" cy="3341325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" name="群組 4"/>
          <p:cNvGrpSpPr/>
          <p:nvPr/>
        </p:nvGrpSpPr>
        <p:grpSpPr>
          <a:xfrm>
            <a:off x="6801462" y="2145075"/>
            <a:ext cx="3222035" cy="3540969"/>
            <a:chOff x="6801462" y="2145075"/>
            <a:chExt cx="3222035" cy="3540969"/>
          </a:xfrm>
        </p:grpSpPr>
        <p:sp>
          <p:nvSpPr>
            <p:cNvPr id="35" name="Oval 34"/>
            <p:cNvSpPr/>
            <p:nvPr/>
          </p:nvSpPr>
          <p:spPr>
            <a:xfrm>
              <a:off x="6801462" y="3125724"/>
              <a:ext cx="81968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9096547" y="3075792"/>
              <a:ext cx="92695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8695857" y="2807207"/>
              <a:ext cx="938910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7130100" y="2824734"/>
              <a:ext cx="991945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7635037" y="2145075"/>
              <a:ext cx="1461695" cy="3341325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7" name="Shape 5"/>
          <p:cNvSpPr/>
          <p:nvPr/>
        </p:nvSpPr>
        <p:spPr>
          <a:xfrm>
            <a:off x="0" y="3675888"/>
            <a:ext cx="12191695" cy="192024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22960" y="365760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937760" y="3017520"/>
            <a:ext cx="1737360" cy="0"/>
          </a:xfrm>
          <a:prstGeom prst="line">
            <a:avLst/>
          </a:prstGeom>
          <a:noFill/>
          <a:ln w="25400">
            <a:solidFill>
              <a:srgbClr val="A44E3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7091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0312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03120" y="3310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佔用頻寬 →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424160" y="3749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4124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4124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裙擺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真實訊號會超出理論頻寬——理論值只是估計，邊緣還有能量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59028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59028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漂移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0857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發射頻率會隨溫度、晶體誤差而飄，不會永遠停在正中央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3932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33932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濾波器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5761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接收濾波器不是磚牆，邊緣會慢慢滾降，鄰頻會漏一點進來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4406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要多寬才夠？　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 ＝ 頻道間隔 − 佔用頻寬。寬頻 25k − 16k ＝ 9k（夠）；窄頻 12.5k − 11k ＝ 只剩 1.5k——所以窄頻對頻率準確度與濾波器要求更嚴。</a:t>
            </a:r>
            <a:endParaRPr lang="en-US" sz="1500" dirty="0"/>
          </a:p>
        </p:txBody>
      </p:sp>
      <p:sp>
        <p:nvSpPr>
          <p:cNvPr id="29" name="TextBox 28"/>
          <p:cNvSpPr txBox="1"/>
          <p:nvPr/>
        </p:nvSpPr>
        <p:spPr>
          <a:xfrm>
            <a:off x="640080" y="1517904"/>
            <a:ext cx="841248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50" b="0" i="1">
                <a:solidFill>
                  <a:srgbClr val="8C7A6E"/>
                </a:solidFill>
                <a:latin typeface="Calibri"/>
              </a:rPr>
              <a:t>真實訊號會超出「理論／佔用頻寬」——邊緣的「裙擺」向外溢；保護頻帶就是留給裙擺的緩衝，鄰台才不會互咬。</a:t>
            </a:r>
          </a:p>
        </p:txBody>
      </p:sp>
      <p:pic>
        <p:nvPicPr>
          <p:cNvPr id="40" name="Picture 39" descr="skirt_crop_try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457200"/>
            <a:ext cx="2084831" cy="1885546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9235440" y="237017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i="1">
                <a:solidFill>
                  <a:srgbClr val="8C7A6E"/>
                </a:solidFill>
                <a:latin typeface="Calibri"/>
              </a:rPr>
              <a:t>實測·窄頻 FM：訊號裙擺溢出頻寬框</a:t>
            </a:r>
          </a:p>
        </p:txBody>
      </p:sp>
      <p:pic>
        <p:nvPicPr>
          <p:cNvPr id="42" name="Picture 41" descr="logo_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554480"/>
            <a:ext cx="4023360" cy="402336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241280" y="475488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56032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調出這個形狀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一對無線電、兩種設定，在頻譜上疊出「一寬一窄」——這就是你這組要做出來的畫面。</a:t>
            </a:r>
            <a:endParaRPr lang="en-US" sz="1800" dirty="0"/>
          </a:p>
        </p:txBody>
      </p:sp>
      <p:pic>
        <p:nvPicPr>
          <p:cNvPr id="7" name="Picture 6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六組各據一個頻段——寬一點，才有得玩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每組拿到一段夠寬的頻段，兩台就在裡面錯開頻率。全部落在 2m 頻段內、避開呼叫與衛星頻率。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2350008"/>
            <a:ext cx="603504" cy="60350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144.700 – 144.800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9164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663440" y="2350008"/>
            <a:ext cx="603504" cy="60350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66344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4068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4068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144.840 – 144.940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4068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412480" y="2350008"/>
            <a:ext cx="603504" cy="60350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41248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8972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組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8972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144.980 – 145.080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8972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14400" y="3950208"/>
            <a:ext cx="603504" cy="60350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440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9164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組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9164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145.120 – 145.220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69164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8912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663440" y="3950208"/>
            <a:ext cx="603504" cy="60350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466344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44068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4068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145.260 – 145.360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44068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13816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8412480" y="3950208"/>
            <a:ext cx="603504" cy="603504"/>
          </a:xfrm>
          <a:prstGeom prst="ellips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41248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18972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組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18972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145.400 – 145.480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918972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138928"/>
            <a:ext cx="10927080" cy="1188720"/>
          </a:xfrm>
          <a:prstGeom prst="roundRect">
            <a:avLst>
              <a:gd name="adj" fmla="val 9231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914400" y="52303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規則　</a:t>
            </a:r>
            <a:r>
              <a:rPr lang="en-US" sz="15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各組可同時發射——先低功率、先看 SDR 確認沒蓋到隔壁組　② 一組內兩台錯開頻率、設不同 W/N 與功率　③ 全程盯 SDR。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14400" y="574243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頻率為課堂示意：已避開呼叫頻率 145.500 與 ISS/衛星 145.800，並限制在 2m 頻段 144–146 MHz。開課前仍須依 NCC 頻段規劃與當地緊急/中繼/衛星/APRS 頻率確認（見講義附錄 · 待查）。</a:t>
            </a:r>
            <a:endParaRPr lang="en-US" sz="1100" dirty="0"/>
          </a:p>
        </p:txBody>
      </p:sp>
      <p:pic>
        <p:nvPicPr>
          <p:cNvPr id="44" name="Picture 43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題目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兩台一起發，疊出一寬一窄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76072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561795" y="2663190"/>
            <a:ext cx="2880360" cy="1645920"/>
          </a:xfrm>
          <a:prstGeom prst="ellipse">
            <a:avLst/>
          </a:prstGeom>
          <a:solidFill>
            <a:srgbClr val="8AA08C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06851" y="1977390"/>
            <a:ext cx="979322" cy="3017520"/>
          </a:xfrm>
          <a:prstGeom prst="ellipse">
            <a:avLst/>
          </a:prstGeom>
          <a:solidFill>
            <a:srgbClr val="C0674A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13232" y="3489808"/>
            <a:ext cx="5614416" cy="1543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05840" y="3486150"/>
            <a:ext cx="50292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721815" y="261747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寬頻 + 低功率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005072" y="159334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窄頻 + 高功率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17465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目標：SDR 上疊出這個形狀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75120" y="1600200"/>
            <a:ext cx="4892040" cy="3429000"/>
          </a:xfrm>
          <a:prstGeom prst="roundRect">
            <a:avLst>
              <a:gd name="adj" fmla="val 32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949440" y="173736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949440" y="224028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949440" y="22402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21040" y="2221992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(W) ＋ 低功率 (L)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949440" y="2898648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49440" y="28986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21040" y="28803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(N) ＋ 高功率 (H)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949440" y="3557016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949440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錯開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21040" y="353872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兩台頻率在你們的頻段內稍微分開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4215384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949440" y="42153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疊圖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21040" y="4197096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 SDR 的 FFT Hold，兩台輪流發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5257800"/>
            <a:ext cx="10927080" cy="1097280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14400" y="52578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想一想　</a:t>
            </a:r>
            <a:r>
              <a:rPr lang="en-US" sz="15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哪個佔的頻寬大？哪個比較高（訊號強）？兩台靠太近會怎樣？——高度看功率、寬度看 W/N，兩件事互不相干；這正是判斷「同一個頻段裡有幾台、各是什麼設定」的基本功。</a:t>
            </a:r>
            <a:endParaRPr lang="en-US" sz="1400" dirty="0"/>
          </a:p>
        </p:txBody>
      </p:sp>
      <p:pic>
        <p:nvPicPr>
          <p:cNvPr id="28" name="Picture 27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「設了亞音＝私人頻道，別人聽不到」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它一點都不加密，只關你自己的喇叭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為什麼要有亞音（CTCSS）？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同一個頻率常要多組人共用。你不想整天聽到別組的通話與雜音。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發射端蓋一個「暗號」（次音頻），收端只對暗號開喇叭——這是分群，不是加密。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中繼台要正確亞音才會開；但你講的每句話仍是明語，任何人、任何 SDR 都收得到。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亞音在瀑布圖上：一排梳齒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ct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28800"/>
            <a:ext cx="3675888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43584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43584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無亞音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一根乾淨載波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06240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" name="Image 1" descr="C:\Users\10004782\AppData\Local\Temp\claude\D--MyProject-RadioAdvance\b11d5773-524b-456b-b03a-3ee843661b40\scratchpad\deck\assets\ct_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828800"/>
            <a:ext cx="3675888" cy="2286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0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5029200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88.5 Hz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288536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梳齒密、根數多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91856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5" name="Image 2" descr="C:\Users\10004782\AppData\Local\Temp\claude\D--MyProject-RadioAdvance\b11d5773-524b-456b-b03a-3ee843661b40\scratchpad\deck\assets\ct_25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828800"/>
            <a:ext cx="3675888" cy="22860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814816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2"/>
          <p:cNvSpPr/>
          <p:nvPr/>
        </p:nvSpPr>
        <p:spPr>
          <a:xfrm>
            <a:off x="8814816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254.1 Hz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074152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梳齒疏、根數少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02920" y="5120640"/>
            <a:ext cx="1120140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5"/>
          <p:cNvSpPr/>
          <p:nvPr/>
        </p:nvSpPr>
        <p:spPr>
          <a:xfrm>
            <a:off x="758952" y="5120640"/>
            <a:ext cx="10744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梳齒間隔 ＝ 亞音頻率。不用問你，數格子就讀得出你設的是幾赫茲（實測誤差 ≤1.4%）。</a:t>
            </a:r>
            <a:endParaRPr lang="en-US" sz="1300" dirty="0"/>
          </a:p>
        </p:txBody>
      </p:sp>
      <p:pic>
        <p:nvPicPr>
          <p:cNvPr id="21" name="Picture 20" descr="logo_s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亞音不是加密——它只關你的喇叭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mx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 沒設亞音 → 喇叭出聲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m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34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 設了亞音 → 喇叭不出聲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074920"/>
            <a:ext cx="10927080" cy="1481328"/>
          </a:xfrm>
          <a:prstGeom prst="roundRect">
            <a:avLst>
              <a:gd name="adj" fmla="val 7407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914400" y="517550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同一個電波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（總功率差 0.58 dB、頻寬差 10 Hz），B 卻一個聽得到、一個聽不到。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914400" y="561441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而且 </a:t>
            </a:r>
            <a:r>
              <a:rPr lang="en-US" sz="16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不出聲時 BUSY 燈仍亮著</a:t>
            </a:r>
            <a:r>
              <a:rPr lang="en-US" sz="16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——它自己承認收到了，只是不放給你聽。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14400" y="605332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通聯紀律：人員位置、傷患個資、物資數量——設了亞音也一樣不能明語講。</a:t>
            </a:r>
            <a:endParaRPr lang="en-US" sz="1400" dirty="0"/>
          </a:p>
        </p:txBody>
      </p:sp>
      <p:pic>
        <p:nvPicPr>
          <p:cNvPr id="14" name="Picture 13" descr="logo_s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亞音體驗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設傳/收亞音，體驗通聯差異</a:t>
            </a:r>
            <a:endParaRPr lang="en-US" sz="3200" dirty="0"/>
          </a:p>
        </p:txBody>
      </p:sp>
      <p:pic>
        <p:nvPicPr>
          <p:cNvPr id="57" name="Picture 5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7432" y="146304"/>
            <a:ext cx="603504" cy="658368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8842250" y="1792679"/>
            <a:ext cx="1955561" cy="566928"/>
          </a:xfrm>
          <a:prstGeom prst="roundRect">
            <a:avLst>
              <a:gd name="adj" fmla="val 14000"/>
            </a:avLst>
          </a:prstGeom>
          <a:solidFill>
            <a:srgbClr val="F3EAD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2" name="TextBox 61"/>
          <p:cNvSpPr txBox="1"/>
          <p:nvPr/>
        </p:nvSpPr>
        <p:spPr>
          <a:xfrm>
            <a:off x="8842250" y="1946656"/>
            <a:ext cx="173736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 dirty="0">
                <a:solidFill>
                  <a:srgbClr val="43312A"/>
                </a:solidFill>
                <a:latin typeface="Calibri"/>
              </a:rPr>
              <a:t>第 </a:t>
            </a:r>
            <a:r>
              <a:rPr lang="en-US" sz="1400" b="1" dirty="0" smtClean="0">
                <a:solidFill>
                  <a:srgbClr val="43312A"/>
                </a:solidFill>
                <a:latin typeface="Calibri"/>
              </a:rPr>
              <a:t>1</a:t>
            </a:r>
            <a:r>
              <a:rPr sz="1400" b="1" dirty="0" smtClean="0">
                <a:solidFill>
                  <a:srgbClr val="43312A"/>
                </a:solidFill>
                <a:latin typeface="Calibri"/>
              </a:rPr>
              <a:t> </a:t>
            </a:r>
            <a:r>
              <a:rPr sz="1400" b="1" dirty="0" err="1" smtClean="0">
                <a:solidFill>
                  <a:srgbClr val="43312A"/>
                </a:solidFill>
                <a:latin typeface="Calibri"/>
              </a:rPr>
              <a:t>組</a:t>
            </a:r>
            <a:r>
              <a:rPr sz="1400" b="1" dirty="0" err="1" smtClean="0">
                <a:latin typeface="Calibri"/>
              </a:rPr>
              <a:t>亞音</a:t>
            </a:r>
            <a:r>
              <a:rPr sz="1100" b="1" dirty="0" smtClean="0">
                <a:latin typeface="Calibri"/>
              </a:rPr>
              <a:t> </a:t>
            </a:r>
            <a:r>
              <a:rPr sz="1600" b="1" dirty="0">
                <a:solidFill>
                  <a:srgbClr val="A44E36"/>
                </a:solidFill>
                <a:latin typeface="Cambria"/>
              </a:rPr>
              <a:t>88.5</a:t>
            </a:r>
            <a:r>
              <a:rPr sz="1050" b="0" dirty="0">
                <a:solidFill>
                  <a:srgbClr val="8C7A6E"/>
                </a:solidFill>
                <a:latin typeface="Calibri"/>
              </a:rPr>
              <a:t> Hz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842249" y="2340922"/>
            <a:ext cx="1955561" cy="566928"/>
          </a:xfrm>
          <a:prstGeom prst="roundRect">
            <a:avLst>
              <a:gd name="adj" fmla="val 14000"/>
            </a:avLst>
          </a:prstGeom>
          <a:solidFill>
            <a:srgbClr val="FBF7F2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4" name="TextBox 63"/>
          <p:cNvSpPr txBox="1"/>
          <p:nvPr/>
        </p:nvSpPr>
        <p:spPr>
          <a:xfrm>
            <a:off x="8842250" y="2482810"/>
            <a:ext cx="1816608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 dirty="0">
                <a:solidFill>
                  <a:srgbClr val="43312A"/>
                </a:solidFill>
                <a:latin typeface="Calibri"/>
              </a:rPr>
              <a:t>第 </a:t>
            </a:r>
            <a:r>
              <a:rPr lang="en-US" sz="1400" b="1" dirty="0" smtClean="0">
                <a:solidFill>
                  <a:srgbClr val="43312A"/>
                </a:solidFill>
                <a:latin typeface="Calibri"/>
              </a:rPr>
              <a:t>2</a:t>
            </a:r>
            <a:r>
              <a:rPr sz="1400" b="1" dirty="0" smtClean="0">
                <a:solidFill>
                  <a:srgbClr val="43312A"/>
                </a:solidFill>
                <a:latin typeface="Calibri"/>
              </a:rPr>
              <a:t> </a:t>
            </a:r>
            <a:r>
              <a:rPr sz="1400" b="1" dirty="0" err="1" smtClean="0">
                <a:solidFill>
                  <a:srgbClr val="43312A"/>
                </a:solidFill>
                <a:latin typeface="Calibri"/>
              </a:rPr>
              <a:t>組</a:t>
            </a:r>
            <a:r>
              <a:rPr sz="1400" b="1" dirty="0" err="1" smtClean="0">
                <a:latin typeface="Calibri"/>
              </a:rPr>
              <a:t>亞音</a:t>
            </a:r>
            <a:r>
              <a:rPr sz="1050" b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A44E36"/>
                </a:solidFill>
                <a:latin typeface="Cambria"/>
              </a:rPr>
              <a:t>100.0</a:t>
            </a:r>
            <a:r>
              <a:rPr sz="1050" b="0" dirty="0">
                <a:solidFill>
                  <a:srgbClr val="8C7A6E"/>
                </a:solidFill>
                <a:latin typeface="Calibri"/>
              </a:rPr>
              <a:t> Hz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98803" y="3728344"/>
            <a:ext cx="1234440" cy="512064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3" name="TextBox 72"/>
          <p:cNvSpPr txBox="1"/>
          <p:nvPr/>
        </p:nvSpPr>
        <p:spPr>
          <a:xfrm>
            <a:off x="898803" y="3842799"/>
            <a:ext cx="1234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600" b="1" dirty="0">
                <a:solidFill>
                  <a:srgbClr val="FFFFFF"/>
                </a:solidFill>
                <a:latin typeface="Cambria"/>
              </a:rPr>
              <a:t>測試</a:t>
            </a:r>
            <a:endParaRPr sz="1600" b="1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2133242" y="3728344"/>
            <a:ext cx="2148840" cy="512064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5" name="TextBox 74"/>
          <p:cNvSpPr txBox="1"/>
          <p:nvPr/>
        </p:nvSpPr>
        <p:spPr>
          <a:xfrm>
            <a:off x="2133242" y="3842799"/>
            <a:ext cx="21488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altLang="zh-TW" sz="1600" b="1" dirty="0" smtClean="0">
                <a:solidFill>
                  <a:srgbClr val="FFFFFF"/>
                </a:solidFill>
                <a:latin typeface="Cambria"/>
              </a:rPr>
              <a:t>A</a:t>
            </a:r>
            <a:endParaRPr sz="1600" b="1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76" name="Rectangle 75"/>
          <p:cNvSpPr/>
          <p:nvPr/>
        </p:nvSpPr>
        <p:spPr>
          <a:xfrm>
            <a:off x="4282083" y="3728344"/>
            <a:ext cx="2148840" cy="512064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7" name="TextBox 76"/>
          <p:cNvSpPr txBox="1"/>
          <p:nvPr/>
        </p:nvSpPr>
        <p:spPr>
          <a:xfrm>
            <a:off x="4282083" y="3842799"/>
            <a:ext cx="21488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altLang="zh-TW" sz="1600" b="1" dirty="0">
                <a:solidFill>
                  <a:srgbClr val="FFFFFF"/>
                </a:solidFill>
                <a:latin typeface="Cambria"/>
              </a:rPr>
              <a:t>B</a:t>
            </a:r>
            <a:r>
              <a:rPr sz="1600" b="1" dirty="0" smtClean="0">
                <a:solidFill>
                  <a:srgbClr val="FFFFFF"/>
                </a:solidFill>
                <a:latin typeface="Cambria"/>
              </a:rPr>
              <a:t> </a:t>
            </a:r>
            <a:endParaRPr sz="1600" b="1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98801" y="4250271"/>
            <a:ext cx="1234440" cy="603504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2133242" y="4240408"/>
            <a:ext cx="2148840" cy="603504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</a:t>
            </a: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88.5Hz</a:t>
            </a:r>
            <a:endParaRPr lang="en-US" altLang="zh-TW"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不設 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</a:t>
            </a:r>
            <a:endParaRPr lang="en-US" altLang="zh-TW"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4" name="Rectangle 83"/>
          <p:cNvSpPr/>
          <p:nvPr/>
        </p:nvSpPr>
        <p:spPr>
          <a:xfrm>
            <a:off x="4282083" y="4240408"/>
            <a:ext cx="2148840" cy="603504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4282083" y="4301838"/>
            <a:ext cx="2148840" cy="48064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 88.5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Hz</a:t>
            </a:r>
            <a:endParaRPr lang="en-US" sz="1400" b="1" dirty="0" smtClean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不設 </a:t>
            </a:r>
            <a:r>
              <a:rPr 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</a:t>
            </a:r>
            <a:endParaRPr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898803" y="4843912"/>
            <a:ext cx="1234440" cy="603504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2133242" y="4843912"/>
            <a:ext cx="2148840" cy="603504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不設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</a:t>
            </a:r>
          </a:p>
          <a:p>
            <a:pPr algn="ctr"/>
            <a:r>
              <a:rPr lang="zh-TW" altLang="en-US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88.5Hz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4282083" y="4843912"/>
            <a:ext cx="2148840" cy="603504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不設 </a:t>
            </a:r>
            <a:r>
              <a:rPr lang="en-US" altLang="zh-TW" sz="14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</a:t>
            </a:r>
          </a:p>
          <a:p>
            <a:pPr algn="ctr"/>
            <a:r>
              <a:rPr lang="zh-TW" altLang="en-US" sz="14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88.5Hz</a:t>
            </a:r>
            <a:endParaRPr lang="en-US" altLang="zh-TW"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406" y="1306523"/>
            <a:ext cx="8169354" cy="2350457"/>
          </a:xfrm>
          <a:prstGeom prst="rect">
            <a:avLst/>
          </a:prstGeom>
        </p:spPr>
      </p:pic>
      <p:sp>
        <p:nvSpPr>
          <p:cNvPr id="122" name="Rectangle 81"/>
          <p:cNvSpPr/>
          <p:nvPr/>
        </p:nvSpPr>
        <p:spPr>
          <a:xfrm>
            <a:off x="898803" y="5447357"/>
            <a:ext cx="1278730" cy="599215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3" name="Rectangle 82"/>
          <p:cNvSpPr/>
          <p:nvPr/>
        </p:nvSpPr>
        <p:spPr>
          <a:xfrm>
            <a:off x="2100434" y="5447357"/>
            <a:ext cx="2225938" cy="599215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T-CTCS 88.5Hz</a:t>
            </a:r>
            <a:endParaRPr lang="en-US" altLang="zh-TW"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88.5Hz</a:t>
            </a:r>
            <a:endParaRPr lang="en-US" altLang="zh-TW"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4" name="Rectangle 83"/>
          <p:cNvSpPr/>
          <p:nvPr/>
        </p:nvSpPr>
        <p:spPr>
          <a:xfrm>
            <a:off x="4249275" y="5447357"/>
            <a:ext cx="2225938" cy="599215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6" name="TextBox 88"/>
          <p:cNvSpPr txBox="1"/>
          <p:nvPr/>
        </p:nvSpPr>
        <p:spPr>
          <a:xfrm>
            <a:off x="4249275" y="5507915"/>
            <a:ext cx="2225938" cy="4772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 88.5Hz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88.5</a:t>
            </a:r>
            <a:r>
              <a:rPr lang="en-US" altLang="zh-TW" sz="1400" b="1" dirty="0" smtClean="0">
                <a:solidFill>
                  <a:srgbClr val="B53B2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Hz</a:t>
            </a:r>
            <a:endParaRPr sz="1400" b="1" dirty="0">
              <a:solidFill>
                <a:srgbClr val="B53B2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7" name="Rectangle 91"/>
          <p:cNvSpPr/>
          <p:nvPr/>
        </p:nvSpPr>
        <p:spPr>
          <a:xfrm>
            <a:off x="898803" y="6050861"/>
            <a:ext cx="1278730" cy="599215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8" name="Rectangle 92"/>
          <p:cNvSpPr/>
          <p:nvPr/>
        </p:nvSpPr>
        <p:spPr>
          <a:xfrm>
            <a:off x="2100434" y="6050861"/>
            <a:ext cx="2225938" cy="599215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 88.5Hz</a:t>
            </a:r>
          </a:p>
          <a:p>
            <a:pPr algn="ctr"/>
            <a:r>
              <a:rPr lang="zh-TW" altLang="en-US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88.5Hz</a:t>
            </a:r>
            <a:endParaRPr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9" name="Rectangle 93"/>
          <p:cNvSpPr/>
          <p:nvPr/>
        </p:nvSpPr>
        <p:spPr>
          <a:xfrm>
            <a:off x="4249275" y="6050861"/>
            <a:ext cx="2225938" cy="599215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T-CTCS 100Hz</a:t>
            </a:r>
            <a:endParaRPr lang="en-US" altLang="zh-TW"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設 </a:t>
            </a:r>
            <a:r>
              <a:rPr lang="en-US" altLang="zh-TW" sz="1400" b="1" dirty="0" smtClean="0">
                <a:solidFill>
                  <a:srgbClr val="C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R-CTCS 100Hz</a:t>
            </a:r>
            <a:endParaRPr lang="en-US" altLang="zh-TW"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1" name="Rectangle 75"/>
          <p:cNvSpPr/>
          <p:nvPr/>
        </p:nvSpPr>
        <p:spPr>
          <a:xfrm>
            <a:off x="6398113" y="3738207"/>
            <a:ext cx="4753981" cy="512064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2" name="TextBox 76"/>
          <p:cNvSpPr txBox="1"/>
          <p:nvPr/>
        </p:nvSpPr>
        <p:spPr>
          <a:xfrm>
            <a:off x="7767830" y="3869614"/>
            <a:ext cx="21488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lang="zh-TW" altLang="en-US" sz="16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結果</a:t>
            </a:r>
            <a:endParaRPr sz="1600" b="1" dirty="0">
              <a:solidFill>
                <a:srgbClr val="FF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3" name="Rectangle 83"/>
          <p:cNvSpPr/>
          <p:nvPr/>
        </p:nvSpPr>
        <p:spPr>
          <a:xfrm>
            <a:off x="6398114" y="4250271"/>
            <a:ext cx="4753980" cy="603504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5" name="Rectangle 93"/>
          <p:cNvSpPr/>
          <p:nvPr/>
        </p:nvSpPr>
        <p:spPr>
          <a:xfrm>
            <a:off x="6398114" y="4853775"/>
            <a:ext cx="4753980" cy="603504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TW"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6" name="Rectangle 83"/>
          <p:cNvSpPr/>
          <p:nvPr/>
        </p:nvSpPr>
        <p:spPr>
          <a:xfrm>
            <a:off x="6365306" y="5457220"/>
            <a:ext cx="4786788" cy="599215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8" name="Rectangle 93"/>
          <p:cNvSpPr/>
          <p:nvPr/>
        </p:nvSpPr>
        <p:spPr>
          <a:xfrm>
            <a:off x="6365306" y="6060724"/>
            <a:ext cx="4786788" cy="599215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TW" sz="1400" b="1" dirty="0">
              <a:solidFill>
                <a:srgbClr val="C0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448056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Offset　收發分裂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338328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234440" y="35021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376732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「offset 改的是我收聽的頻率」　→　不，offset 只在按 PTT 發射時生效；你顯示／收聽的頻率不動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457200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05840" y="45720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已實測 · SDR ±10k 示範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34924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重點：中繼台一收一發不同頻。offset 決定「發射」跳去哪——方向(＋/−)＋大小；還要配亞音(CTCSS)才進得了中繼台。</a:t>
            </a:r>
            <a:endParaRPr lang="en-US" sz="1500" dirty="0"/>
          </a:p>
        </p:txBody>
      </p:sp>
      <p:pic>
        <p:nvPicPr>
          <p:cNvPr id="12" name="Picture 11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· Offset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 offset？中繼台一收一發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中繼台要「同時」聽你講、又把你的話轉播出去。若收發同頻，它一發就會蓋掉自己正在收的訊號（自我干擾），根本無法運作。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讓中繼台「收一個頻率、發另一個頻率」，兩者相差固定的 offset（2m 常見 −600 kHz）。你的機器：顯示／收聽＝中繼台輸出；一按 PTT 自動平移 offset ＝中繼台輸入。offset 只動 TX，不動 RX。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打不進中繼台，先查三件事：頻率（輸出對不對）、offset（方向＋大小）、亞音（CTCSS）。三者缺一不可——只設 offset 數值卻沒設方向（＋/−），機器根本不會平移。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· Offset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offset 實測：TX 平移、RX 不動</a:t>
            </a:r>
            <a:endParaRPr lang="en-US"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640080" y="1517904"/>
            <a:ext cx="5212080" cy="3108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43312A"/>
                </a:solidFill>
                <a:latin typeface="Calibri"/>
              </a:rPr>
              <a:t>設 offset −10k</a:t>
            </a:r>
            <a:r>
              <a:rPr sz="1050" b="0">
                <a:solidFill>
                  <a:srgbClr val="8C7A6E"/>
                </a:solidFill>
                <a:latin typeface="Calibri"/>
              </a:rPr>
              <a:t>　→　發射落在 </a:t>
            </a:r>
            <a:r>
              <a:rPr sz="1300" b="1">
                <a:solidFill>
                  <a:srgbClr val="C0674A"/>
                </a:solidFill>
                <a:latin typeface="Cambria"/>
              </a:rPr>
              <a:t>145.040</a:t>
            </a:r>
            <a:r>
              <a:rPr sz="1050" b="0">
                <a:solidFill>
                  <a:srgbClr val="8C7A6E"/>
                </a:solidFill>
                <a:latin typeface="Calibri"/>
              </a:rPr>
              <a:t>（紅線左）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47088"/>
            <a:ext cx="5212080" cy="2432304"/>
          </a:xfrm>
          <a:prstGeom prst="rect">
            <a:avLst/>
          </a:prstGeom>
          <a:noFill/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ofs_min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95254"/>
            <a:ext cx="5120640" cy="23359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80760" y="1517904"/>
            <a:ext cx="5212080" cy="3108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43312A"/>
                </a:solidFill>
                <a:latin typeface="Calibri"/>
              </a:rPr>
              <a:t>設 offset +10k</a:t>
            </a:r>
            <a:r>
              <a:rPr sz="1050" b="0">
                <a:solidFill>
                  <a:srgbClr val="8C7A6E"/>
                </a:solidFill>
                <a:latin typeface="Calibri"/>
              </a:rPr>
              <a:t>　→　發射落在 </a:t>
            </a:r>
            <a:r>
              <a:rPr sz="1300" b="1">
                <a:solidFill>
                  <a:srgbClr val="A44E36"/>
                </a:solidFill>
                <a:latin typeface="Cambria"/>
              </a:rPr>
              <a:t>145.060</a:t>
            </a:r>
            <a:r>
              <a:rPr sz="1050" b="0">
                <a:solidFill>
                  <a:srgbClr val="8C7A6E"/>
                </a:solidFill>
                <a:latin typeface="Calibri"/>
              </a:rPr>
              <a:t>（紅線右）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847088"/>
            <a:ext cx="5212080" cy="2432304"/>
          </a:xfrm>
          <a:prstGeom prst="rect">
            <a:avLst/>
          </a:prstGeom>
          <a:noFill/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ofs_pl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895254"/>
            <a:ext cx="5120640" cy="233597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0080" y="4480560"/>
            <a:ext cx="5212080" cy="786384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4937760" cy="69494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A44E36"/>
                </a:solidFill>
                <a:latin typeface="Cambria"/>
              </a:rPr>
              <a:t>RX　</a:t>
            </a:r>
            <a:r>
              <a:rPr sz="1050" b="0">
                <a:solidFill>
                  <a:srgbClr val="43312A"/>
                </a:solidFill>
                <a:latin typeface="Calibri"/>
              </a:rPr>
              <a:t>顯示／收聽 145.050　＝中繼台輸出（不動）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4480560"/>
            <a:ext cx="5212080" cy="786384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63640" y="4526280"/>
            <a:ext cx="4937760" cy="69494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A44E36"/>
                </a:solidFill>
                <a:latin typeface="Cambria"/>
              </a:rPr>
              <a:t>TX　</a:t>
            </a:r>
            <a:r>
              <a:rPr sz="1050" b="0">
                <a:solidFill>
                  <a:srgbClr val="43312A"/>
                </a:solidFill>
                <a:latin typeface="Calibri"/>
              </a:rPr>
              <a:t>145.050 ± offset　＝中繼台輸入（按 PTT 才平移）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94960"/>
            <a:ext cx="10652760" cy="896112"/>
          </a:xfrm>
          <a:prstGeom prst="roundRect">
            <a:avLst>
              <a:gd name="adj" fmla="val 10000"/>
            </a:avLst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5449824"/>
            <a:ext cx="10241280" cy="8229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30" b="0">
                <a:solidFill>
                  <a:srgbClr val="FBF7F2"/>
                </a:solidFill>
                <a:latin typeface="Calibri"/>
              </a:rPr>
              <a:t>紅線＝你設定的 145.050（RX 不動）；黃色載波＝按 PTT 的發射位置，隨 offset 左右平移。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30" b="0">
                <a:solidFill>
                  <a:srgbClr val="D99A5B"/>
                </a:solidFill>
                <a:latin typeface="Calibri"/>
              </a:rPr>
              <a:t>實測用 ±10 kHz 小偏移才同框看得到；真實中繼台常 ±600 kHz，要把 SDR 取樣率／頻寬開大才看得到跳到哪。</a:t>
            </a:r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架一座 2m 中繼台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483468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最少要設定什麼，才能通話？</a:t>
            </a:r>
            <a:endParaRPr lang="en-US" sz="1700" dirty="0"/>
          </a:p>
        </p:txBody>
      </p:sp>
      <p:pic>
        <p:nvPicPr>
          <p:cNvPr id="9" name="Picture 8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綜合設計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換你設計：架一座 2m 中繼台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27080" cy="841248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 smtClean="0">
                <a:solidFill>
                  <a:srgbClr val="8C7A6E"/>
                </a:solidFill>
              </a:rPr>
              <a:t>中繼台「</a:t>
            </a:r>
            <a:r>
              <a:rPr b="1" i="0" dirty="0" err="1">
                <a:solidFill>
                  <a:srgbClr val="8C7A6E"/>
                </a:solidFill>
              </a:rPr>
              <a:t>同時收、同時發</a:t>
            </a:r>
            <a:r>
              <a:rPr b="1" i="0" dirty="0" smtClean="0">
                <a:solidFill>
                  <a:srgbClr val="8C7A6E"/>
                </a:solidFill>
              </a:rPr>
              <a:t>」</a:t>
            </a:r>
            <a:r>
              <a:rPr lang="en-US" altLang="zh-TW" b="1" i="0" dirty="0" smtClean="0">
                <a:solidFill>
                  <a:srgbClr val="8C7A6E"/>
                </a:solidFill>
              </a:rPr>
              <a:t>(</a:t>
            </a:r>
            <a:r>
              <a:rPr lang="zh-TW" altLang="en-US" b="1" i="0" dirty="0" smtClean="0">
                <a:solidFill>
                  <a:srgbClr val="8C7A6E"/>
                </a:solidFill>
              </a:rPr>
              <a:t>全雙工</a:t>
            </a:r>
            <a:r>
              <a:rPr lang="en-US" altLang="zh-TW" b="1" i="0" dirty="0" smtClean="0">
                <a:solidFill>
                  <a:srgbClr val="8C7A6E"/>
                </a:solidFill>
              </a:rPr>
              <a:t>)</a:t>
            </a:r>
            <a:r>
              <a:rPr lang="zh-TW" altLang="en-US" b="1" dirty="0" smtClean="0">
                <a:solidFill>
                  <a:srgbClr val="8C7A6E"/>
                </a:solidFill>
              </a:rPr>
              <a:t>。</a:t>
            </a:r>
            <a:r>
              <a:rPr b="1" i="0" dirty="0" err="1" smtClean="0">
                <a:solidFill>
                  <a:srgbClr val="8C7A6E"/>
                </a:solidFill>
              </a:rPr>
              <a:t>先想清楚</a:t>
            </a:r>
            <a:r>
              <a:rPr b="1" i="0" dirty="0" err="1">
                <a:solidFill>
                  <a:srgbClr val="8C7A6E"/>
                </a:solidFill>
              </a:rPr>
              <a:t>：最少要設定什麼才能通話</a:t>
            </a:r>
            <a:r>
              <a:rPr b="1" i="0" dirty="0" smtClean="0">
                <a:solidFill>
                  <a:srgbClr val="8C7A6E"/>
                </a:solidFill>
              </a:rPr>
              <a:t>？</a:t>
            </a:r>
            <a:endParaRPr b="1" i="0" dirty="0">
              <a:solidFill>
                <a:srgbClr val="8C7A6E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989755" y="3044952"/>
            <a:ext cx="1508760" cy="658368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 dirty="0" err="1">
                <a:solidFill>
                  <a:srgbClr val="FFFFFF"/>
                </a:solidFill>
                <a:latin typeface="Cambria"/>
              </a:rPr>
              <a:t>中繼台</a:t>
            </a:r>
            <a:endParaRPr sz="1400" b="1" i="0" dirty="0">
              <a:solidFill>
                <a:srgbClr val="FFFFFF"/>
              </a:solidFill>
              <a:latin typeface="Cambria"/>
            </a:endParaRPr>
          </a:p>
          <a:p>
            <a:pPr algn="ctr"/>
            <a:r>
              <a:rPr sz="1250" b="0" i="0" dirty="0" err="1">
                <a:solidFill>
                  <a:srgbClr val="FBF7F2"/>
                </a:solidFill>
                <a:latin typeface="Calibri"/>
              </a:rPr>
              <a:t>同時收＋發</a:t>
            </a:r>
            <a:endParaRPr sz="900" b="0" i="0" dirty="0">
              <a:solidFill>
                <a:srgbClr val="FBF7F2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659865" y="4935071"/>
            <a:ext cx="952813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6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A44E36"/>
                </a:solidFill>
                <a:latin typeface="Cambria"/>
              </a:rPr>
              <a:t>無線電 A</a:t>
            </a:r>
          </a:p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發話方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5649" y="4935071"/>
            <a:ext cx="1028611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A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63795C"/>
                </a:solidFill>
                <a:latin typeface="Cambria"/>
              </a:rPr>
              <a:t>無線電 B</a:t>
            </a:r>
          </a:p>
          <a:p>
            <a:pPr algn="ctr"/>
            <a:r>
              <a:rPr sz="1250" b="0" i="0">
                <a:solidFill>
                  <a:srgbClr val="8C7A6E"/>
                </a:solidFill>
                <a:latin typeface="Calibri"/>
              </a:rPr>
              <a:t>收聽方</a:t>
            </a:r>
          </a:p>
        </p:txBody>
      </p:sp>
      <p:cxnSp>
        <p:nvCxnSpPr>
          <p:cNvPr id="10" name="Connector 9"/>
          <p:cNvCxnSpPr>
            <a:stCxn id="8" idx="0"/>
            <a:endCxn id="5" idx="2"/>
          </p:cNvCxnSpPr>
          <p:nvPr/>
        </p:nvCxnSpPr>
        <p:spPr>
          <a:xfrm flipV="1">
            <a:off x="4136272" y="3703320"/>
            <a:ext cx="1607863" cy="1231751"/>
          </a:xfrm>
          <a:prstGeom prst="line">
            <a:avLst/>
          </a:prstGeom>
          <a:ln w="31750">
            <a:solidFill>
              <a:srgbClr val="C0674A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9" idx="0"/>
          </p:cNvCxnSpPr>
          <p:nvPr/>
        </p:nvCxnSpPr>
        <p:spPr>
          <a:xfrm>
            <a:off x="5744135" y="3703320"/>
            <a:ext cx="1465820" cy="1231751"/>
          </a:xfrm>
          <a:prstGeom prst="line">
            <a:avLst/>
          </a:prstGeom>
          <a:ln w="31750">
            <a:solidFill>
              <a:srgbClr val="8AA08C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40080" y="2468880"/>
            <a:ext cx="2880360" cy="320040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b="1" i="0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中繼台在做什麼</a:t>
            </a:r>
            <a:r>
              <a:rPr b="1" i="0" dirty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？</a:t>
            </a:r>
          </a:p>
          <a:p>
            <a:pPr algn="l"/>
            <a:endParaRPr b="1" i="0" dirty="0">
              <a:solidFill>
                <a:srgbClr val="A44E36"/>
              </a:solidFill>
              <a:latin typeface="Cambria"/>
            </a:endParaRPr>
          </a:p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兩台手持機互相聽不到（太遠、被山擋）就不能直通。中繼台架在高處，同時「收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」、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再用另一個頻率「發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」，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替大家轉發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——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把每個人的涵蓋範圍放大到中繼台看得到的地方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468880"/>
            <a:ext cx="3474720" cy="320040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b="1" i="0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什麼時候用</a:t>
            </a:r>
            <a:r>
              <a:rPr b="1" i="0" dirty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？</a:t>
            </a:r>
          </a:p>
          <a:p>
            <a:pPr algn="l"/>
            <a:endParaRPr b="1" i="0" dirty="0">
              <a:solidFill>
                <a:srgbClr val="A44E36"/>
              </a:solidFill>
              <a:latin typeface="Cambria"/>
            </a:endParaRPr>
          </a:p>
          <a:p>
            <a:pPr algn="l"/>
            <a:r>
              <a:rPr sz="1600" b="0" i="0" dirty="0">
                <a:solidFill>
                  <a:srgbClr val="8C7A6E"/>
                </a:solidFill>
                <a:latin typeface="Calibri"/>
              </a:rPr>
              <a:t>手持機直通常只有幾公里、怕地形遮蔽。山區搜救、跨市聯絡、災難現場，靠一座山頂中繼台就能把分散的小隊連起來。注意：它一倒，靠它的人全斷——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要留直通備援</a:t>
            </a:r>
            <a:r>
              <a:rPr sz="1250" b="0" i="0" dirty="0">
                <a:solidFill>
                  <a:srgbClr val="8C7A6E"/>
                </a:solidFill>
                <a:latin typeface="Calibri"/>
              </a:rPr>
              <a:t>。</a:t>
            </a:r>
          </a:p>
        </p:txBody>
      </p:sp>
      <p:sp>
        <p:nvSpPr>
          <p:cNvPr id="14" name="Rounded Rectangle 32"/>
          <p:cNvSpPr/>
          <p:nvPr/>
        </p:nvSpPr>
        <p:spPr>
          <a:xfrm>
            <a:off x="649224" y="5883358"/>
            <a:ext cx="1092708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lang="zh-TW" altLang="en-US" sz="1400" b="1" dirty="0" smtClean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提示 </a:t>
            </a:r>
            <a:r>
              <a:rPr lang="zh-TW" altLang="en-US" sz="1400" b="1" dirty="0" smtClean="0">
                <a:solidFill>
                  <a:schemeClr val="bg1">
                    <a:lumMod val="6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可以看看無線電的設定</a:t>
            </a:r>
            <a:r>
              <a:rPr lang="zh-TW" altLang="en-US" sz="1400" b="1" dirty="0" smtClean="0">
                <a:solidFill>
                  <a:schemeClr val="bg1">
                    <a:lumMod val="65000"/>
                  </a:schemeClr>
                </a:solidFill>
                <a:latin typeface="Cambria"/>
              </a:rPr>
              <a:t> </a:t>
            </a:r>
            <a:endParaRPr sz="1350" b="0" i="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pic>
        <p:nvPicPr>
          <p:cNvPr id="15" name="Picture 14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參考答案：一座 2m 中繼台這樣設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14884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參數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40" y="1737360"/>
            <a:ext cx="274320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737360"/>
            <a:ext cx="5879592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為什麼這樣設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5798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　能通話的最低必要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05456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輸出頻率（你收）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05456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145.600 MHz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05456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這是公布出去的中繼台頻率——大家把它設進「接收」。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54096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輸入頻率（你發）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3054096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145.000 MHz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054096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＝ 輸出 − 位移；中繼台就在這個頻率「聽」你發話。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02736"/>
            <a:ext cx="214884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位移（方向＋大小）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40" y="3602736"/>
            <a:ext cx="2743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−600 kHz（向下）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602736"/>
            <a:ext cx="5879592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2m 標準位移 600 kHz。要夠大——中繼台同時收發，太近會「自己蓋掉自己」、保護頻帶也不足（S6）。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6110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　讓它好用、不互擾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214884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亞音（存取）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4608576"/>
            <a:ext cx="274320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開，88.5 Hz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4608576"/>
            <a:ext cx="5879592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擋雜訊與鄰台誤觸、避免亂開台；但它不加密，話仍是明語（S7）。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30368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發射功率＋架高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5230368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大功率、架高處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5230368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中繼台要覆蓋廣，所以架高、功率大（S3）；但干擾半徑同時放大，要協調。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779007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與鄰台協調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5779007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600" b="1" i="0">
                <a:solidFill>
                  <a:srgbClr val="43312A"/>
                </a:solidFill>
                <a:latin typeface="Calibri"/>
              </a:rPr>
              <a:t>頻率／亞音錯開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0" y="5779007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8C7A6E"/>
                </a:solidFill>
                <a:latin typeface="Calibri"/>
              </a:rPr>
              <a:t>鄰台的輸入／輸出若太近，就是放大版的鄰頻重疊（S6）。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82511"/>
            <a:ext cx="10908792" cy="31089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250" b="0" i="1">
                <a:solidFill>
                  <a:srgbClr val="8C7A6E"/>
                </a:solidFill>
                <a:latin typeface="Calibri"/>
              </a:rPr>
              <a:t>＊ 範例數字依當地 2m 頻段規劃與頻率協調而定；重點是每一項都「說得出為什麼」。</a:t>
            </a:r>
          </a:p>
        </p:txBody>
      </p:sp>
      <p:pic>
        <p:nvPicPr>
          <p:cNvPr id="28" name="Picture 27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448056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 Squelch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338328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234440" y="35021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376732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「靜噪把訊號關掉了」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它只關你的喇叭，電波照舊、別人照收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457200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05840" y="45720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內容準備中 · 尚未實測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34924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預告：靜噪、亞音、靜音——三種讓喇叭安靜的機制，沒有一種動得到電波，也沒有一種能保密。</a:t>
            </a:r>
            <a:endParaRPr lang="en-US" sz="1500" dirty="0"/>
          </a:p>
        </p:txBody>
      </p:sp>
      <p:pic>
        <p:nvPicPr>
          <p:cNvPr id="12" name="Picture 11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 · 靜噪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靜噪：讓喇叭閉嘴，但電波照舊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沒訊號時，收音機會一直發出白噪音「沙沙聲」。你不想整天聽它，也不想手動去關喇叭。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設一個「訊號強度門檻」：低於門檻就把喇叭關掉、高於門檻才出聲——它只關喇叭，不動電波。可再加亞音(CTCSS)當第二道條件，只對暗號開喇叭。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設太高→弱訊號漏接(以為沒人)；設太低→一直有雜音。收不到時先想：是靜噪太高還是真沒訊號？用 SDR 瀑布圖一看便知——有訊號卻沒聲＝靜噪太高。</a:t>
            </a:r>
            <a:endParaRPr lang="en-US" sz="1500" dirty="0"/>
          </a:p>
        </p:txBody>
      </p:sp>
      <p:pic>
        <p:nvPicPr>
          <p:cNvPr id="16" name="Picture 15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55767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9 · 靜噪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靜噪：在「底噪」之上，畫一條門檻線</a:t>
            </a:r>
            <a:endParaRPr lang="en-US" sz="3200" dirty="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7432" y="146304"/>
            <a:ext cx="603504" cy="65836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31520" y="1783080"/>
            <a:ext cx="5852160" cy="3291840"/>
          </a:xfrm>
          <a:prstGeom prst="rect">
            <a:avLst/>
          </a:prstGeom>
          <a:solidFill>
            <a:srgbClr val="2A201B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" name="Rectangle 5"/>
          <p:cNvSpPr/>
          <p:nvPr/>
        </p:nvSpPr>
        <p:spPr>
          <a:xfrm>
            <a:off x="960120" y="4251959"/>
            <a:ext cx="5394960" cy="566928"/>
          </a:xfrm>
          <a:prstGeom prst="rect">
            <a:avLst/>
          </a:prstGeom>
          <a:solidFill>
            <a:srgbClr val="D8D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Isosceles Triangle 6"/>
          <p:cNvSpPr/>
          <p:nvPr/>
        </p:nvSpPr>
        <p:spPr>
          <a:xfrm>
            <a:off x="2926080" y="2487168"/>
            <a:ext cx="1463040" cy="2331720"/>
          </a:xfrm>
          <a:prstGeom prst="triangle">
            <a:avLst/>
          </a:prstGeom>
          <a:solidFill>
            <a:srgbClr val="5F8A9B"/>
          </a:solidFill>
          <a:ln w="12700">
            <a:solidFill>
              <a:srgbClr val="8FB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cxnSp>
        <p:nvCxnSpPr>
          <p:cNvPr id="8" name="Connector 7"/>
          <p:cNvCxnSpPr/>
          <p:nvPr/>
        </p:nvCxnSpPr>
        <p:spPr>
          <a:xfrm>
            <a:off x="960120" y="2194560"/>
            <a:ext cx="5394960" cy="0"/>
          </a:xfrm>
          <a:prstGeom prst="line">
            <a:avLst/>
          </a:prstGeom>
          <a:ln w="22225">
            <a:solidFill>
              <a:srgbClr val="B53B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60120" y="3278123"/>
            <a:ext cx="5394960" cy="0"/>
          </a:xfrm>
          <a:prstGeom prst="line">
            <a:avLst/>
          </a:prstGeom>
          <a:ln w="22225">
            <a:solidFill>
              <a:srgbClr val="5E7D5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60120" y="4507992"/>
            <a:ext cx="5394960" cy="0"/>
          </a:xfrm>
          <a:prstGeom prst="line">
            <a:avLst/>
          </a:prstGeom>
          <a:ln w="22225">
            <a:solidFill>
              <a:srgbClr val="C87A2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05840" y="4229255"/>
            <a:ext cx="109728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6B6259"/>
                </a:solidFill>
                <a:latin typeface="Calibri"/>
              </a:rPr>
              <a:t>底噪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373982"/>
            <a:ext cx="137160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dirty="0" err="1">
                <a:solidFill>
                  <a:srgbClr val="FFFFFF"/>
                </a:solidFill>
                <a:latin typeface="Calibri"/>
              </a:rPr>
              <a:t>訊號</a:t>
            </a:r>
            <a:endParaRPr sz="16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023360" y="1931212"/>
            <a:ext cx="228600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09A8C"/>
                </a:solidFill>
                <a:latin typeface="Calibri"/>
              </a:rPr>
              <a:t>太高 → 漏接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014775"/>
            <a:ext cx="269748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9EC69A"/>
                </a:solidFill>
                <a:latin typeface="Calibri"/>
              </a:rPr>
              <a:t>剛好 → 訊號開 · 雜音關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4528108"/>
            <a:ext cx="26060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E7B47C"/>
                </a:solidFill>
                <a:latin typeface="Calibri"/>
              </a:rPr>
              <a:t>太低 → 沙沙(雜音漏)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1783080"/>
            <a:ext cx="4663440" cy="34471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A44E36"/>
                </a:solidFill>
                <a:latin typeface="Cambria"/>
              </a:rPr>
              <a:t>靜噪 SQL ＝ 你設的一條「門檻線」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2386584"/>
            <a:ext cx="128016" cy="128016"/>
          </a:xfrm>
          <a:prstGeom prst="rect">
            <a:avLst/>
          </a:prstGeom>
          <a:solidFill>
            <a:srgbClr val="5E7D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TextBox 17"/>
          <p:cNvSpPr txBox="1"/>
          <p:nvPr/>
        </p:nvSpPr>
        <p:spPr>
          <a:xfrm>
            <a:off x="7178040" y="2331720"/>
            <a:ext cx="4480560" cy="28809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3312A"/>
                </a:solidFill>
                <a:latin typeface="Calibri"/>
              </a:rPr>
              <a:t>訊號高過門檻</a:t>
            </a:r>
            <a:r>
              <a:rPr sz="1600" b="0">
                <a:solidFill>
                  <a:srgbClr val="43312A"/>
                </a:solidFill>
                <a:latin typeface="Calibri"/>
              </a:rPr>
              <a:t>　→　喇叭開 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03720" y="2907792"/>
            <a:ext cx="128016" cy="128016"/>
          </a:xfrm>
          <a:prstGeom prst="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7178040" y="2852928"/>
            <a:ext cx="4480560" cy="28809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3312A"/>
                </a:solidFill>
                <a:latin typeface="Calibri"/>
              </a:rPr>
              <a:t>低於門檻（含底噪）</a:t>
            </a:r>
            <a:r>
              <a:rPr sz="1600" b="0">
                <a:solidFill>
                  <a:srgbClr val="43312A"/>
                </a:solidFill>
                <a:latin typeface="Calibri"/>
              </a:rPr>
              <a:t>　→　喇叭關（安靜）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3429000"/>
            <a:ext cx="128016" cy="128016"/>
          </a:xfrm>
          <a:prstGeom prst="rect">
            <a:avLst/>
          </a:prstGeom>
          <a:solidFill>
            <a:srgbClr val="C8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2" name="TextBox 21"/>
          <p:cNvSpPr txBox="1"/>
          <p:nvPr/>
        </p:nvSpPr>
        <p:spPr>
          <a:xfrm>
            <a:off x="7178040" y="3374136"/>
            <a:ext cx="4480560" cy="53925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3312A"/>
                </a:solidFill>
                <a:latin typeface="Calibri"/>
              </a:rPr>
              <a:t>門檻設在底噪之上一點點</a:t>
            </a:r>
            <a:r>
              <a:rPr sz="1600" b="0">
                <a:solidFill>
                  <a:srgbClr val="43312A"/>
                </a:solidFill>
                <a:latin typeface="Calibri"/>
              </a:rPr>
              <a:t>：雜音被關掉、真訊號一來就開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03720" y="4169663"/>
            <a:ext cx="128016" cy="128016"/>
          </a:xfrm>
          <a:prstGeom prst="rect">
            <a:avLst/>
          </a:prstGeom>
          <a:solidFill>
            <a:srgbClr val="B53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TextBox 23"/>
          <p:cNvSpPr txBox="1"/>
          <p:nvPr/>
        </p:nvSpPr>
        <p:spPr>
          <a:xfrm>
            <a:off x="7178040" y="4114800"/>
            <a:ext cx="4480560" cy="288092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43312A"/>
                </a:solidFill>
                <a:latin typeface="Calibri"/>
              </a:rPr>
              <a:t>太低 → 一直沙沙；太高 → 有人也漏接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4892040"/>
            <a:ext cx="4663440" cy="1188720"/>
          </a:xfrm>
          <a:prstGeom prst="roundRect">
            <a:avLst>
              <a:gd name="adj" fmla="val 8000"/>
            </a:avLst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TextBox 25"/>
          <p:cNvSpPr txBox="1"/>
          <p:nvPr/>
        </p:nvSpPr>
        <p:spPr>
          <a:xfrm>
            <a:off x="7132320" y="4915475"/>
            <a:ext cx="4206240" cy="114185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b="1">
                <a:solidFill>
                  <a:srgbClr val="C87A2E"/>
                </a:solidFill>
                <a:latin typeface="Calibri"/>
              </a:rPr>
              <a:t>它只關喇叭、不動電波。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FBF7F2"/>
                </a:solidFill>
                <a:latin typeface="Calibri"/>
              </a:rPr>
              <a:t>你這裡沒聲，不代表別人沒收到——SDR、沒設靜噪的人照樣收得到（跟亞音「不是加密」同一個道理）。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靜噪體驗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調 SQL 找門檻：太低吵、太高漏接（用低功率）</a:t>
            </a:r>
            <a:endParaRPr lang="en-US" sz="3200" dirty="0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7432" y="146304"/>
            <a:ext cx="603504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444752"/>
            <a:ext cx="10972800" cy="31089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43312A"/>
                </a:solidFill>
                <a:latin typeface="Calibri"/>
              </a:rPr>
              <a:t>各組甲聽、乙發（同頻率）。把 SQL 從 0 慢慢往上轉，看喇叭：一直響 → 只在乙發時響 → 連乙發都不響。弱訊號用</a:t>
            </a:r>
            <a:r>
              <a:rPr sz="1200" b="1">
                <a:solidFill>
                  <a:srgbClr val="A44E36"/>
                </a:solidFill>
                <a:latin typeface="Calibri"/>
              </a:rPr>
              <a:t>低功率 (L)</a:t>
            </a:r>
            <a:r>
              <a:rPr sz="1200" b="0">
                <a:solidFill>
                  <a:srgbClr val="43312A"/>
                </a:solidFill>
                <a:latin typeface="Calibri"/>
              </a:rPr>
              <a:t>做。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83664"/>
            <a:ext cx="1371600" cy="457200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640080" y="1970687"/>
            <a:ext cx="137160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測試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883664"/>
            <a:ext cx="2331720" cy="457200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TextBox 8"/>
          <p:cNvSpPr txBox="1"/>
          <p:nvPr/>
        </p:nvSpPr>
        <p:spPr>
          <a:xfrm>
            <a:off x="2011680" y="1970687"/>
            <a:ext cx="233172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altLang="zh-TW" sz="1600" b="1" dirty="0" smtClean="0">
                <a:solidFill>
                  <a:srgbClr val="FFFFFF"/>
                </a:solidFill>
                <a:latin typeface="Cambria"/>
              </a:rPr>
              <a:t>A</a:t>
            </a:r>
            <a:r>
              <a:rPr lang="zh-TW" altLang="en-US" sz="1600" b="1" dirty="0" smtClean="0">
                <a:solidFill>
                  <a:srgbClr val="FFFFFF"/>
                </a:solidFill>
                <a:latin typeface="Cambria"/>
              </a:rPr>
              <a:t> </a:t>
            </a:r>
            <a:r>
              <a:rPr sz="1600" b="1" dirty="0" smtClean="0">
                <a:solidFill>
                  <a:srgbClr val="FFFFFF"/>
                </a:solidFill>
                <a:latin typeface="Cambria"/>
              </a:rPr>
              <a:t>的 </a:t>
            </a:r>
            <a:r>
              <a:rPr sz="1600" b="1" dirty="0">
                <a:solidFill>
                  <a:srgbClr val="FFFFFF"/>
                </a:solidFill>
                <a:latin typeface="Cambria"/>
              </a:rPr>
              <a:t>SQL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83664"/>
            <a:ext cx="2377440" cy="457200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4343400" y="1970687"/>
            <a:ext cx="2377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altLang="zh-TW" sz="1600" b="1" dirty="0">
                <a:solidFill>
                  <a:srgbClr val="FFFFFF"/>
                </a:solidFill>
                <a:latin typeface="Cambria"/>
              </a:rPr>
              <a:t>B</a:t>
            </a:r>
            <a:r>
              <a:rPr sz="1600" b="1" dirty="0" smtClean="0">
                <a:solidFill>
                  <a:srgbClr val="FFFFFF"/>
                </a:solidFill>
                <a:latin typeface="Cambria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Cambria"/>
              </a:rPr>
              <a:t>發射</a:t>
            </a:r>
            <a:endParaRPr sz="1600" b="1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720840" y="1883664"/>
            <a:ext cx="1554480" cy="457200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TextBox 12"/>
          <p:cNvSpPr txBox="1"/>
          <p:nvPr/>
        </p:nvSpPr>
        <p:spPr>
          <a:xfrm>
            <a:off x="6720840" y="1970687"/>
            <a:ext cx="155448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lang="en-US" altLang="zh-TW" sz="1600" b="1" dirty="0" smtClean="0">
                <a:solidFill>
                  <a:srgbClr val="FFFFFF"/>
                </a:solidFill>
                <a:latin typeface="Cambria"/>
              </a:rPr>
              <a:t>A</a:t>
            </a:r>
            <a:r>
              <a:rPr lang="zh-TW" altLang="en-US" sz="1600" b="1" dirty="0" smtClean="0">
                <a:solidFill>
                  <a:srgbClr val="FFFFFF"/>
                </a:solidFill>
                <a:latin typeface="Cambria"/>
              </a:rPr>
              <a:t> </a:t>
            </a:r>
            <a:r>
              <a:rPr sz="1600" b="1" dirty="0" err="1" smtClean="0">
                <a:solidFill>
                  <a:srgbClr val="FFFFFF"/>
                </a:solidFill>
                <a:latin typeface="Cambria"/>
              </a:rPr>
              <a:t>喇叭</a:t>
            </a:r>
            <a:endParaRPr sz="1600" b="1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275319" y="1883664"/>
            <a:ext cx="3291840" cy="457200"/>
          </a:xfrm>
          <a:prstGeom prst="rect">
            <a:avLst/>
          </a:prstGeom>
          <a:solidFill>
            <a:srgbClr val="43312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8275319" y="1970687"/>
            <a:ext cx="32918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體驗／學到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340864"/>
            <a:ext cx="137160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7" name="Rectangle 16"/>
          <p:cNvSpPr/>
          <p:nvPr/>
        </p:nvSpPr>
        <p:spPr>
          <a:xfrm>
            <a:off x="2011680" y="2340864"/>
            <a:ext cx="233172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8" name="Rectangle 17"/>
          <p:cNvSpPr/>
          <p:nvPr/>
        </p:nvSpPr>
        <p:spPr>
          <a:xfrm>
            <a:off x="4343400" y="2340864"/>
            <a:ext cx="237744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Rectangle 18"/>
          <p:cNvSpPr/>
          <p:nvPr/>
        </p:nvSpPr>
        <p:spPr>
          <a:xfrm>
            <a:off x="6720840" y="2340864"/>
            <a:ext cx="155448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0" name="Rectangle 19"/>
          <p:cNvSpPr/>
          <p:nvPr/>
        </p:nvSpPr>
        <p:spPr>
          <a:xfrm>
            <a:off x="8275319" y="2340864"/>
            <a:ext cx="329184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1" name="TextBox 20"/>
          <p:cNvSpPr txBox="1"/>
          <p:nvPr/>
        </p:nvSpPr>
        <p:spPr>
          <a:xfrm>
            <a:off x="640080" y="2377595"/>
            <a:ext cx="1371600" cy="49346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dirty="0">
                <a:solidFill>
                  <a:srgbClr val="A44E36"/>
                </a:solidFill>
                <a:latin typeface="Calibri"/>
              </a:rPr>
              <a:t>①  SQL </a:t>
            </a:r>
            <a:r>
              <a:rPr sz="1400" b="1" dirty="0" smtClean="0">
                <a:solidFill>
                  <a:srgbClr val="A44E36"/>
                </a:solidFill>
                <a:latin typeface="Calibri"/>
              </a:rPr>
              <a:t>0</a:t>
            </a:r>
            <a:endParaRPr lang="en-US" sz="1400" b="1" dirty="0" smtClean="0">
              <a:solidFill>
                <a:srgbClr val="A44E36"/>
              </a:solidFill>
              <a:latin typeface="Calibri"/>
            </a:endParaRP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 dirty="0" smtClean="0">
                <a:solidFill>
                  <a:srgbClr val="A44E36"/>
                </a:solidFill>
                <a:latin typeface="Calibri"/>
              </a:rPr>
              <a:t>（</a:t>
            </a:r>
            <a:r>
              <a:rPr sz="1400" b="1" dirty="0" err="1">
                <a:solidFill>
                  <a:srgbClr val="A44E36"/>
                </a:solidFill>
                <a:latin typeface="Calibri"/>
              </a:rPr>
              <a:t>全開</a:t>
            </a:r>
            <a:r>
              <a:rPr sz="1400" b="1" dirty="0">
                <a:solidFill>
                  <a:srgbClr val="A44E36"/>
                </a:solidFill>
                <a:latin typeface="Calibri"/>
              </a:rPr>
              <a:t>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482752"/>
            <a:ext cx="233172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轉到最小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482752"/>
            <a:ext cx="2377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沒人發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2467362"/>
            <a:ext cx="155448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b="1">
                <a:solidFill>
                  <a:srgbClr val="C87A2E"/>
                </a:solidFill>
                <a:latin typeface="Cambria"/>
              </a:rPr>
              <a:t>一直沙沙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2498140"/>
            <a:ext cx="32918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43312A"/>
                </a:solidFill>
                <a:latin typeface="Calibri"/>
              </a:rPr>
              <a:t>太低＝整天雜音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2907792"/>
            <a:ext cx="137160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7" name="Rectangle 26"/>
          <p:cNvSpPr/>
          <p:nvPr/>
        </p:nvSpPr>
        <p:spPr>
          <a:xfrm>
            <a:off x="2011680" y="2907792"/>
            <a:ext cx="233172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8" name="Rectangle 27"/>
          <p:cNvSpPr/>
          <p:nvPr/>
        </p:nvSpPr>
        <p:spPr>
          <a:xfrm>
            <a:off x="4343400" y="2907792"/>
            <a:ext cx="237744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9" name="Rectangle 28"/>
          <p:cNvSpPr/>
          <p:nvPr/>
        </p:nvSpPr>
        <p:spPr>
          <a:xfrm>
            <a:off x="6720840" y="2907792"/>
            <a:ext cx="155448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0" name="Rectangle 29"/>
          <p:cNvSpPr/>
          <p:nvPr/>
        </p:nvSpPr>
        <p:spPr>
          <a:xfrm>
            <a:off x="8275319" y="2907792"/>
            <a:ext cx="329184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1" name="TextBox 30"/>
          <p:cNvSpPr txBox="1"/>
          <p:nvPr/>
        </p:nvSpPr>
        <p:spPr>
          <a:xfrm>
            <a:off x="640080" y="2957347"/>
            <a:ext cx="1371600" cy="4678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A44E36"/>
                </a:solidFill>
                <a:latin typeface="Calibri"/>
              </a:rPr>
              <a:t>②  調到雜音剛消失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3049680"/>
            <a:ext cx="233172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慢慢往上轉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049680"/>
            <a:ext cx="2377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沒人發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3034290"/>
            <a:ext cx="155448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b="1">
                <a:solidFill>
                  <a:srgbClr val="5E7D5A"/>
                </a:solidFill>
                <a:latin typeface="Cambria"/>
              </a:rPr>
              <a:t>安靜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065068"/>
            <a:ext cx="32918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43312A"/>
                </a:solidFill>
                <a:latin typeface="Calibri"/>
              </a:rPr>
              <a:t>這個值＝「門檻」（設在底噪之上）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3474720"/>
            <a:ext cx="137160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7" name="Rectangle 36"/>
          <p:cNvSpPr/>
          <p:nvPr/>
        </p:nvSpPr>
        <p:spPr>
          <a:xfrm>
            <a:off x="2011680" y="3474720"/>
            <a:ext cx="233172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8" name="Rectangle 37"/>
          <p:cNvSpPr/>
          <p:nvPr/>
        </p:nvSpPr>
        <p:spPr>
          <a:xfrm>
            <a:off x="4343400" y="3474720"/>
            <a:ext cx="237744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39" name="Rectangle 38"/>
          <p:cNvSpPr/>
          <p:nvPr/>
        </p:nvSpPr>
        <p:spPr>
          <a:xfrm>
            <a:off x="6720840" y="3474720"/>
            <a:ext cx="155448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0" name="Rectangle 39"/>
          <p:cNvSpPr/>
          <p:nvPr/>
        </p:nvSpPr>
        <p:spPr>
          <a:xfrm>
            <a:off x="8275319" y="3474720"/>
            <a:ext cx="3291840" cy="566928"/>
          </a:xfrm>
          <a:prstGeom prst="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1" name="TextBox 40"/>
          <p:cNvSpPr txBox="1"/>
          <p:nvPr/>
        </p:nvSpPr>
        <p:spPr>
          <a:xfrm>
            <a:off x="640080" y="3631996"/>
            <a:ext cx="137160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A44E36"/>
                </a:solidFill>
                <a:latin typeface="Calibri"/>
              </a:rPr>
              <a:t>③  維持門檻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0" y="3616608"/>
            <a:ext cx="233172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不動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43400" y="3616608"/>
            <a:ext cx="2377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乙近距·正常發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3601218"/>
            <a:ext cx="155448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b="1">
                <a:solidFill>
                  <a:srgbClr val="5E7D5A"/>
                </a:solidFill>
                <a:latin typeface="Cambria"/>
              </a:rPr>
              <a:t>出聲、清楚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19" y="3631996"/>
            <a:ext cx="32918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43312A"/>
                </a:solidFill>
                <a:latin typeface="Calibri"/>
              </a:rPr>
              <a:t>設對：安靜又收得到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4041648"/>
            <a:ext cx="137160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7" name="Rectangle 46"/>
          <p:cNvSpPr/>
          <p:nvPr/>
        </p:nvSpPr>
        <p:spPr>
          <a:xfrm>
            <a:off x="2011680" y="4041648"/>
            <a:ext cx="233172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8" name="Rectangle 47"/>
          <p:cNvSpPr/>
          <p:nvPr/>
        </p:nvSpPr>
        <p:spPr>
          <a:xfrm>
            <a:off x="4343400" y="4041648"/>
            <a:ext cx="237744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49" name="Rectangle 48"/>
          <p:cNvSpPr/>
          <p:nvPr/>
        </p:nvSpPr>
        <p:spPr>
          <a:xfrm>
            <a:off x="6720840" y="4041648"/>
            <a:ext cx="155448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0" name="Rectangle 49"/>
          <p:cNvSpPr/>
          <p:nvPr/>
        </p:nvSpPr>
        <p:spPr>
          <a:xfrm>
            <a:off x="8275319" y="4041648"/>
            <a:ext cx="3291840" cy="566928"/>
          </a:xfrm>
          <a:prstGeom prst="rect">
            <a:avLst/>
          </a:prstGeom>
          <a:solidFill>
            <a:srgbClr val="F3EAD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51" name="TextBox 50"/>
          <p:cNvSpPr txBox="1"/>
          <p:nvPr/>
        </p:nvSpPr>
        <p:spPr>
          <a:xfrm>
            <a:off x="640080" y="4091203"/>
            <a:ext cx="1371600" cy="4678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A44E36"/>
                </a:solidFill>
                <a:latin typeface="Calibri"/>
              </a:rPr>
              <a:t>④  SQL 轉到最高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11680" y="4183536"/>
            <a:ext cx="233172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調到最大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43400" y="4183536"/>
            <a:ext cx="237744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43312A"/>
                </a:solidFill>
                <a:latin typeface="Calibri"/>
              </a:rPr>
              <a:t>乙轉低功率 L 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4016823"/>
            <a:ext cx="1554480" cy="616579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b="1" dirty="0" err="1" smtClean="0">
                <a:solidFill>
                  <a:srgbClr val="B53B2E"/>
                </a:solidFill>
                <a:latin typeface="Cambria"/>
              </a:rPr>
              <a:t>聽不到</a:t>
            </a:r>
            <a:endParaRPr lang="en-US" b="1" dirty="0" smtClean="0">
              <a:solidFill>
                <a:srgbClr val="B53B2E"/>
              </a:solidFill>
              <a:latin typeface="Cambria"/>
            </a:endParaRP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b="1" smtClean="0">
                <a:solidFill>
                  <a:srgbClr val="B53B2E"/>
                </a:solidFill>
                <a:latin typeface="Cambria"/>
              </a:rPr>
              <a:t>（</a:t>
            </a:r>
            <a:r>
              <a:rPr b="1" dirty="0" err="1">
                <a:solidFill>
                  <a:srgbClr val="B53B2E"/>
                </a:solidFill>
                <a:latin typeface="Cambria"/>
              </a:rPr>
              <a:t>漏接</a:t>
            </a:r>
            <a:r>
              <a:rPr b="1" dirty="0">
                <a:solidFill>
                  <a:srgbClr val="B53B2E"/>
                </a:solidFill>
                <a:latin typeface="Cambria"/>
              </a:rPr>
              <a:t>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75319" y="4198924"/>
            <a:ext cx="32918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43312A"/>
                </a:solidFill>
                <a:latin typeface="Calibri"/>
              </a:rPr>
              <a:t>太高＝有人也漏接；SDR／BUSY 仍看得到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0080" y="5321808"/>
            <a:ext cx="10927080" cy="1060704"/>
          </a:xfrm>
          <a:prstGeom prst="roundRect">
            <a:avLst>
              <a:gd name="adj" fmla="val 8000"/>
            </a:avLst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67" name="TextBox 66"/>
          <p:cNvSpPr txBox="1"/>
          <p:nvPr/>
        </p:nvSpPr>
        <p:spPr>
          <a:xfrm>
            <a:off x="914400" y="5429994"/>
            <a:ext cx="10424160" cy="84433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靜噪＝訊號強度的門檻，只關喇叭、不動電波</a:t>
            </a:r>
            <a:r>
              <a:rPr sz="1400" b="0">
                <a:solidFill>
                  <a:srgbClr val="FBF7F2"/>
                </a:solidFill>
                <a:latin typeface="Calibri"/>
              </a:rPr>
              <a:t>（沒聲 ≠ 沒收到；SDR／別人照收）。太低一直吵、太高會漏接，門檻設在「底噪之上一點點」最好。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C87A2E"/>
                </a:solidFill>
                <a:latin typeface="Calibri"/>
              </a:rPr>
              <a:t>⚑ 收不到先分辨：</a:t>
            </a:r>
            <a:r>
              <a:rPr sz="1400" b="0">
                <a:solidFill>
                  <a:srgbClr val="FBF7F2"/>
                </a:solidFill>
                <a:latin typeface="Calibri"/>
              </a:rPr>
              <a:t>「靜噪太高」還是「真的沒訊號」？按 MONI（監聽）或看 SDR 瀑布圖——有訊號卻沒聲＝靜噪太高。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Troubleshooting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出問題，怎麼查？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用學過的每一層，從最便宜、最常見的先查起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口訣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用學過的每一層，從最便宜、最常見的先查起</a:t>
            </a:r>
            <a:endParaRPr lang="en-US" sz="1600" dirty="0"/>
          </a:p>
        </p:txBody>
      </p:sp>
      <p:pic>
        <p:nvPicPr>
          <p:cNvPr id="10" name="Picture 9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Troubleshooting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排查心法：先聽、分層、一次一項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10927080" cy="603504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 dirty="0" err="1" smtClean="0">
                <a:solidFill>
                  <a:srgbClr val="A44E36"/>
                </a:solidFill>
                <a:latin typeface="Calibri"/>
              </a:rPr>
              <a:t>靠機器自己的工具排查</a:t>
            </a:r>
            <a:r>
              <a:rPr sz="1600" b="1" i="0" dirty="0">
                <a:solidFill>
                  <a:srgbClr val="A44E36"/>
                </a:solidFill>
                <a:latin typeface="Calibri"/>
              </a:rPr>
              <a:t>——</a:t>
            </a:r>
            <a:r>
              <a:rPr sz="1600" b="1" i="0" dirty="0" err="1">
                <a:solidFill>
                  <a:srgbClr val="A44E36"/>
                </a:solidFill>
                <a:latin typeface="Calibri"/>
              </a:rPr>
              <a:t>大多數問題出在設定，不是設備</a:t>
            </a:r>
            <a:r>
              <a:rPr sz="1600" b="1" i="0" dirty="0" smtClean="0">
                <a:solidFill>
                  <a:srgbClr val="A44E36"/>
                </a:solidFill>
                <a:latin typeface="Calibri"/>
              </a:rPr>
              <a:t>。</a:t>
            </a:r>
            <a:r>
              <a:rPr lang="zh-TW" altLang="en-US" sz="1600" b="1" i="0" dirty="0" smtClean="0">
                <a:solidFill>
                  <a:srgbClr val="A44E36"/>
                </a:solidFill>
                <a:latin typeface="Calibri"/>
              </a:rPr>
              <a:t>但先檢查自己的設備，如天線有沒有用錯頭、鎖緊</a:t>
            </a:r>
            <a:endParaRPr sz="1600" b="1" i="0" dirty="0">
              <a:solidFill>
                <a:srgbClr val="A44E36"/>
              </a:solidFill>
              <a:latin typeface="Calibr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7" y="2258568"/>
            <a:ext cx="2121408" cy="457200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① 先聽、先看表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6" y="2843784"/>
            <a:ext cx="3300985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400" b="0" i="0" dirty="0" err="1" smtClean="0">
                <a:solidFill>
                  <a:srgbClr val="8C7A6E"/>
                </a:solidFill>
                <a:latin typeface="Calibri"/>
              </a:rPr>
              <a:t>靜噪</a:t>
            </a:r>
            <a:r>
              <a:rPr lang="zh-TW" altLang="en-US" sz="1400" b="0" i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lang="en-US" altLang="zh-TW" sz="1400" b="0" i="0" dirty="0" smtClean="0">
                <a:solidFill>
                  <a:srgbClr val="8C7A6E"/>
                </a:solidFill>
                <a:latin typeface="Calibri"/>
              </a:rPr>
              <a:t>SQL</a:t>
            </a:r>
            <a:r>
              <a:rPr lang="zh-TW" altLang="en-US" sz="1400" b="0" i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lang="zh-TW" altLang="en-US" sz="1400" dirty="0" smtClean="0">
                <a:solidFill>
                  <a:srgbClr val="8C7A6E"/>
                </a:solidFill>
                <a:latin typeface="Calibri"/>
              </a:rPr>
              <a:t>設 </a:t>
            </a:r>
            <a:r>
              <a:rPr lang="en-US" altLang="zh-TW" sz="1400" dirty="0">
                <a:solidFill>
                  <a:srgbClr val="8C7A6E"/>
                </a:solidFill>
                <a:latin typeface="Calibri"/>
              </a:rPr>
              <a:t>0</a:t>
            </a:r>
            <a:r>
              <a:rPr sz="1400" b="0" i="0" dirty="0" smtClean="0">
                <a:solidFill>
                  <a:srgbClr val="8C7A6E"/>
                </a:solidFill>
                <a:latin typeface="Calibri"/>
              </a:rPr>
              <a:t>，聽有沒有訊號或雜音</a:t>
            </a:r>
            <a:r>
              <a:rPr lang="zh-TW" altLang="en-US" sz="1400" b="0" i="0" dirty="0" smtClean="0">
                <a:solidFill>
                  <a:srgbClr val="8C7A6E"/>
                </a:solidFill>
                <a:latin typeface="Calibri"/>
              </a:rPr>
              <a:t>，</a:t>
            </a:r>
            <a:r>
              <a:rPr sz="1400" b="0" i="0" dirty="0" err="1" smtClean="0">
                <a:solidFill>
                  <a:srgbClr val="8C7A6E"/>
                </a:solidFill>
                <a:latin typeface="Calibri"/>
              </a:rPr>
              <a:t>先分辨</a:t>
            </a:r>
            <a:r>
              <a:rPr sz="1400" b="0" i="0" dirty="0" err="1">
                <a:solidFill>
                  <a:srgbClr val="8C7A6E"/>
                </a:solidFill>
                <a:latin typeface="Calibri"/>
              </a:rPr>
              <a:t>「真沒訊號」還是「設定問題</a:t>
            </a:r>
            <a:r>
              <a:rPr sz="1400" b="0" i="0" dirty="0">
                <a:solidFill>
                  <a:srgbClr val="8C7A6E"/>
                </a:solidFill>
                <a:latin typeface="Calibri"/>
              </a:rPr>
              <a:t>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44568" y="2258568"/>
            <a:ext cx="2121408" cy="457200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② 分層照成本查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44568" y="2843784"/>
            <a:ext cx="3118103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400" b="0" i="0">
                <a:solidFill>
                  <a:srgbClr val="8C7A6E"/>
                </a:solidFill>
                <a:latin typeface="Calibri"/>
              </a:rPr>
              <a:t>設定(免費最常見)→ 實體(天線接頭＞高度視距＞功率)→ 系統(中繼位移/亞音、可達性、單點失效)。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47888" y="2258568"/>
            <a:ext cx="2779775" cy="457200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③ 一次一項＋找人對測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47888" y="2843784"/>
            <a:ext cx="3118103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400" b="0" i="0">
                <a:solidFill>
                  <a:srgbClr val="8C7A6E"/>
                </a:solidFill>
                <a:latin typeface="Calibri"/>
              </a:rPr>
              <a:t>改一個參數就測一次；請隊友用另一台幫你聽，才分得出是「發不出」還是「收不到」。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06240"/>
            <a:ext cx="10927080" cy="96012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500" b="1" i="0">
                <a:solidFill>
                  <a:srgbClr val="D99A5B"/>
                </a:solidFill>
                <a:latin typeface="Cambria"/>
              </a:rPr>
              <a:t>黃金順序　</a:t>
            </a:r>
            <a:r>
              <a:rPr sz="1400" b="0" i="0">
                <a:solidFill>
                  <a:srgbClr val="FBF7F2"/>
                </a:solidFill>
                <a:latin typeface="Calibri"/>
              </a:rPr>
              <a:t>先查五個免費設定——頻率／步進／寬窄／亞音／靜噪；再懷疑天線與距離(接頭鎖緊、架高、視距)；最後才動功率——功率不是萬靈丹(S3)。</a:t>
            </a:r>
          </a:p>
        </p:txBody>
      </p:sp>
      <p:pic>
        <p:nvPicPr>
          <p:cNvPr id="15" name="Picture 14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收訊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聽不到、聽不清：症狀 → 怎麼查 → 怎麼解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2860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症狀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371600"/>
            <a:ext cx="301752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可能原因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371600"/>
            <a:ext cx="2743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1371600"/>
            <a:ext cx="288036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完全沒聲音</a:t>
            </a:r>
            <a:endParaRPr b="1" i="0" dirty="0">
              <a:solidFill>
                <a:srgbClr val="A44E36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926080" y="1828800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沒對到頻率／靜噪太高／要亞音沒對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943600" y="1828800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lang="zh-TW" altLang="en-US" sz="1600" dirty="0" smtClean="0">
                <a:solidFill>
                  <a:srgbClr val="8C7A6E"/>
                </a:solidFill>
                <a:latin typeface="Calibri"/>
              </a:rPr>
              <a:t>設 </a:t>
            </a:r>
            <a:r>
              <a:rPr lang="en-US" altLang="zh-TW" sz="1600" dirty="0" smtClean="0">
                <a:solidFill>
                  <a:srgbClr val="8C7A6E"/>
                </a:solidFill>
                <a:latin typeface="Calibri"/>
              </a:rPr>
              <a:t>SQL =0</a:t>
            </a:r>
            <a:r>
              <a:rPr sz="1600" b="0" i="0" dirty="0" smtClean="0">
                <a:solidFill>
                  <a:srgbClr val="8C7A6E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監聽有沒有雜音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/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訊號；核對頻率與步進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0" y="1828800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對頻＋對步進；降靜噪；關或對正亞音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40080" y="3401568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聲音破、尖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401568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對方寬頻、你窄頻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401568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問對方是 W 還是 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3401568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統一寬窄頻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40080" y="4187952"/>
            <a:ext cx="22860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聲音悶、小聲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187952"/>
            <a:ext cx="301752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對方窄頻、你寬頻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87952"/>
            <a:ext cx="27432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同上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4187952"/>
            <a:ext cx="288036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統一寬窄頻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640080" y="4974336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一直有雜音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4974336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訊號弱／靜噪太低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974336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看 S 表格數低不低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4974336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靠近／架高／換天線；調高靜噪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" y="2615184"/>
            <a:ext cx="22860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轉不到想要的頻率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35224" y="2615184"/>
            <a:ext cx="301752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步進設太大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52744" y="2615184"/>
            <a:ext cx="27432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試著轉到 145.0125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95944" y="2615184"/>
            <a:ext cx="288036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改小步進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pic>
        <p:nvPicPr>
          <p:cNvPr id="32" name="Picture 31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發射與系統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發不出去、中繼與覆蓋：症狀 → 怎麼查 → 怎麼解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2860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症狀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371600"/>
            <a:ext cx="28346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可能原因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371600"/>
            <a:ext cx="30632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371600"/>
            <a:ext cx="2743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怎麼解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別人都收不到我</a:t>
            </a:r>
            <a:endParaRPr b="1" i="0" dirty="0">
              <a:solidFill>
                <a:srgbClr val="A44E36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926080" y="18288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天線沒鎖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/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接錯、</a:t>
            </a:r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功率太低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760720" y="18288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檢查接頭公母、鎖緊；請隊友用另一台聽你發射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8288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鎖緊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/</a:t>
            </a:r>
            <a:r>
              <a:rPr sz="1600" b="0" i="0" smtClean="0">
                <a:solidFill>
                  <a:srgbClr val="8C7A6E"/>
                </a:solidFill>
                <a:latin typeface="Calibri"/>
              </a:rPr>
              <a:t>換對接頭；</a:t>
            </a:r>
            <a:r>
              <a:rPr sz="1600" b="0" i="0" dirty="0" err="1">
                <a:solidFill>
                  <a:srgbClr val="8C7A6E"/>
                </a:solidFill>
                <a:latin typeface="Calibri"/>
              </a:rPr>
              <a:t>架高；</a:t>
            </a:r>
            <a:r>
              <a:rPr sz="1600" b="0" i="0" dirty="0" err="1" smtClean="0">
                <a:solidFill>
                  <a:srgbClr val="8C7A6E"/>
                </a:solidFill>
                <a:latin typeface="Calibri"/>
              </a:rPr>
              <a:t>適度功率</a:t>
            </a:r>
            <a:endParaRPr sz="1600" b="0" i="0" dirty="0">
              <a:solidFill>
                <a:srgbClr val="8C7A6E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40080" y="2743200"/>
            <a:ext cx="22860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直通不通、走中繼才通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2743200"/>
            <a:ext cx="28346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兩台互相聽不到(可達性)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2743200"/>
            <a:ext cx="30632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隊友互相直呼看得到彼此嗎；是不是被地形擋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2743200"/>
            <a:ext cx="27432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靠近／架高／走中繼台(第二節)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576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開不了中繼台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6576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入口亞音錯、位移方向或大小錯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36576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對照中繼台的參數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36576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設對入口亞音與位移(想一想)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572000"/>
            <a:ext cx="22860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中繼台一倒全斷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572000"/>
            <a:ext cx="28346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星狀單點失效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4572000"/>
            <a:ext cx="30632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4572000"/>
            <a:ext cx="27432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預留直通備援頻率、分散節點(第二節)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864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覆蓋不到遠隊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54864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距離／地形超出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54864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看地形與視距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54864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高增益天線＋架高(天線＞功率)；中繼台延伸</a:t>
            </a:r>
          </a:p>
        </p:txBody>
      </p:sp>
      <p:pic>
        <p:nvPicPr>
          <p:cNvPr id="28" name="Picture 27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災難現場通訊計畫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用今天學到的每一個參數，替你的小隊做決定</a:t>
            </a:r>
            <a:endParaRPr lang="en-US" sz="1700" dirty="0"/>
          </a:p>
        </p:txBody>
      </p:sp>
      <p:pic>
        <p:nvPicPr>
          <p:cNvPr id="7" name="Picture 6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情境：一場地震後的現場通聯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2387810"/>
            <a:ext cx="10972800" cy="2651760"/>
          </a:xfrm>
          <a:prstGeom prst="roundRect">
            <a:avLst>
              <a:gd name="adj" fmla="val 10435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 sz="280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32104" y="2366412"/>
            <a:ext cx="10515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2400" b="1" dirty="0" err="1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情境</a:t>
            </a:r>
            <a:r>
              <a:rPr sz="24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　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強震後市電中斷。你是新竹市現場指揮所民防通訊官，要替下列單位設計一份「能立即部署」的通訊計畫：指揮所（市區高點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）、搜救隊×3（分散山區與倒塌區，相距數公里、地形遮蔽）、後送隊×2（往醫院</a:t>
            </a:r>
            <a:r>
              <a:rPr sz="2000" b="0" dirty="0" smtClean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lang="zh-TW" altLang="en-US" sz="2000" b="0" dirty="0" smtClean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，每隊僅能聽到自己隊員的通訊</a:t>
            </a:r>
            <a:r>
              <a:rPr sz="2000" b="0" dirty="0" smtClean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可用器材：每人一台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2m/70cm 手持機（0.5–5 W）、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少量高增益天線、可選配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Meshtastic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節點；電力僅電池與少量太陽能；市內有一座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2m 中繼台可用（145.700 MHz，−0.6 MHz）。部分傷患名單需保密。指定主用頻段：2m 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業餘頻段（需執照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）。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每組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3–4 </a:t>
            </a:r>
            <a:r>
              <a:rPr sz="2000" b="0" dirty="0" err="1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人，交付頻率／亞音／功率／天線／資料鏈路／韌性都想清楚的計畫</a:t>
            </a:r>
            <a:r>
              <a:rPr sz="2000" b="0" dirty="0">
                <a:solidFill>
                  <a:srgbClr val="8C7A6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sz="2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" name="Picture 5" descr="logo_s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你要決定的七件事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57276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59" y="1792224"/>
            <a:ext cx="457200" cy="457200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166420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頻率與步進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201168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各隊用哪些頻率？步進統一才不會互相壓到（S6）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7860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22959" y="2798063"/>
            <a:ext cx="457200" cy="4572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7004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寬 / 窄頻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301752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全體統一 W 還是 N？跨隊會不會不相容（S5）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8444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2959" y="3803904"/>
            <a:ext cx="457200" cy="457200"/>
          </a:xfrm>
          <a:prstGeom prst="ellipse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7588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功率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2336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哪些用 H、哪些用 L？覆蓋 vs 耗電（S3）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9028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2959" y="4809744"/>
            <a:ext cx="457200" cy="457200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68172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亞音與紀律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502920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要不要用亞音分隊？哪些話不能明語（S7）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57276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00800" y="1792224"/>
            <a:ext cx="457200" cy="457200"/>
          </a:xfrm>
          <a:prstGeom prst="ellipse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59" y="166420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天線與架設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201168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要不要高增益、架高？機動隊選型（S4）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57860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400800" y="2798063"/>
            <a:ext cx="457200" cy="4572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267004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中繼台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301752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要不要架？輸入／輸出／位移／亞音（想一想）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58444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400800" y="3803904"/>
            <a:ext cx="457200" cy="457200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59" y="367588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400" b="1" i="0">
                <a:solidFill>
                  <a:srgbClr val="A44E36"/>
                </a:solidFill>
                <a:latin typeface="Cambria"/>
              </a:rPr>
              <a:t>資料鏈路與韌性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59" y="402336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語音／位置(Meshtastic)／態勢圖(TAK)；星狀還是網狀備援、單點失效（第二節）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590288"/>
            <a:ext cx="5394960" cy="896112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500" b="1" i="0">
                <a:solidFill>
                  <a:srgbClr val="D99A5B"/>
                </a:solidFill>
                <a:latin typeface="Cambria"/>
              </a:rPr>
              <a:t>限制　</a:t>
            </a:r>
            <a:r>
              <a:rPr sz="1400" b="0" i="0">
                <a:solidFill>
                  <a:srgbClr val="FBF7F2"/>
                </a:solidFill>
                <a:latin typeface="Calibri"/>
              </a:rPr>
              <a:t>① 保密：業餘禁加密、免執照供應鏈存疑　② 電力：停電，算功耗與太陽能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623560"/>
            <a:ext cx="1092708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400" b="1" i="0" dirty="0" err="1">
                <a:solidFill>
                  <a:srgbClr val="A44E36"/>
                </a:solidFill>
                <a:latin typeface="Cambria"/>
              </a:rPr>
              <a:t>交付</a:t>
            </a:r>
            <a:r>
              <a:rPr sz="1400" b="1" i="0" dirty="0">
                <a:solidFill>
                  <a:srgbClr val="A44E36"/>
                </a:solidFill>
                <a:latin typeface="Cambria"/>
              </a:rPr>
              <a:t>　</a:t>
            </a:r>
            <a:r>
              <a:rPr sz="1350" b="0" i="0" dirty="0" err="1">
                <a:solidFill>
                  <a:srgbClr val="8C7A6E"/>
                </a:solidFill>
                <a:latin typeface="Calibri"/>
              </a:rPr>
              <a:t>每組上台用一句「症狀</a:t>
            </a:r>
            <a:r>
              <a:rPr sz="1350" b="0" i="0" dirty="0">
                <a:solidFill>
                  <a:srgbClr val="8C7A6E"/>
                </a:solidFill>
                <a:latin typeface="Calibri"/>
              </a:rPr>
              <a:t> → </a:t>
            </a:r>
            <a:r>
              <a:rPr sz="1350" b="0" i="0" dirty="0" err="1">
                <a:solidFill>
                  <a:srgbClr val="8C7A6E"/>
                </a:solidFill>
                <a:latin typeface="Calibri"/>
              </a:rPr>
              <a:t>用哪個參數</a:t>
            </a:r>
            <a:r>
              <a:rPr sz="1350" b="0" i="0" dirty="0">
                <a:solidFill>
                  <a:srgbClr val="8C7A6E"/>
                </a:solidFill>
                <a:latin typeface="Calibri"/>
              </a:rPr>
              <a:t> → </a:t>
            </a:r>
            <a:r>
              <a:rPr sz="1350" b="0" i="0" dirty="0" err="1">
                <a:solidFill>
                  <a:srgbClr val="8C7A6E"/>
                </a:solidFill>
                <a:latin typeface="Calibri"/>
              </a:rPr>
              <a:t>為什麼」講一個你們預先擋掉的通訊故障</a:t>
            </a:r>
            <a:r>
              <a:rPr sz="1350" b="0" i="0" dirty="0">
                <a:solidFill>
                  <a:srgbClr val="8C7A6E"/>
                </a:solidFill>
                <a:latin typeface="Calibri"/>
              </a:rPr>
              <a:t>。</a:t>
            </a:r>
          </a:p>
        </p:txBody>
      </p:sp>
      <p:pic>
        <p:nvPicPr>
          <p:cNvPr id="34" name="Picture 33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參考答案：新竹地震通訊計畫這樣配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210312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條件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417320"/>
            <a:ext cx="420624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417320"/>
            <a:ext cx="461772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為什麼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37944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頻率與步進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837944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 dirty="0" err="1">
                <a:solidFill>
                  <a:srgbClr val="8C7A6E"/>
                </a:solidFill>
                <a:latin typeface="Calibri"/>
              </a:rPr>
              <a:t>各隊分配不同頻率、步進統一</a:t>
            </a:r>
            <a:r>
              <a:rPr sz="1600" b="0" i="0" dirty="0">
                <a:solidFill>
                  <a:srgbClr val="8C7A6E"/>
                </a:solidFill>
                <a:latin typeface="Calibri"/>
              </a:rPr>
              <a:t> 12.5k；跨隊經中繼台一進一出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837944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頻率錯開不互壓、步進統一避免鄰頻重疊(S6)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04872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寬 / 窄頻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404872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全體窄頻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404872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頻道多、可容納更多隊，語音夠用(S5)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功率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971800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指揮所／中繼台 H；隊員平時 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971800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覆蓋 vs 省電；功率非萬靈丹(S3)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38728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亞音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538728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各隊不同入口亞音分隊；傷患個資不上明語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3538728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擋誤觸、分群(S7)；業餘頻段禁加密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05656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天線與架設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105656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指揮所／中繼台高增益且架高；隊員原廠短天線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4105656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天線效益 &gt; 加功率(S4)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672584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中繼台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672584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架一座 2m 中繼台：145.700／−0.6／設入口亞音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4672584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手持直通蓋不住山區，中繼台延伸覆蓋(想一想)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39512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1" i="0">
                <a:solidFill>
                  <a:srgbClr val="A44E36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資料鏈路與韌性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5239512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位置用 Meshtastic(太陽能)；TAK 走 802.11；中繼台倒了退回直通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5239512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600" b="0" i="0">
                <a:solidFill>
                  <a:srgbClr val="8C7A6E"/>
                </a:solidFill>
                <a:latin typeface="Calibri"/>
              </a:rPr>
              <a:t>語音+資料分工、避免單點失效(第二節)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806440"/>
            <a:ext cx="1092708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400" b="0" i="0" dirty="0">
                <a:solidFill>
                  <a:srgbClr val="8C7A6E"/>
                </a:solidFill>
                <a:latin typeface="Calibri"/>
              </a:rPr>
              <a:t>＊ </a:t>
            </a:r>
            <a:r>
              <a:rPr sz="1400" b="0" i="0" dirty="0" err="1">
                <a:solidFill>
                  <a:srgbClr val="8C7A6E"/>
                </a:solidFill>
                <a:latin typeface="Calibri"/>
              </a:rPr>
              <a:t>數字為範例，實際依頻率協調與現場而定；重點是每一項都說得出「為什麼</a:t>
            </a:r>
            <a:r>
              <a:rPr sz="1400" b="0" i="0" dirty="0">
                <a:solidFill>
                  <a:srgbClr val="8C7A6E"/>
                </a:solidFill>
                <a:latin typeface="Calibri"/>
              </a:rPr>
              <a:t>」。</a:t>
            </a:r>
            <a:r>
              <a:rPr sz="1400" b="0" i="0" dirty="0" err="1">
                <a:solidFill>
                  <a:srgbClr val="8C7A6E"/>
                </a:solidFill>
                <a:latin typeface="Calibri"/>
              </a:rPr>
              <a:t>需保密內容必須另規劃管道</a:t>
            </a:r>
            <a:r>
              <a:rPr sz="1400" b="0" i="0" dirty="0">
                <a:solidFill>
                  <a:srgbClr val="8C7A6E"/>
                </a:solidFill>
                <a:latin typeface="Calibri"/>
              </a:rPr>
              <a:t>。</a:t>
            </a:r>
          </a:p>
        </p:txBody>
      </p:sp>
      <p:pic>
        <p:nvPicPr>
          <p:cNvPr id="29" name="Picture 28" descr="logo_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6663" y="146304"/>
            <a:ext cx="607015" cy="6583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</TotalTime>
  <Words>4530</Words>
  <Application>Microsoft Office PowerPoint</Application>
  <PresentationFormat>寬螢幕</PresentationFormat>
  <Paragraphs>783</Paragraphs>
  <Slides>54</Slides>
  <Notes>36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54</vt:i4>
      </vt:variant>
    </vt:vector>
  </HeadingPairs>
  <TitlesOfParts>
    <vt:vector size="60" baseType="lpstr">
      <vt:lpstr>微軟正黑體</vt:lpstr>
      <vt:lpstr>新細明體</vt:lpstr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Winson_Huang 黃仁聖 (HQ)</cp:lastModifiedBy>
  <cp:revision>32</cp:revision>
  <dcterms:created xsi:type="dcterms:W3CDTF">2026-08-22T02:39:20Z</dcterms:created>
  <dcterms:modified xsi:type="dcterms:W3CDTF">2026-08-30T00:42:34Z</dcterms:modified>
</cp:coreProperties>
</file>