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38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Concepts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無線科技
分層解析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第二節 · 純概念講解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用兩把尺——TCP/IP 四層與網路拓樸——把十六個名詞放回它該在的位置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開場 · 為什麼要分層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它們不在同一層，所以不能拿來比較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65836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0" i="0">
                <a:solidFill>
                  <a:srgbClr val="8C7A6E"/>
                </a:solidFill>
                <a:latin typeface="Calibri"/>
              </a:rPr>
              <a:t>民防圈討論無線科技最常見的錯誤，不是選錯技術，而是</a:t>
            </a:r>
            <a:r>
              <a:rPr sz="1350" b="1" i="0">
                <a:solidFill>
                  <a:srgbClr val="A44E36"/>
                </a:solidFill>
                <a:latin typeface="Calibri"/>
              </a:rPr>
              <a:t>把不同抽象層級的東西並排比較</a:t>
            </a:r>
            <a:r>
              <a:rPr sz="1350" b="0" i="0">
                <a:solidFill>
                  <a:srgbClr val="8C7A6E"/>
                </a:solidFill>
                <a:latin typeface="Calibri"/>
              </a:rPr>
              <a:t>。這一節用兩把尺，把下面十六個名詞放回原位。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86000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Mesh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34639" y="2286000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Ad-Hoc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2286000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MANET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2286000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OpenMANET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19" y="2286000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OpenWrt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08376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LoRa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3008376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LoRaWAN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3008376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Meshtastic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3008376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802.11s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19" y="3008376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802.11ah / HaLow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30752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4G / 5G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39" y="3730752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業餘無線電 FM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0" y="3730752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AX.25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59" y="3730752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APRS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19" y="3730752"/>
            <a:ext cx="2075688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43312A"/>
                </a:solidFill>
                <a:latin typeface="Cambria"/>
              </a:rPr>
              <a:t>TAK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10927080" cy="105156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三句開場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① 802.11ah 與 HaLow 是同一個東西（IEEE 編號 vs Wi-Fi 商標名）。② 「要不要用 mesh」是錯問題——mesh 是形狀不是技術。③ LoRa／LoRaWAN／Meshtastic 是三個層次，不是同義詞。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715000"/>
            <a:ext cx="10927080" cy="50292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標記　</a:t>
            </a:r>
            <a:r>
              <a:rPr sz="1250" b="0" i="0">
                <a:solidFill>
                  <a:srgbClr val="8C7A6E"/>
                </a:solidFill>
                <a:latin typeface="Calibri"/>
              </a:rPr>
              <a:t>FACT 有文件支持　·　推論 需驗證　·　待查 依最新法規補齊　·　供應鏈 中國來源、資安須留意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 · TCP/IP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TCP/IP 四層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四層框架，以及為什麼第一層要再拆成三個子層</a:t>
            </a:r>
            <a:endParaRPr lang="en-US" sz="17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第一部 · TCP/IP 四層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四層 + L1 三子層（越上層越高、越底層越下）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2344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74519" y="1417320"/>
            <a:ext cx="32004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名稱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417320"/>
            <a:ext cx="36576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負責什麼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32520" y="1417320"/>
            <a:ext cx="2834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例子 / 失效症狀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12344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L4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1874519"/>
            <a:ext cx="32004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應用層 Application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1874519"/>
            <a:ext cx="36576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人要用它做什麼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1874519"/>
            <a:ext cx="2834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TAK、網頁、Email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123444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L3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2423160"/>
            <a:ext cx="32004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傳輸層 Transport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2423160"/>
            <a:ext cx="36576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資料要不要保證送到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32520" y="2423160"/>
            <a:ext cx="283464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TCP（保證）/ UDP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971800"/>
            <a:ext cx="12344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L2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74519" y="2971800"/>
            <a:ext cx="32004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網際網路層 Internet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2971800"/>
            <a:ext cx="36576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怎麼定址、怎麼選路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32520" y="2971800"/>
            <a:ext cx="28346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IP、路由協定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20440"/>
            <a:ext cx="12344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L1·1c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874519" y="3520440"/>
            <a:ext cx="320040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拓樸 / 轉發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3520440"/>
            <a:ext cx="365760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訊號要經過誰才能到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32520" y="3520440"/>
            <a:ext cx="28346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失效：某些節點永遠連不上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087368"/>
            <a:ext cx="12344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L1·1b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74519" y="4087368"/>
            <a:ext cx="32004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媒體存取 MAC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74920" y="4087368"/>
            <a:ext cx="365760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誰能發、何時發、不相撞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4087368"/>
            <a:ext cx="28346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失效：塞車、延遲、掉封包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654296"/>
            <a:ext cx="12344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L1·1a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4654296"/>
            <a:ext cx="320040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實體層 PHY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74920" y="4654296"/>
            <a:ext cx="365760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頻段、調變、頻寬、功率、天線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32520" y="4654296"/>
            <a:ext cx="28346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失效：收不到、弱、被干擾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394960"/>
            <a:ext cx="10927080" cy="9144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編號陷阱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本文件 L1–L4 是 TCP/IP 四層，不是 OSI 七層！最容易出事：本文件 L2 是「網際網路層(IP)」，不是 OSI 資料鏈結層。授課請直接講名稱，不要只講編號。無線的 L1 藏了三件事（1a/1b/1c），各有獨立標準、廠商、失效模式。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第二部 · 網路拓樸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四種形狀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誰能跟誰講話？誰壞掉的時候會發生什麼事——這一層直接對應到韌性</a:t>
            </a:r>
            <a:endParaRPr lang="en-US" sz="17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第二部 · 網路拓樸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四種拓樸 · 紅點＝單點失效</a:t>
            </a:r>
            <a:endParaRPr lang="en-US" sz="3200" dirty="0"/>
          </a:p>
        </p:txBody>
      </p:sp>
      <p:cxnSp>
        <p:nvCxnSpPr>
          <p:cNvPr id="4" name="Connector 3"/>
          <p:cNvCxnSpPr/>
          <p:nvPr/>
        </p:nvCxnSpPr>
        <p:spPr>
          <a:xfrm>
            <a:off x="1417319" y="2651760"/>
            <a:ext cx="1097281" cy="0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261872" y="24963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359152" y="24963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754880" y="1993391"/>
            <a:ext cx="0" cy="658369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54880" y="2651760"/>
            <a:ext cx="749808" cy="0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54880" y="2651760"/>
            <a:ext cx="0" cy="658368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4005072" y="2651760"/>
            <a:ext cx="749808" cy="0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599432" y="1837943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349240" y="24963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99432" y="3154680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9624" y="24963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99432" y="2496312"/>
            <a:ext cx="310896" cy="310896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H="1">
            <a:off x="6858000" y="2057400"/>
            <a:ext cx="685800" cy="640079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2057400"/>
            <a:ext cx="685800" cy="640079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583680" y="2697479"/>
            <a:ext cx="274320" cy="640081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858000" y="2697479"/>
            <a:ext cx="274320" cy="640081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955279" y="2697479"/>
            <a:ext cx="274321" cy="640081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229600" y="2697479"/>
            <a:ext cx="274320" cy="640081"/>
          </a:xfrm>
          <a:prstGeom prst="line">
            <a:avLst/>
          </a:prstGeom>
          <a:ln w="19050">
            <a:solidFill>
              <a:srgbClr val="8C7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6702552" y="254203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074152" y="254203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28232" y="31821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976872" y="31821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99831" y="31821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31821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88352" y="1901952"/>
            <a:ext cx="310896" cy="310896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>
            <a:off x="9555480" y="2057400"/>
            <a:ext cx="777240" cy="640079"/>
          </a:xfrm>
          <a:prstGeom prst="line">
            <a:avLst/>
          </a:prstGeom>
          <a:ln w="15240">
            <a:solidFill>
              <a:srgbClr val="6E8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332720" y="2057400"/>
            <a:ext cx="777240" cy="640079"/>
          </a:xfrm>
          <a:prstGeom prst="line">
            <a:avLst/>
          </a:prstGeom>
          <a:ln w="15240">
            <a:solidFill>
              <a:srgbClr val="6E8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555480" y="2697479"/>
            <a:ext cx="1554480" cy="0"/>
          </a:xfrm>
          <a:prstGeom prst="line">
            <a:avLst/>
          </a:prstGeom>
          <a:ln w="15240">
            <a:solidFill>
              <a:srgbClr val="6E8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555480" y="2697479"/>
            <a:ext cx="320040" cy="640081"/>
          </a:xfrm>
          <a:prstGeom prst="line">
            <a:avLst/>
          </a:prstGeom>
          <a:ln w="15240">
            <a:solidFill>
              <a:srgbClr val="6E8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10789920" y="2697479"/>
            <a:ext cx="320040" cy="640081"/>
          </a:xfrm>
          <a:prstGeom prst="line">
            <a:avLst/>
          </a:prstGeom>
          <a:ln w="15240">
            <a:solidFill>
              <a:srgbClr val="6E8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875520" y="3337560"/>
            <a:ext cx="914400" cy="0"/>
          </a:xfrm>
          <a:prstGeom prst="line">
            <a:avLst/>
          </a:prstGeom>
          <a:ln w="15240">
            <a:solidFill>
              <a:srgbClr val="6E8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555480" y="2697479"/>
            <a:ext cx="1234440" cy="640081"/>
          </a:xfrm>
          <a:prstGeom prst="line">
            <a:avLst/>
          </a:prstGeom>
          <a:ln w="15240">
            <a:solidFill>
              <a:srgbClr val="6E8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875520" y="2697479"/>
            <a:ext cx="1234440" cy="640081"/>
          </a:xfrm>
          <a:prstGeom prst="line">
            <a:avLst/>
          </a:prstGeom>
          <a:ln w="15240">
            <a:solidFill>
              <a:srgbClr val="6E85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0177272" y="190195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400032" y="254203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954512" y="254203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720072" y="31821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634472" y="3182112"/>
            <a:ext cx="310896" cy="310896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657600"/>
            <a:ext cx="26517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500" b="1" i="0">
                <a:solidFill>
                  <a:srgbClr val="43312A"/>
                </a:solidFill>
                <a:latin typeface="Cambria"/>
              </a:rPr>
              <a:t>點對點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59" y="4041648"/>
            <a:ext cx="2743200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150" b="0" i="0">
                <a:solidFill>
                  <a:srgbClr val="8C7A6E"/>
                </a:solidFill>
                <a:latin typeface="Calibri"/>
              </a:rPr>
              <a:t>兩台直接連。只能兩人。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8719" y="4681728"/>
            <a:ext cx="1554480" cy="329184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無單點失效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0" y="3657600"/>
            <a:ext cx="26517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500" b="1" i="0">
                <a:solidFill>
                  <a:srgbClr val="43312A"/>
                </a:solidFill>
                <a:latin typeface="Cambria"/>
              </a:rPr>
              <a:t>星狀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83280" y="4041648"/>
            <a:ext cx="2743200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150" b="0" i="0">
                <a:solidFill>
                  <a:srgbClr val="8C7A6E"/>
                </a:solidFill>
                <a:latin typeface="Calibri"/>
              </a:rPr>
              <a:t>全部連到中心。中心倒＝全倒。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977640" y="4681728"/>
            <a:ext cx="1554480" cy="329184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中心是靶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3657600"/>
            <a:ext cx="26517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500" b="1" i="0">
                <a:solidFill>
                  <a:srgbClr val="43312A"/>
                </a:solidFill>
                <a:latin typeface="Cambria"/>
              </a:rPr>
              <a:t>樹狀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4041648"/>
            <a:ext cx="2743200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150" b="0" i="0">
                <a:solidFill>
                  <a:srgbClr val="8C7A6E"/>
                </a:solidFill>
                <a:latin typeface="Calibri"/>
              </a:rPr>
              <a:t>星狀的多層版。上層倒＝下層全倒。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766560" y="4681728"/>
            <a:ext cx="1554480" cy="329184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失效會擴散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6840" y="3657600"/>
            <a:ext cx="2651760" cy="3657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500" b="1" i="0">
                <a:solidFill>
                  <a:srgbClr val="43312A"/>
                </a:solidFill>
                <a:latin typeface="Cambria"/>
              </a:rPr>
              <a:t>網狀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1120" y="4041648"/>
            <a:ext cx="2743200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150" b="0" i="0">
                <a:solidFill>
                  <a:srgbClr val="8C7A6E"/>
                </a:solidFill>
                <a:latin typeface="Calibri"/>
              </a:rPr>
              <a:t>每個節點都能轉發，多條路。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555480" y="4681728"/>
            <a:ext cx="1554480" cy="329184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無單點失效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257800"/>
            <a:ext cx="10927080" cy="9601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網狀不是免費的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用「空中時間」換韌性：同一則訊息被轉發很多次，有效頻寬隨節點數與跳數快速下降（物理限制）。所以韌性、頻寬、距離不可兼得。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第二部 · 網路拓樸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 / Ad-Hoc / MANET · 別再混用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945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名詞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39" y="1417320"/>
            <a:ext cx="429768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描述的是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0" y="1417320"/>
            <a:ext cx="3063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關鍵問題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95560" y="1417320"/>
            <a:ext cx="13716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219456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1874519"/>
            <a:ext cx="429768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形狀：每個節點都能替別人轉發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874519"/>
            <a:ext cx="306324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訊號有幾條路可以走？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5560" y="1874519"/>
            <a:ext cx="137160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1c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32887"/>
            <a:ext cx="2194560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MANET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39" y="2532887"/>
            <a:ext cx="4297680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能力：自己找路、會移動、無預先規劃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2532887"/>
            <a:ext cx="3063240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拓樸一直在變，還能不能通？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195560" y="2532887"/>
            <a:ext cx="1371600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L2/1c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91255"/>
            <a:ext cx="219456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Ad-Hoc (IBSS)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34639" y="3191255"/>
            <a:ext cx="429768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有沒有基地台——沒有，節點直接互通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3191255"/>
            <a:ext cx="306324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注意：只做單跳，不做轉發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95560" y="3191255"/>
            <a:ext cx="137160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1b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51960"/>
            <a:ext cx="10927080" cy="82296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A44E36"/>
                </a:solidFill>
                <a:latin typeface="Cambria"/>
              </a:rPr>
              <a:t>包含關係　</a:t>
            </a:r>
            <a:r>
              <a:rPr sz="1350" b="0" i="0">
                <a:solidFill>
                  <a:srgbClr val="8C7A6E"/>
                </a:solidFill>
                <a:latin typeface="Calibri"/>
              </a:rPr>
              <a:t>所有 MANET 都是 mesh，但固定不動的 mesh 不是 MANET。Ad-Hoc ⊃ MANET；Mesh 是另一軸（形狀）。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66360"/>
            <a:ext cx="10927080" cy="105156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最關鍵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IBSS 只讓鄰居直接交換訊框、不做多跳轉發；跨多跳要另有人轉發（802.11s 或 MANET 路由）——兩件事缺一不可、不能互相取代。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第三部 · 層位定位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九個名詞住哪一層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每個名詞自己提供哪幾層、依賴別人哪幾層——這是整節課的核心</a:t>
            </a:r>
            <a:endParaRPr lang="en-US" sz="17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第三部 · 層位定位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以層為軸：誰自己提供、誰依賴別人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234440" cy="4572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00200"/>
            <a:ext cx="1234440" cy="4572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74519" y="1600200"/>
            <a:ext cx="1615440" cy="4572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mbria"/>
              </a:rPr>
              <a:t>LoRa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9960" y="1600200"/>
            <a:ext cx="1615440" cy="4572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mbria"/>
              </a:rPr>
              <a:t>LoRaWAN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5400" y="1600200"/>
            <a:ext cx="1615440" cy="4572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mbria"/>
              </a:rPr>
              <a:t>Meshtastic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0840" y="1600200"/>
            <a:ext cx="1615440" cy="4572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mbria"/>
              </a:rPr>
              <a:t>802.11ah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36280" y="1600200"/>
            <a:ext cx="1615440" cy="4572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mbria"/>
              </a:rPr>
              <a:t>4G/5G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51720" y="1600200"/>
            <a:ext cx="1615440" cy="4572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mbria"/>
              </a:rPr>
              <a:t>TAK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57400"/>
            <a:ext cx="1234440" cy="566928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L4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74519" y="2057400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9960" y="2057400"/>
            <a:ext cx="16154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05400" y="2057400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20840" y="2057400"/>
            <a:ext cx="16154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36280" y="2057400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51720" y="2057400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624328"/>
            <a:ext cx="1234440" cy="566928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L3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74519" y="2624328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89960" y="2624328"/>
            <a:ext cx="16154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05400" y="2624328"/>
            <a:ext cx="16154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720840" y="2624328"/>
            <a:ext cx="16154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336280" y="2624328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51720" y="2624328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191256"/>
            <a:ext cx="1234440" cy="566928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L2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3191256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89960" y="3191256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05400" y="3191256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20840" y="3191256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36280" y="3191256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51720" y="3191256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758183"/>
            <a:ext cx="1234440" cy="56692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1c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74519" y="3758183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89960" y="3758183"/>
            <a:ext cx="16154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105400" y="3758183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3758183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36280" y="3758183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51720" y="3758183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325112"/>
            <a:ext cx="1234440" cy="56692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1b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74519" y="4325112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89960" y="4325112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05400" y="4325112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20840" y="4325112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336280" y="4325112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51720" y="4325112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4892040"/>
            <a:ext cx="1234440" cy="56692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1a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4519" y="4892040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89960" y="4892040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105400" y="4892040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720840" y="4892040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336280" y="4892040"/>
            <a:ext cx="1615440" cy="566928"/>
          </a:xfrm>
          <a:prstGeom prst="roundRect">
            <a:avLst/>
          </a:prstGeom>
          <a:solidFill>
            <a:srgbClr val="8AA08C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供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51720" y="4892040"/>
            <a:ext cx="1615440" cy="566928"/>
          </a:xfrm>
          <a:prstGeom prst="roundRect">
            <a:avLst/>
          </a:prstGeom>
          <a:solidFill>
            <a:srgbClr val="D99A5B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mbria"/>
              </a:rPr>
              <a:t>賴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550407"/>
            <a:ext cx="1092708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綠 供 ＝ 自己提供這一層　　琥珀 賴 ＝ 依賴別人提供　　空白 ＝ 不涉及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40080" y="5623560"/>
            <a:ext cx="10927080" cy="68580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A44E36"/>
                </a:solidFill>
                <a:latin typeface="Cambria"/>
              </a:rPr>
              <a:t>一眼看懂　</a:t>
            </a:r>
            <a:r>
              <a:rPr sz="1350" b="0" i="0">
                <a:solidFill>
                  <a:srgbClr val="8C7A6E"/>
                </a:solidFill>
                <a:latin typeface="Calibri"/>
              </a:rPr>
              <a:t>只有 4G/5G 整條綠（自己包辦全部，也最脆弱）；TAK 只有 L4 綠、其餘全靠別人；802.11ah 的 1c 不是自己的（網狀要靠 802.11s）。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第三部 · 層位定位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疊疊樂 · 同一實體層可疊不同東西（L4 上、1a 下）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20574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層 ＼ 疊法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97480" y="1463040"/>
            <a:ext cx="1773936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感測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71416" y="1463040"/>
            <a:ext cx="1920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Meshtastic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91656" y="1463040"/>
            <a:ext cx="1975104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APRS / Winlink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463040"/>
            <a:ext cx="1600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TAK · 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1463040"/>
            <a:ext cx="1600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TAK · 影像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20240"/>
            <a:ext cx="205740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1" i="0">
                <a:solidFill>
                  <a:srgbClr val="A44E36"/>
                </a:solidFill>
                <a:latin typeface="Cambria"/>
              </a:rPr>
              <a:t>L4 應用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97480" y="1920240"/>
            <a:ext cx="1773936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感測回報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920240"/>
            <a:ext cx="192024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Meshtastic 內建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1656" y="1920240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APRS / Winlink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366760" y="1920240"/>
            <a:ext cx="160020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TAK / IP 應用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66960" y="1920240"/>
            <a:ext cx="160020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TAK / 影像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2057400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1" i="0">
                <a:solidFill>
                  <a:srgbClr val="A44E36"/>
                </a:solidFill>
                <a:latin typeface="Cambria"/>
              </a:rPr>
              <a:t>中間 L2/1c/1b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2578608"/>
            <a:ext cx="1773936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LoRaWAN(星狀)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71416" y="2578608"/>
            <a:ext cx="1920240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Meshtastic(自訂網狀)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91656" y="2578608"/>
            <a:ext cx="1975104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AX.25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66760" y="2578608"/>
            <a:ext cx="1600200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802.11s / Babel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66960" y="2578608"/>
            <a:ext cx="1600200" cy="65836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802.11s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236976"/>
            <a:ext cx="205740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1" i="0">
                <a:solidFill>
                  <a:srgbClr val="A44E36"/>
                </a:solidFill>
                <a:latin typeface="Cambria"/>
              </a:rPr>
              <a:t>1a 實體層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97480" y="3236976"/>
            <a:ext cx="1773936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LoRa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1416" y="3236976"/>
            <a:ext cx="192024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LoRa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91656" y="3236976"/>
            <a:ext cx="1975104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業餘無線電 FM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236976"/>
            <a:ext cx="160020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802.11ah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3236976"/>
            <a:ext cx="1600200" cy="65836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2.4 / 5 GHz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895344"/>
            <a:ext cx="20574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1" i="0">
                <a:solidFill>
                  <a:srgbClr val="A44E36"/>
                </a:solidFill>
                <a:latin typeface="Cambria"/>
              </a:rPr>
              <a:t>典型速率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3895344"/>
            <a:ext cx="1773936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約 1 kbps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71416" y="3895344"/>
            <a:ext cx="192024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約 1 kbps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91656" y="3895344"/>
            <a:ext cx="1975104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1200 / 9600 bps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66760" y="3895344"/>
            <a:ext cx="16002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數 Mbps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6960" y="3895344"/>
            <a:ext cx="16002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數十 Mbps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要看出三件事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① APRS 與 TAK 是同一類(L4 態勢感知)，只隔三十年，差在底下疊的層。② 同一實體層可有完全不同行為：LoRa 配 LoRaWAN 是星狀、配 Meshtastic 是網狀。③ 第三欄(業餘 FM＋數據機)是你手上已擁有的完整資料鏈路。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第四部 · 頻譜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它們住在哪裡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頻率決定物理特性，而物理不能靠軟體改善：頻率越低，傳越遠、穿越好、頻寬越小</a:t>
            </a:r>
            <a:endParaRPr lang="en-US" sz="17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第四部 · 頻譜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頻段橫軸展開 · 一眼看它們住在哪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27080" cy="47548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43312A"/>
                </a:solidFill>
                <a:latin typeface="Calibri"/>
              </a:rPr>
              <a:t>← 低頻：傳更遠、穿透好、頻寬小　　　　　高頻：頻寬大、距離短、遇障礙就停 →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4663440"/>
            <a:ext cx="10607040" cy="0"/>
          </a:xfrm>
          <a:prstGeom prst="line">
            <a:avLst/>
          </a:prstGeom>
          <a:ln w="3175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14400" y="4590288"/>
            <a:ext cx="0" cy="146304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65760" y="4773168"/>
            <a:ext cx="109728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200" b="0" i="0">
                <a:solidFill>
                  <a:srgbClr val="8C7A6E"/>
                </a:solidFill>
                <a:latin typeface="Calibri"/>
              </a:rPr>
              <a:t>100M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07391" y="4590288"/>
            <a:ext cx="0" cy="146304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358751" y="4773168"/>
            <a:ext cx="109728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200" b="0" i="0">
                <a:solidFill>
                  <a:srgbClr val="8C7A6E"/>
                </a:solidFill>
                <a:latin typeface="Calibri"/>
              </a:rPr>
              <a:t>500M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196402" y="4590288"/>
            <a:ext cx="0" cy="146304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647762" y="4773168"/>
            <a:ext cx="109728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200" b="0" i="0">
                <a:solidFill>
                  <a:srgbClr val="8C7A6E"/>
                </a:solidFill>
                <a:latin typeface="Calibri"/>
              </a:rPr>
              <a:t>1G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24468" y="4590288"/>
            <a:ext cx="0" cy="146304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275828" y="4773168"/>
            <a:ext cx="109728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200" b="0" i="0">
                <a:solidFill>
                  <a:srgbClr val="8C7A6E"/>
                </a:solidFill>
                <a:latin typeface="Calibri"/>
              </a:rPr>
              <a:t>2.4G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89394" y="4590288"/>
            <a:ext cx="0" cy="146304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40754" y="4773168"/>
            <a:ext cx="109728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200" b="0" i="0">
                <a:solidFill>
                  <a:srgbClr val="8C7A6E"/>
                </a:solidFill>
                <a:latin typeface="Calibri"/>
              </a:rPr>
              <a:t>5G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521440" y="4590288"/>
            <a:ext cx="0" cy="146304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72800" y="4773168"/>
            <a:ext cx="1097280" cy="3200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spAutoFit/>
          </a:bodyPr>
          <a:lstStyle/>
          <a:p>
            <a:pPr algn="ctr"/>
            <a:r>
              <a:rPr sz="1200" b="0" i="0">
                <a:solidFill>
                  <a:srgbClr val="8C7A6E"/>
                </a:solidFill>
                <a:latin typeface="Calibri"/>
              </a:rPr>
              <a:t>28G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92508" y="4160520"/>
            <a:ext cx="0" cy="502920"/>
          </a:xfrm>
          <a:prstGeom prst="line">
            <a:avLst/>
          </a:prstGeom>
          <a:ln w="12700">
            <a:solidFill>
              <a:srgbClr val="A44E3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48412" y="4160520"/>
            <a:ext cx="0" cy="502920"/>
          </a:xfrm>
          <a:prstGeom prst="line">
            <a:avLst/>
          </a:prstGeom>
          <a:ln w="12700">
            <a:solidFill>
              <a:srgbClr val="A44E3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592508" y="3703320"/>
            <a:ext cx="2055904" cy="457200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業餘 2m/70cm · AX.25 · APRS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33112" y="2350008"/>
            <a:ext cx="0" cy="2313432"/>
          </a:xfrm>
          <a:prstGeom prst="line">
            <a:avLst/>
          </a:prstGeom>
          <a:ln w="12700">
            <a:solidFill>
              <a:srgbClr val="D99A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526103" y="2350008"/>
            <a:ext cx="0" cy="2313432"/>
          </a:xfrm>
          <a:prstGeom prst="line">
            <a:avLst/>
          </a:prstGeom>
          <a:ln w="12700">
            <a:solidFill>
              <a:srgbClr val="D99A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33112" y="1892807"/>
            <a:ext cx="2992991" cy="457200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4G / 5G（700M–3.5G）</a:t>
            </a:r>
          </a:p>
        </p:txBody>
      </p:sp>
      <p:sp>
        <p:nvSpPr>
          <p:cNvPr id="24" name="Oval 23"/>
          <p:cNvSpPr/>
          <p:nvPr/>
        </p:nvSpPr>
        <p:spPr>
          <a:xfrm>
            <a:off x="4972228" y="4590288"/>
            <a:ext cx="146304" cy="146304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45380" y="3557015"/>
            <a:ext cx="0" cy="1106425"/>
          </a:xfrm>
          <a:prstGeom prst="line">
            <a:avLst/>
          </a:prstGeom>
          <a:ln w="12700">
            <a:solidFill>
              <a:srgbClr val="8AA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445180" y="2916935"/>
            <a:ext cx="3200400" cy="640080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LoRa · LoRaWAN · Meshtastic · 802.11ah（920–925M）</a:t>
            </a:r>
          </a:p>
        </p:txBody>
      </p:sp>
      <p:sp>
        <p:nvSpPr>
          <p:cNvPr id="27" name="Oval 26"/>
          <p:cNvSpPr/>
          <p:nvPr/>
        </p:nvSpPr>
        <p:spPr>
          <a:xfrm>
            <a:off x="6751316" y="4590288"/>
            <a:ext cx="146304" cy="146304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824468" y="2953511"/>
            <a:ext cx="0" cy="1709929"/>
          </a:xfrm>
          <a:prstGeom prst="line">
            <a:avLst/>
          </a:prstGeom>
          <a:ln w="12700">
            <a:solidFill>
              <a:srgbClr val="C067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5910068" y="2496311"/>
            <a:ext cx="1828800" cy="457200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Wi-Fi 2.4G · 802.11s</a:t>
            </a:r>
          </a:p>
        </p:txBody>
      </p:sp>
      <p:sp>
        <p:nvSpPr>
          <p:cNvPr id="30" name="Oval 29"/>
          <p:cNvSpPr/>
          <p:nvPr/>
        </p:nvSpPr>
        <p:spPr>
          <a:xfrm>
            <a:off x="8116242" y="4590288"/>
            <a:ext cx="146304" cy="146304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8189394" y="3557015"/>
            <a:ext cx="0" cy="1106425"/>
          </a:xfrm>
          <a:prstGeom prst="line">
            <a:avLst/>
          </a:prstGeom>
          <a:ln w="12700">
            <a:solidFill>
              <a:srgbClr val="C067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274994" y="3099815"/>
            <a:ext cx="1828800" cy="457200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Wi-Fi 5G · 802.11s</a:t>
            </a:r>
          </a:p>
        </p:txBody>
      </p:sp>
      <p:sp>
        <p:nvSpPr>
          <p:cNvPr id="33" name="Oval 32"/>
          <p:cNvSpPr/>
          <p:nvPr/>
        </p:nvSpPr>
        <p:spPr>
          <a:xfrm>
            <a:off x="11319985" y="4590288"/>
            <a:ext cx="146304" cy="146304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881360" y="2953511"/>
            <a:ext cx="511777" cy="1709929"/>
          </a:xfrm>
          <a:prstGeom prst="line">
            <a:avLst/>
          </a:prstGeom>
          <a:ln w="12700">
            <a:solidFill>
              <a:srgbClr val="D99A5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195560" y="2496311"/>
            <a:ext cx="1371600" cy="457200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mbria"/>
              </a:rPr>
              <a:t>5G 毫米波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5212080"/>
            <a:ext cx="10927080" cy="105156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開課前必查 待查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台灣 802.11ah(Sub-1GHz)頻譜是否開放，直接決定 HaLow 能否合法部署，是本節最關鍵待查項；920–925 MHz 的功率與佔空比以最新 NCC 規範為準。TAK／MANET 協定族沒有頻段，不在此圖。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第五部 · 頻寬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差了六個數量級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不是差幾倍，是差幾個數量級——並排問「哪個比較好」，像問腳踏車和貨櫃船哪個好</a:t>
            </a:r>
            <a:endParaRPr lang="en-US" sz="17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第五部 · 頻寬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有效吞吐 · 量級差異（估計）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2918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技術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41732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典型有效吞吐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417320"/>
            <a:ext cx="18288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倍數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03920" y="1417320"/>
            <a:ext cx="3063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能傳什麼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32918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Meshtastic / AX.25(1200)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1874519"/>
            <a:ext cx="274320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0.5–1 kbps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874519"/>
            <a:ext cx="182880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×1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874519"/>
            <a:ext cx="30632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位置、狀態、極短訊息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78024"/>
            <a:ext cx="32918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AX.25(9600) / LoRaWAN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478024"/>
            <a:ext cx="274320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4–6 kbps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2478024"/>
            <a:ext cx="182880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×5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2478024"/>
            <a:ext cx="30632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Winlink 郵件、表單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81528"/>
            <a:ext cx="32918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802.11ah（遠距）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081528"/>
            <a:ext cx="274320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1 Mbps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081528"/>
            <a:ext cx="182880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×1,000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3081528"/>
            <a:ext cx="30632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TAK、低碼率影像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85032"/>
            <a:ext cx="32918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802.11ah（近距）/ 4G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3685032"/>
            <a:ext cx="274320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10–20 Mbps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3685032"/>
            <a:ext cx="182880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×1萬–2萬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03920" y="3685032"/>
            <a:ext cx="30632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影像串流、檔案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288536"/>
            <a:ext cx="32918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802.11s / 商用 MANET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1920" y="4288536"/>
            <a:ext cx="274320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20–50 Mbps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4288536"/>
            <a:ext cx="182880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×2萬起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03920" y="4288536"/>
            <a:ext cx="30632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幾乎任何東西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A44E36"/>
                </a:solidFill>
                <a:latin typeface="Cambria"/>
              </a:rPr>
              <a:t>重要但書　</a:t>
            </a:r>
            <a:r>
              <a:rPr sz="1350" b="0" i="0">
                <a:solidFill>
                  <a:srgbClr val="8C7A6E"/>
                </a:solidFill>
                <a:latin typeface="Calibri"/>
              </a:rPr>
              <a:t>以上為量級估計、非規格峰值，受距離/節點/跳數/佔空比影響可達十倍以上。且「下層不夠」時還有第二條路——不換下層，在應用層適配（見下一頁）。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第五部 · 頻寬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「能不能跑 TAK」要分三類，不是兩類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945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承載方式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39" y="1417320"/>
            <a:ext cx="4206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例子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79" y="1417320"/>
            <a:ext cx="452628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你實際得到什麼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21945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網路承載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39" y="1874519"/>
            <a:ext cx="420624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802.11ah+s、AREDN、4G、商用 MANET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79" y="1874519"/>
            <a:ext cx="452628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完整 TAK：影像、檔案、即時視訊、Server 同步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06039"/>
            <a:ext cx="2194560" cy="73152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應用層適配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2606039"/>
            <a:ext cx="4206240" cy="73152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Meshtastic ATAK Plugin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79" y="2606039"/>
            <a:ext cx="4526280" cy="73152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CoT 子集：位置/聊天，極度壓縮，預設 5 分鐘一次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37559"/>
            <a:ext cx="219456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完全不行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34639" y="3337559"/>
            <a:ext cx="42062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LoRaWAN、AX.25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40879" y="3337559"/>
            <a:ext cx="452628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沒有適配層存在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43400"/>
            <a:ext cx="10927080" cy="8686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A44E36"/>
                </a:solidFill>
                <a:latin typeface="Cambria"/>
              </a:rPr>
              <a:t>適配的代價　</a:t>
            </a:r>
            <a:r>
              <a:rPr sz="1350" b="0" i="0">
                <a:solidFill>
                  <a:srgbClr val="8C7A6E"/>
                </a:solidFill>
                <a:latin typeface="Calibri"/>
              </a:rPr>
              <a:t>得到的是「TAK 的位置與訊息子集」，不是完整態勢圖；換一個應用就得重寫一個適配器——這正是「不是 IP 網路」的真正代價。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03520"/>
            <a:ext cx="10927080" cy="9144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帶走的觀念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「能不能跑」不是是非題，要追問：跑起來的是完整功能，還是經過適配的子集？這跟第一節「用時間換距離」同一種工程思維，只是搬到應用層。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第六部 · 發射功率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為什麼「加大功率」在多數技術上幫助有限</a:t>
            </a:r>
            <a:endParaRPr lang="en-US" sz="17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第六部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真正能改善的只有三件事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52043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1572768"/>
            <a:ext cx="1170432" cy="420624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① 天線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7" y="2103120"/>
            <a:ext cx="3118103" cy="6858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第一節實驗 10 已證明：天線效益遠大於加功率。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52043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44568" y="1572768"/>
            <a:ext cx="1773936" cy="420624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② 高度與視距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2103120"/>
            <a:ext cx="3118103" cy="6858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實驗 10-5，零成本；架高、清視線最實在。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371600"/>
            <a:ext cx="3520439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47888" y="1572768"/>
            <a:ext cx="2176272" cy="420624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③ 降速率換靈敏度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103120"/>
            <a:ext cx="3118103" cy="6858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LoRa 展頻因子的本質：傳得慢＝傳得遠。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54680"/>
            <a:ext cx="32918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技術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315468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典型發射功率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3154680"/>
            <a:ext cx="48920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加功率有沒有用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11880"/>
            <a:ext cx="329184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業餘手持機 / AX.25 / APRS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611880"/>
            <a:ext cx="274320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0.5–5 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3611880"/>
            <a:ext cx="489204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有限，但可用中繼台延伸（執照頻段優勢）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87368"/>
            <a:ext cx="3291840" cy="47548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LoRa / Meshtastic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31920" y="4087368"/>
            <a:ext cx="2743200" cy="47548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20 dBm 待查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0" y="4087368"/>
            <a:ext cx="4892040" cy="47548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不行——已在法規上限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62856"/>
            <a:ext cx="329184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802.11ah / Wi-Fi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31920" y="4562856"/>
            <a:ext cx="274320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法規上限 待查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4562856"/>
            <a:ext cx="4892040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不行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038344"/>
            <a:ext cx="3291840" cy="47548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手機 4G/5G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931920" y="5038344"/>
            <a:ext cx="2743200" cy="47548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約 23 dBm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5038344"/>
            <a:ext cx="4892040" cy="47548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使用者無法調整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532120"/>
            <a:ext cx="10927080" cy="77724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核心結論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免執照頻段功率上限法規訂死、人人一樣，所以功率不是可競爭的變數。此外 920–925 MHz 常有佔空比限制 待查，對網狀是雙重打擊。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第七部 · 使用場景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民防判斷矩陣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把「誰能關掉它」放第一列——那才是民防要問的第一個問題，不是速率快慢</a:t>
            </a:r>
            <a:endParaRPr lang="en-US" sz="17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第七部 · 使用場景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判斷矩陣 · 誰能關掉它？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965960" cy="50292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06039" y="1371600"/>
            <a:ext cx="1810512" cy="50292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Meshtastic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16552" y="1371600"/>
            <a:ext cx="1810512" cy="50292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LoRaWAN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371600"/>
            <a:ext cx="1810512" cy="50292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802.11s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37576" y="1371600"/>
            <a:ext cx="1810512" cy="50292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802.11ah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48088" y="1371600"/>
            <a:ext cx="1719072" cy="50292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4G / 5G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874519"/>
            <a:ext cx="1965960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誰能關掉它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06039" y="1874519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沒人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874519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閘道器擁有者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1874519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沒人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7576" y="1874519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沒人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48088" y="1874519"/>
            <a:ext cx="171907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營運商/機關/攻擊者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542032"/>
            <a:ext cx="1965960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基礎設施依賴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06039" y="2542032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16552" y="2542032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需閘道+伺服器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7064" y="2542032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6" y="2542032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需規劃節點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48088" y="2542032"/>
            <a:ext cx="171907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完全依賴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209544"/>
            <a:ext cx="1965960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拓樸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06039" y="3209544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網狀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16552" y="3209544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星狀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7064" y="3209544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網狀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37576" y="3209544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星狀(可疊網狀)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848088" y="3209544"/>
            <a:ext cx="171907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樹狀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877056"/>
            <a:ext cx="1965960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典型吞吐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39" y="3877056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約 1 kbps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16552" y="3877056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約 1 kbps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7064" y="3877056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數十 Mbps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37576" y="3877056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數 Mbps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48088" y="3877056"/>
            <a:ext cx="171907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數十 Mbps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544568"/>
            <a:ext cx="1965960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能不能跑 TAK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06039" y="4544568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子集(適配)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16552" y="4544568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不行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7064" y="4544568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完整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37576" y="4544568"/>
            <a:ext cx="181051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完整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48088" y="4544568"/>
            <a:ext cx="1719072" cy="6675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完整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5212080"/>
            <a:ext cx="1965960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台灣合法性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06039" y="5212080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920–925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16552" y="5212080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920–925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27064" y="5212080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2.4/5 GHz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37576" y="5212080"/>
            <a:ext cx="181051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待查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848088" y="5212080"/>
            <a:ext cx="1719072" cy="667512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執照頻段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第七部 · 使用場景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三種任務的合理組合 推論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32004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任務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417320"/>
            <a:ext cx="301752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合理組合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1417320"/>
            <a:ext cx="47091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為什麼不用其他的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2004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人員位置回報(廣域長時)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1874519"/>
            <a:ext cx="301752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Meshtastic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874519"/>
            <a:ext cx="470916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802.11ah 功耗太高、4G 會斷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23160"/>
            <a:ext cx="32004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指揮所完整態勢圖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40480" y="2423160"/>
            <a:ext cx="301752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802.11ah + 網狀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2423160"/>
            <a:ext cx="470916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Meshtastic 只給 CoT 子集，撐不起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32004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前進人員位置上圖(子集)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2971800"/>
            <a:ext cx="301752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Meshtastic + ATAK Plugin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971800"/>
            <a:ext cx="470916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不需完整 TAK 時成本最低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40"/>
            <a:ext cx="32004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現場影像回傳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0" y="3520440"/>
            <a:ext cx="301752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802.11s(2.4/5 GHz)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3520440"/>
            <a:ext cx="470916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Sub-1GHz 頻寬不足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69080"/>
            <a:ext cx="32004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高機動戰術通聯(需加密)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0" y="4069080"/>
            <a:ext cx="301752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商用 MANET 電台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4069080"/>
            <a:ext cx="470916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其他方案高速移動下路由跟不上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709160"/>
            <a:ext cx="10927080" cy="123444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給學員的結論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沒有一種技術能同時滿足所有需求——正確的問題不是「選哪一個」，而是「哪幾個一起用、各自負責什麼」。合理架構：語音用業餘無線電、位置用 Meshtastic/APRS、態勢圖用 802.11ah/s、4G 當平時便利但不列災時依賴。注意：這架構裡沒有任何一條是保密的。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第八部 · 供應鏈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開源 ≠ 供應鏈安全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與第一節「亞音不是加密」同一種訓練：把兩個容易混為一談的性質分開</a:t>
            </a:r>
            <a:endParaRPr lang="en-US" sz="17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第八部 · 供應鏈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非中國選項 vs 應排除（節錄）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3774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層次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371600"/>
            <a:ext cx="48920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非中國選項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09559" y="1371600"/>
            <a:ext cx="36576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應排除 供應鏈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3774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LoRa 晶片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1828800"/>
            <a:ext cx="48920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Semtech（美）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09559" y="1828800"/>
            <a:ext cx="36576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77440"/>
            <a:ext cx="237744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Meshtastic 硬體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2377440"/>
            <a:ext cx="489204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最大難題，主流幾乎全中國製 待查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59" y="2377440"/>
            <a:ext cx="36576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Heltec、LILYGO、Ebyte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23774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802.11ah 晶片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2926080"/>
            <a:ext cx="48920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Morse Micro（澳）、Newracom（美）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59" y="2926080"/>
            <a:ext cx="36576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TaiXin 泰芯（中）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237744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802.11ah 模組/板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3474720"/>
            <a:ext cx="489204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Silex（日）、Alfa（台）、Gateworks（美）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59" y="3474720"/>
            <a:ext cx="36576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白牌須逐一查證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23360"/>
            <a:ext cx="23774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業餘無線電機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4023360"/>
            <a:ext cx="489204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Yaesu/Icom/Kenwood/Alinco（皆日）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59" y="4023360"/>
            <a:ext cx="365760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中國品牌手持機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237744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商用 MANET 電台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17520" y="4572000"/>
            <a:ext cx="489204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Silvus/Persistent/TrellisWare/Rajant（美）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09559" y="4572000"/>
            <a:ext cx="365760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中國同類須逐案查證 待查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20640"/>
            <a:ext cx="10927080" cy="109728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核心觀念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Meshtastic 是最好教材：軟體開源可逐行審查，硬體卻幾乎全來自中國供應鏈。要分開：① 可審查性——程式碼能不能被檢視？② 供應鏈信任——晶片/韌體/製造在誰手上？兩者互不保證。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第九部 · 觀念釐清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個一句話回答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學員要能用一句話回答下面每一題「為什麼不對」</a:t>
            </a:r>
            <a:endParaRPr lang="en-US" sz="17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第九部 · 觀念釐清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常見說法 vs 為什麼不對（1/2）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120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常見說法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417320"/>
            <a:ext cx="58064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為什麼不對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1206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「802.11ah 和 HaLow 哪個好？」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874519"/>
            <a:ext cx="58064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同一個東西：IEEE 編號 vs Wi-Fi 商標名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78024"/>
            <a:ext cx="51206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「我們要不要用 mesh？」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2478024"/>
            <a:ext cx="58064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Mesh 是拓樸不是技術，先問在哪一層、用什麼實體層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51206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「LoRaWAN 是 mesh 網路」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3081528"/>
            <a:ext cx="58064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它是星狀，全連到閘道器，閘道器倒就全倒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85032"/>
            <a:ext cx="51206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「用 Meshtastic 跑 TAK」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685032"/>
            <a:ext cx="58064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是應用層適配、只有 CoT 子集，不是完整 TAK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88536"/>
            <a:ext cx="51206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「802.11ah 自帶 mesh」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288536"/>
            <a:ext cx="58064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自己不提供，要靠 802.11s，還看晶片韌體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92040"/>
            <a:ext cx="51206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「Meshtastic 開源所以安全」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4892040"/>
            <a:ext cx="58064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軟體開源≠硬體可信，主流硬體幾乎全中國供應鏈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495544"/>
            <a:ext cx="51206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「Ad-Hoc 就是 mesh」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5495544"/>
            <a:ext cx="58064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Ad-Hoc(IBSS)只做單跳，多跳要靠 802.11s 或 MANET 路由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第九部 · 觀念釐清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常見說法 vs 為什麼不對（2/2）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120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常見說法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60720" y="1417320"/>
            <a:ext cx="58064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為什麼不對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1206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「下層沒 ad-hoc，上層跑 MANET 就好」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760720" y="1874519"/>
            <a:ext cx="58064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路由只能選路、不能創造連結層不存在的路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478024"/>
            <a:ext cx="51206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「Mesh 和 MANET 是同一件事」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2478024"/>
            <a:ext cx="58064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Mesh 講形狀、MANET 講能力；固定的 mesh 不是 MANET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81528"/>
            <a:ext cx="51206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「我們要用 MANET」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3081528"/>
            <a:ext cx="58064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先問哪一種：跑 Babel？還是十萬元起的戰術電台？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85032"/>
            <a:ext cx="51206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「OpenMANET 是新無線協定」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60720" y="3685032"/>
            <a:ext cx="58064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它不發明任何層，是整合 HaLow+OpenWrt+802.11s+batman-adv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88536"/>
            <a:ext cx="51206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「無線電只能傳語音」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4288536"/>
            <a:ext cx="5806440" cy="60350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接數據機就能傳資料；APRS 就是 80 年代的 TAK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92040"/>
            <a:ext cx="51206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1" i="0">
                <a:solidFill>
                  <a:srgbClr val="A44E36"/>
                </a:solidFill>
                <a:latin typeface="Cambria"/>
              </a:rPr>
              <a:t>「用業餘無線電傳加密災情」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4892040"/>
            <a:ext cx="5806440" cy="60350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ITU RR 25.2A 只約束跨國；台灣條文 待查——應假設全是明文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總結 · 兩節課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先問層次，再問好壞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3721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1664208"/>
            <a:ext cx="1371600" cy="420624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第一節教的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7" y="2194560"/>
            <a:ext cx="4969764" cy="96011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怎麼看懂一條無線鏈路：頻率、頻寬、功率、天線，以及判斷訊號真假。全部集中在 1a 實體層。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5060" y="1463040"/>
            <a:ext cx="5372100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96228" y="1664208"/>
            <a:ext cx="1371600" cy="420624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第二節教的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6228" y="2194560"/>
            <a:ext cx="4969764" cy="96011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怎麼看懂一個無線系統：那條鏈路上還疊了哪些層、拓樸長怎樣、誰掌握哪一層。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11880"/>
            <a:ext cx="10927080" cy="13716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兩節共同的方法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先問「這是什麼層次的東西」，再問「它好不好」。第一節用瀑布圖把物理現象攤開，第二節用分層框架把系統結構攤開——都是拒絕在資訊不對等下比較。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120640"/>
            <a:ext cx="10927080" cy="54864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8C7A6E"/>
                </a:solidFill>
                <a:latin typeface="Cambria"/>
              </a:rPr>
              <a:t>進階無線電 · 第二節 · 無線科技分層解析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3211</Words>
  <Application>Microsoft Office PowerPoint</Application>
  <PresentationFormat>寬螢幕</PresentationFormat>
  <Paragraphs>557</Paragraphs>
  <Slides>42</Slides>
  <Notes>37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42</vt:i4>
      </vt:variant>
    </vt:vector>
  </HeadingPairs>
  <TitlesOfParts>
    <vt:vector size="47" baseType="lpstr"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9</cp:revision>
  <dcterms:created xsi:type="dcterms:W3CDTF">2026-08-22T02:39:20Z</dcterms:created>
  <dcterms:modified xsi:type="dcterms:W3CDTF">2026-08-22T05:31:50Z</dcterms:modified>
</cp:coreProperties>
</file>