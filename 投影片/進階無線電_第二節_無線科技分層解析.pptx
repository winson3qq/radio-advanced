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9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418320" y="4023360"/>
            <a:ext cx="4937760" cy="493776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241280" y="-1188720"/>
            <a:ext cx="2377440" cy="2377440"/>
          </a:xfrm>
          <a:prstGeom prst="ellipse">
            <a:avLst/>
          </a:prstGeom>
          <a:solidFill>
            <a:srgbClr val="C0674A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Concepts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無線科技
分層解析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進階無線電 · 第二節 · 純概念講解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用兩把尺——TCP/IP 四層與網路拓樸——把十六個名詞放回它該在的位置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 · 為什麼要分層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它們不在同一層，所以不能拿來比較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658368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民防圈討論無線科技時最常見的錯誤，不是選錯技術，而是</a:t>
            </a:r>
            <a:r>
              <a:rPr sz="1200" b="1" i="0">
                <a:solidFill>
                  <a:srgbClr val="A44E36"/>
                </a:solidFill>
                <a:latin typeface="Calibri"/>
              </a:rPr>
              <a:t>把不同抽象層級的東西並排比較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。這一節用兩把尺，把下面十六個名詞放回原位。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2860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Ad-Hoc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MANET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22860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OpenMANET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19" y="22860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OpenWrt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LoRa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9718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LoRaWAN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9718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Meshtastic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29718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802.11s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19" y="29718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802.11ah / HaLow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4G / 5G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36576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業餘無線電 FM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6576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AX.25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36576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APRS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9" y="3657600"/>
            <a:ext cx="20756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43312A"/>
                </a:solidFill>
                <a:latin typeface="Cambria"/>
              </a:rPr>
              <a:t>TAK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10927080" cy="96012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三句開場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① 802.11ah 與 HaLow 是同一個東西（IEEE 編號 vs Wi-Fi 商標名）。② 「要不要用 mesh」是錯問題——mesh 是形狀不是技術。③ LoRa／LoRaWAN／Meshtastic 是三個層次，不是同義詞。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1092708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標記　</a:t>
            </a:r>
            <a:r>
              <a:rPr sz="1100" b="0" i="0">
                <a:solidFill>
                  <a:srgbClr val="8C7A6E"/>
                </a:solidFill>
                <a:latin typeface="Calibri"/>
              </a:rPr>
              <a:t>FACT 有文件支持　·　推論 需驗證　·　待查 依最新法規補齊　·　供應鏈 中國來源、資安須留意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 · TCP/IP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四層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為什麼第一層要再拆成三個子層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九個名詞裡有六個全部擠在第一層——不拆開就沒有解析度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 · TCP/IP 四層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標準四層 + 一個編號陷阱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9144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417320"/>
            <a:ext cx="310896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名稱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393192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回答什麼問題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59" y="1417320"/>
            <a:ext cx="29718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例子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9656"/>
            <a:ext cx="914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L4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819656"/>
            <a:ext cx="31089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應用層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19656"/>
            <a:ext cx="39319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人要用它做什麼？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59" y="1819656"/>
            <a:ext cx="29718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TAK、網頁、Email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86584"/>
            <a:ext cx="91440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386584"/>
            <a:ext cx="310896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傳輸層 Transport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386584"/>
            <a:ext cx="39319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資料要不要保證送到？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2386584"/>
            <a:ext cx="297180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TCP（保證）/ UDP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53512"/>
            <a:ext cx="914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2953512"/>
            <a:ext cx="31089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網際網路層 Internet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953512"/>
            <a:ext cx="39319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怎麼定址？怎麼決定路徑？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59" y="2953512"/>
            <a:ext cx="29718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IP、路由協定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91440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L1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520440"/>
            <a:ext cx="310896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網路存取層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520440"/>
            <a:ext cx="39319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訊號怎麼實際傳出去？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59" y="3520440"/>
            <a:ext cx="297180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乙太網、Wi-Fi、無線電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80"/>
            <a:ext cx="10927080" cy="128016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編號陷阱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本文件 L1–L4 是 TCP/IP 四層，與 OSI 七層不同！最容易出事：本文件 L2 是「網際網路層(IP)」，不是 OSI 的資料鏈結層。授課請直接講名稱（「網際網路層」「網路存取層」），不要只講編號。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 · TCP/IP 四層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 L1 要再拆成三個子層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有線的 L1 是一根線；無線的 L1 藏了三件完全不同的事，各有獨立標準、廠商、失效模式（由高到低）：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19456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子層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965960"/>
            <a:ext cx="36576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負責什麼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01752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失效症狀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59" y="1965960"/>
            <a:ext cx="20574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第一節哪個實驗打底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1c 拓樸/轉發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423160"/>
            <a:ext cx="3657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訊號要經過誰才能到目的地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423160"/>
            <a:ext cx="30175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某些節點永遠連不上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59" y="2423160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中繼台位移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36391"/>
            <a:ext cx="2194560" cy="713232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1b 媒體存取 MAC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3136391"/>
            <a:ext cx="3657600" cy="713232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誰能發、何時發、如何不相撞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136391"/>
            <a:ext cx="3017520" cy="713232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塞車、延遲暴增、掉封包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59" y="3136391"/>
            <a:ext cx="2057400" cy="713232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TOT、鄰頻重疊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9624"/>
            <a:ext cx="21945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1a 實體層 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3849624"/>
            <a:ext cx="3657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頻段、調變、頻寬、功率、天線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849624"/>
            <a:ext cx="30175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收不到、訊號弱、被干擾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59" y="3849624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整個第一節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0927080" cy="100584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兩節課的接點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中繼台就是 1c 層的類比實作。第一節已懂「訊號要經過轉發者、收發用不同頻率」；第二節只要說「網狀網路＝每個人都同時是中繼台」就接上了——差別只在人工規劃 vs 自動決定。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 · 網路拓樸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四種形狀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誰能跟誰講話？誰壞掉時會怎樣？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民防關鍵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拓樸直接對應到韌性——這是民防最該關心的一層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 · 網路拓樸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四種拓樸 · 單點失效是關鍵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55448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拓樸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417320"/>
            <a:ext cx="301752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特性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9" y="1417320"/>
            <a:ext cx="292608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單點失效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417320"/>
            <a:ext cx="34290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民防對應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9656"/>
            <a:ext cx="15544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點對點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819656"/>
            <a:ext cx="301752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兩台直接連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1819656"/>
            <a:ext cx="29260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19656"/>
            <a:ext cx="342900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簡易通信 Simplex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1554480" cy="51206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星狀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31720"/>
            <a:ext cx="3017520" cy="51206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全部連到中心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9" y="2331720"/>
            <a:ext cx="2926080" cy="51206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中心倒＝全倒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331720"/>
            <a:ext cx="3429000" cy="51206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中繼台、LoRaWAN、4G 基地台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43784"/>
            <a:ext cx="15544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樹狀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843784"/>
            <a:ext cx="301752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星狀的多層版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2843784"/>
            <a:ext cx="29260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上層倒＝下層全倒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2843784"/>
            <a:ext cx="342900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階層式指揮體系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55848"/>
            <a:ext cx="155448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A44E36"/>
                </a:solidFill>
                <a:latin typeface="Cambria"/>
              </a:rPr>
              <a:t>網狀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355848"/>
            <a:ext cx="301752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每個節點都能轉發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9" y="3355848"/>
            <a:ext cx="292608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無（但頻寬被轉發吃掉）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355848"/>
            <a:ext cx="342900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Meshtastic、802.11s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10927080" cy="146304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網狀不是免費的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網狀用「空中時間」換韌性：同一則訊息被轉發很多次，每次都佔用頻譜，有效頻寬隨節點數與跳數快速下降（物理限制，換晶片/韌體都不會消失）。所以「網狀＋低頻寬」（Meshtastic）只能傳極短訊息，「網狀＋高頻寬」（802.11s）覆蓋距離又很短——韌性、頻寬、距離不可兼得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 · 網路拓樸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/ Ad-Hoc / MANET · 別再混用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0312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名詞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42062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描述的是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324612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關鍵問題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59" y="1417320"/>
            <a:ext cx="13716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9656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Mesh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19656"/>
            <a:ext cx="420624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形狀：每個節點都能替別人轉發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19656"/>
            <a:ext cx="3246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訊號有幾條路可以走？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59" y="1819656"/>
            <a:ext cx="137160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1c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10312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MANET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423160"/>
            <a:ext cx="420624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能力：自己找路、會移動、無預先規劃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423160"/>
            <a:ext cx="324612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拓樸一直在變，還能不能通？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59" y="2423160"/>
            <a:ext cx="1371600" cy="60350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L2 / 1c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26664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Ad-Hoc (IBSS)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026664"/>
            <a:ext cx="420624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有沒有基地台——沒有，節點直接互通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26664"/>
            <a:ext cx="3246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注意：只做單跳，不做轉發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59" y="3026664"/>
            <a:ext cx="137160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1b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10927080" cy="86868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A44E36"/>
                </a:solidFill>
                <a:latin typeface="Cambria"/>
              </a:rPr>
              <a:t>包含關係　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所有 MANET 都是 mesh，但固定不動的 mesh 不是 MANET。Ad-Hoc ⊃ MANET；Mesh 是另一軸（形狀）。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927080" cy="86868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最關鍵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IBSS 只讓鄰居直接交換訊框、不做多跳轉發；兩個聽不到彼此的節點即使同在一個 IBSS 也不能通。跨多跳要另有人轉發（802.11s 或 MANET 路由）——兩件事缺一不可、不能互相取代。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 · 層位定位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九個名詞住哪一層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每個名詞自己提供哪幾層、依賴別人哪幾層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這個區分是整節課的核心——分清「自己提供」與「依賴別人」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 · 層位定位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定位表（節錄）· 自己提供 vs 依賴別人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9202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名詞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265176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它是什麼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9" y="1371600"/>
            <a:ext cx="182880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自己提供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9" y="1371600"/>
            <a:ext cx="201168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依賴別人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59" y="1371600"/>
            <a:ext cx="251460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最常見誤解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19202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LoRa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755648"/>
            <a:ext cx="26517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實體層調變(CSS)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755648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755648"/>
            <a:ext cx="2011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其餘全部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755648"/>
            <a:ext cx="2514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以為它含網路功能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04288"/>
            <a:ext cx="19202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LoRaWAN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304288"/>
            <a:ext cx="265176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MAC/網路架構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304288"/>
            <a:ext cx="18288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L2 1b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2304288"/>
            <a:ext cx="20116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1a(LoRa)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2304288"/>
            <a:ext cx="2514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以為是網狀——它是星狀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52928"/>
            <a:ext cx="19202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Meshtastic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2852928"/>
            <a:ext cx="26517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開源韌體專案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2852928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L4 L2 1c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852928"/>
            <a:ext cx="2011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1b 1a(LoRa)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2852928"/>
            <a:ext cx="2514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以為是無線電技術/IP 網路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01568"/>
            <a:ext cx="19202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802.11s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401568"/>
            <a:ext cx="265176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Wi-Fi 網狀修訂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79" y="3401568"/>
            <a:ext cx="18288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79" y="3401568"/>
            <a:ext cx="20116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1b 1a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3401568"/>
            <a:ext cx="2514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以為是頻段或調變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50208"/>
            <a:ext cx="19202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802.11ah/HaLow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950208"/>
            <a:ext cx="26517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Sub-1GHz PHY/MAC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79" y="3950208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1b 1a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79" y="3950208"/>
            <a:ext cx="2011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L2 1c(要網狀時)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3950208"/>
            <a:ext cx="2514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以為自帶網狀——要靠 802.11s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98848"/>
            <a:ext cx="19202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4G / 5G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498848"/>
            <a:ext cx="265176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完整蜂巢系統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79" y="4498848"/>
            <a:ext cx="18288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全部層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79" y="4498848"/>
            <a:ext cx="20116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營運商基礎設施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4498848"/>
            <a:ext cx="2514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以為可跟前面平行比較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047488"/>
            <a:ext cx="19202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TAK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047488"/>
            <a:ext cx="26517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態勢感知應用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79" y="5047488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L4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79" y="5047488"/>
            <a:ext cx="2011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任何 IP 網路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59" y="5047488"/>
            <a:ext cx="2514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以為它是一種通訊技術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532120"/>
            <a:ext cx="10927080" cy="77724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A44E36"/>
                </a:solidFill>
                <a:latin typeface="Cambria"/>
              </a:rPr>
              <a:t>三個結論　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只有 4G/5G 一人包辦全部（也最脆弱，全由第三方擁有）；TAK 只有 L4、完全不管底下怎麼傳；802.11ah 自己不提供 1c（網狀要靠 802.11s，還看晶片韌體）。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 · 層位定位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疊疊樂 · 同一實體層可疊不同東西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3774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L4 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417320"/>
            <a:ext cx="402336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中間層 (L2/1c/1b)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292608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1a 實體層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417320"/>
            <a:ext cx="16002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典型速率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9656"/>
            <a:ext cx="23774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感測回報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19656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LoRaWAN(星狀)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819656"/>
            <a:ext cx="2926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819656"/>
            <a:ext cx="16002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1 kbps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22576"/>
            <a:ext cx="237744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Meshtastic 內建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322576"/>
            <a:ext cx="402336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Meshtastic(自訂網狀)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322576"/>
            <a:ext cx="292608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2322576"/>
            <a:ext cx="160020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1 kbps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25496"/>
            <a:ext cx="23774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APRS、Winlink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825496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AX.25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825496"/>
            <a:ext cx="2926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業餘無線電 FM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2825496"/>
            <a:ext cx="16002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1200/9600 bps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28415"/>
            <a:ext cx="237744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TAK、IP 應用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328415"/>
            <a:ext cx="402336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 MAC + 802.11s/Babel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328415"/>
            <a:ext cx="292608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802.11ah 實體層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328415"/>
            <a:ext cx="160020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數 Mbps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31335"/>
            <a:ext cx="23774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TAK、影像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831335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 MAC + 802.11s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831335"/>
            <a:ext cx="2926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2.4/5 GHz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831335"/>
            <a:ext cx="16002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數十 Mbps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63440"/>
            <a:ext cx="10927080" cy="114300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要看出三件事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① APRS 與 TAK 是同一類(L4 態勢感知)，只隔了三十年，差在底下疊的層。② 同一實體層可有完全不同網路行為：LoRa 配 LoRaWAN 是星狀、配 Meshtastic 是網狀。③ 第三列(業餘 FM+數據機)是你手上已擁有的完整資料鏈路。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 · 頻譜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它們住在哪裡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頻率決定物理特性，而物理不能靠軟體改善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頻率越低：傳越遠、穿越好，但頻寬越小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 · 頻譜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頻段 · 它們住在哪裡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45720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BF7F2"/>
                </a:solidFill>
                <a:latin typeface="Calibri"/>
              </a:rPr>
              <a:t>← 低頻：傳更遠、穿透好、頻寬小　　　　　　　　高頻：頻寬大、距離短、遇障礙就停 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01752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技術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65960"/>
            <a:ext cx="28346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頻段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274320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台灣可用性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965960"/>
            <a:ext cx="233172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物理特性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0008"/>
            <a:ext cx="30175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LoRa/LoRaWAN/Meshtastic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350008"/>
            <a:ext cx="2834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920–925 MHz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350008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可用(低功率廣域) FACT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350008"/>
            <a:ext cx="23317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穿透佳、可達數公里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98648"/>
            <a:ext cx="301752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 / HaLow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898648"/>
            <a:ext cx="2834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850–950 MHz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898648"/>
            <a:ext cx="27432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待查(是否開放)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898648"/>
            <a:ext cx="233172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同上，但頻寬較大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47288"/>
            <a:ext cx="30175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447288"/>
            <a:ext cx="2834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2.4 / 5 GHz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447288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可用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447288"/>
            <a:ext cx="23317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頻寬大、距離短、穿牆差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95928"/>
            <a:ext cx="301752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4G / 5G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95928"/>
            <a:ext cx="2834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700 MHz–3.5 GHz + 毫米波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995928"/>
            <a:ext cx="27432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可用(執照頻段)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995928"/>
            <a:ext cx="233172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視頻段而異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44568"/>
            <a:ext cx="30175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業餘無線電/AX.25/APRS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544568"/>
            <a:ext cx="2834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2m / 70cm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544568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需執照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4544568"/>
            <a:ext cx="23317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傳遠、可經中繼台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開課前必查 待查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台灣 802.11ah(Sub-1GHz)頻譜開放狀況，直接決定 HaLow 在台能否合法部署，是本節最關鍵待查項；920–925 MHz 的功率與佔空比限制以最新 NCC 低功率射頻規範為準。TAK/MANET 協定族沒有頻段，不在此圖。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 · 頻寬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差了六個數量級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不是差幾倍，是差幾個數量級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並排問「哪個比較好」，像問腳踏車和貨櫃船哪個好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 · 頻寬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有效吞吐 · 量級差異（估計）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2004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技術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417320"/>
            <a:ext cx="27432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典型有效吞吐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18288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倍數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315468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能傳什麼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9656"/>
            <a:ext cx="32004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Meshtastic / AX.25(1200)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19656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0.5–1 kbps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19656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×1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19656"/>
            <a:ext cx="3154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位置、狀態、極短訊息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68296"/>
            <a:ext cx="32004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AX.25(9600) / LoRaWAN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368296"/>
            <a:ext cx="27432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4–6 kbps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68296"/>
            <a:ext cx="18288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×5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368296"/>
            <a:ext cx="31546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Winlink 郵件、表單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16936"/>
            <a:ext cx="32004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802.11ah(遠距)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916936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1 Mbps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916936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×1,000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916936"/>
            <a:ext cx="3154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TAK、低碼率影像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65576"/>
            <a:ext cx="32004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802.11ah(近距) / 4G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465576"/>
            <a:ext cx="27432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10–20 Mbps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465576"/>
            <a:ext cx="18288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×1萬–2萬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465576"/>
            <a:ext cx="31546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影像串流、檔案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14215"/>
            <a:ext cx="32004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802.11s / 商用 MANET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014215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20–50 Mbps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014215"/>
            <a:ext cx="18288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×2萬起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014215"/>
            <a:ext cx="3154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幾乎任何東西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60"/>
            <a:ext cx="10927080" cy="109728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A44E36"/>
                </a:solidFill>
                <a:latin typeface="Cambria"/>
              </a:rPr>
              <a:t>重要但書　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以上為量級估計，非規格峰值，受距離/節點/跳數/佔空比影響可達十倍以上。且「下層不夠」時還有第二條路——不換下層，而在應用層適配（見下一頁 Meshtastic 跑 TAK）。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 · 頻寬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「能不能跑 TAK」要分三類，不是兩類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1168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承載方式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17320"/>
            <a:ext cx="42062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17320"/>
            <a:ext cx="470916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你實際得到什麼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9656"/>
            <a:ext cx="20116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網路承載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819656"/>
            <a:ext cx="4206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802.11ah+s、AREDN、4G、商用 MANET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19656"/>
            <a:ext cx="47091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完整 TAK：影像、檔案、即時視訊、Server 同步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78024"/>
            <a:ext cx="201168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應用層適配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478024"/>
            <a:ext cx="420624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 ATAK Plugin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478024"/>
            <a:ext cx="470916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CoT 子集：位置/聊天，極度壓縮，預設 5 分鐘一次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36391"/>
            <a:ext cx="201168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完全不行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36391"/>
            <a:ext cx="42062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LoRaWAN、AX.25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136391"/>
            <a:ext cx="47091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沒有適配層存在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10927080" cy="86868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A44E36"/>
                </a:solidFill>
                <a:latin typeface="Cambria"/>
              </a:rPr>
              <a:t>適配的代價　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得到的是「TAK 的位置與訊息子集」，不是完整態勢圖；換一個應用就得重寫一個適配器——這正是「不是 IP 網路」的真正代價。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27080" cy="82296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帶走的觀念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「能不能跑」不是是非題，要追問：跑起來的是完整功能，還是經過適配的子集？這跟第一節「用時間換距離」是同一種工程思維，只是搬到應用層。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 · 發射功率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為什麼加功率沒用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第一節實驗 2 的結論，放大到系統層次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免執照頻段功率上限法規訂死，人人一樣——功率不是可競爭的變數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 · 發射功率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真正能改善的只有三件事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3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554480"/>
            <a:ext cx="1097280" cy="384048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① 天線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48256"/>
            <a:ext cx="3154679" cy="73151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第一節實驗 10 已證明：天線效益遠大於加功率。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3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1645920" cy="384048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② 高度與視距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48256"/>
            <a:ext cx="3154679" cy="73151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實驗 10-5，零成本；架高、清視線最實在。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52043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9" y="1554480"/>
            <a:ext cx="2011680" cy="384048"/>
          </a:xfrm>
          <a:prstGeom prst="roundRect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③ 降速率換靈敏度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2048256"/>
            <a:ext cx="3154679" cy="73151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LoRa 展頻因子的本質：傳得慢＝傳得遠。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32918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技術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108960"/>
            <a:ext cx="274320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典型發射功率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108960"/>
            <a:ext cx="48920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加功率有沒有用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93008"/>
            <a:ext cx="3291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業餘手持機 / AX.25 / APRS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493008"/>
            <a:ext cx="27432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0.5–5 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493008"/>
            <a:ext cx="48920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有限，但可用中繼台延伸(執照頻段優勢)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50208"/>
            <a:ext cx="329184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LoRa / Meshtastic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950208"/>
            <a:ext cx="274320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20 dBm 待查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950208"/>
            <a:ext cx="489204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不行——已在法規上限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07408"/>
            <a:ext cx="3291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 / Wi-Fi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407408"/>
            <a:ext cx="27432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法規上限 待查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407408"/>
            <a:ext cx="48920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不行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64608"/>
            <a:ext cx="329184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手機 4G/5G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4864608"/>
            <a:ext cx="274320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約 23 dBm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864608"/>
            <a:ext cx="4892040" cy="4572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使用者無法調整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400"/>
            <a:ext cx="10927080" cy="82296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佔空比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920–925 MHz 這類頻段常有佔空比限制 待查：一小時只能發總時間的一小部分。對網狀是雙重打擊——訊息本就要多次轉發，節點越多每人能講話的時間越少。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 · 使用場景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民防判斷矩陣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刻意把「誰能關掉它」放第一列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民防第一問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要問的第一個問題是「誰能關掉它」，不是速率快慢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 · 使用場景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判斷矩陣 · 誰能關掉它？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96596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371600"/>
            <a:ext cx="1810512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Meshtastic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371600"/>
            <a:ext cx="1810512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LoRaWAN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371600"/>
            <a:ext cx="1810512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802.11s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7576" y="1371600"/>
            <a:ext cx="1810512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802.11ah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48088" y="1371600"/>
            <a:ext cx="1719072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4G / 5G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誰能關掉它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1828800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沒人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閘道器擁有者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828800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沒人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1828800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沒人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48088" y="1828800"/>
            <a:ext cx="171907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營運商/機關/攻擊者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87168"/>
            <a:ext cx="196596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基礎設施依賴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39" y="2487168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487168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需閘道+伺服器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487168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2487168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需規劃節點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2487168"/>
            <a:ext cx="171907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完全依賴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45535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拓樸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39" y="3145535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網狀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145535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星狀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145535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網狀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3145535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星狀(可疊網狀)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3145535"/>
            <a:ext cx="171907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樹狀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03903"/>
            <a:ext cx="196596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典型吞吐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39" y="3803903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約 1 kbps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6552" y="3803903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約 1 kbps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3803903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數十 Mbps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6" y="3803903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數 Mbps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3803903"/>
            <a:ext cx="171907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數十 Mbps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62271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能不能跑 TAK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39" y="4462271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子集(適配)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4462271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不行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4462271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完整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7576" y="4462271"/>
            <a:ext cx="181051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完整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48088" y="4462271"/>
            <a:ext cx="171907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完整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20639"/>
            <a:ext cx="1965960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A44E36"/>
                </a:solidFill>
                <a:latin typeface="Cambria"/>
              </a:rPr>
              <a:t>台灣合法性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39" y="5120639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920–925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16552" y="5120639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920–925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7064" y="5120639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2.4/5 GHz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7576" y="5120639"/>
            <a:ext cx="181051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待查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48088" y="5120639"/>
            <a:ext cx="1719072" cy="65836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8C7A6E"/>
                </a:solidFill>
                <a:latin typeface="Calibri"/>
              </a:rPr>
              <a:t>執照頻段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 · 使用場景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三種任務的合理組合 推論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20040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417320"/>
            <a:ext cx="301752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合理組合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17320"/>
            <a:ext cx="470916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為什麼不用其他的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9656"/>
            <a:ext cx="3200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人員位置回報(廣域長時)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819656"/>
            <a:ext cx="30175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19656"/>
            <a:ext cx="47091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802.11ah 功耗太高、4G 會斷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22576"/>
            <a:ext cx="320040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指揮所完整態勢圖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322576"/>
            <a:ext cx="301752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802.11ah + 網狀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322576"/>
            <a:ext cx="470916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 只給 CoT 子集，撐不起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25496"/>
            <a:ext cx="3200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前進人員位置上圖(子集)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825496"/>
            <a:ext cx="30175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Meshtastic + ATAK Plugin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825496"/>
            <a:ext cx="47091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不需完整 TAK 時成本最低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28415"/>
            <a:ext cx="320040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現場影像回傳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328415"/>
            <a:ext cx="301752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802.11s(2.4/5 GHz)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328415"/>
            <a:ext cx="4709160" cy="50292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Sub-1GHz 頻寬不足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31335"/>
            <a:ext cx="3200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高機動戰術通聯(需加密)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831335"/>
            <a:ext cx="30175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商用 MANET 電台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831335"/>
            <a:ext cx="47091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其他方案高速移動下路由跟不上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10927080" cy="123444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給學員的結論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沒有一種技術能同時滿足所有需求——正確的問題不是「選哪一個」，而是「哪幾個一起用、各自負責什麼」。合理架構：語音用業餘無線電、位置用 Meshtastic/APRS、態勢圖用 802.11ah/s、4G 當平時便利但不列災時依賴。注意：這架構裡沒有任何一條路徑是保密的——需保密內容必須另外規劃。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第八部 · 供應鏈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開源 ≠ 供應鏈安全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把兩個容易混為一談的性質分開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思維訓練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與第一節「亞音不是加密」同一種訓練：分開看兩件事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第八部 · 供應鏈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非中國選項 vs 應排除（節錄）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774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層次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489204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非中國選項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59" y="1371600"/>
            <a:ext cx="3657600" cy="384048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應排除 供應鏈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2377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LoRa 晶片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755648"/>
            <a:ext cx="48920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Semtech(美)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59" y="1755648"/>
            <a:ext cx="3657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2377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Meshtastic 硬體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304288"/>
            <a:ext cx="48920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最大難題，主流幾乎全中國製 待查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59" y="2304288"/>
            <a:ext cx="3657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Heltec、LILYGO、Ebyte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52928"/>
            <a:ext cx="2377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 晶片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852928"/>
            <a:ext cx="48920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Morse Micro(澳)、Newracom(美)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9" y="2852928"/>
            <a:ext cx="3657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TaiXin 泰芯(中)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01568"/>
            <a:ext cx="2377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802.11ah 模組/板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01568"/>
            <a:ext cx="48920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Silex(日)、Alfa(台)、Gateworks(美)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59" y="3401568"/>
            <a:ext cx="3657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白牌須逐一查證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50208"/>
            <a:ext cx="2377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業餘無線電機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950208"/>
            <a:ext cx="48920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Yaesu/Icom/Kenwood/Alinco(皆日)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59" y="3950208"/>
            <a:ext cx="36576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中國品牌手持機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98848"/>
            <a:ext cx="2377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商用 MANET 電台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498848"/>
            <a:ext cx="48920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Silvus/Persistent/TrellisWare/Rajant(美)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59" y="4498848"/>
            <a:ext cx="365760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中國同類須逐案查證 待查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927080" cy="123444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核心觀念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Meshtastic 是最好教材：軟體開源可逐行審查，硬體卻幾乎全來自中國供應鏈。要把兩件事分開：① 可審查性——程式碼能不能被檢視？② 供應鏈信任——晶片/韌體/製造在誰手上？兩者互不保證。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第九部 · 觀念釐清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個一句話回答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學員要能用一句話回答每一題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下面每一題，學員都要能一句話說清楚「為什麼不對」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第九部 · 觀念釐清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常見說法 vs 為什麼不對（1/2）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常見說法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417320"/>
            <a:ext cx="58064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為什麼不對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9656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「802.11ah 和 HaLow 哪個好？」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19656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同一個東西：IEEE 編號 vs Wi-Fi 商標名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68296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「我們要不要用 mesh？」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368296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 是拓樸不是技術，要先問在哪一層、用什麼實體層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16936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「LoRaWAN 是 mesh 網路」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916936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它是星狀，全連到閘道器，閘道器倒就全倒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「用 Meshtastic 跑 TAK」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465576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做得到，但是應用層適配、只有 CoT 子集，不是完整 TAK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14215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「802.11ah 自帶 mesh」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014215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自己不提供，要靠 802.11s，還看晶片韌體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62855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「Meshtastic 開源所以安全」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562855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軟體開源≠硬體可信，主流硬體幾乎全中國供應鏈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5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「Ad-Hoc 就是 mesh」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5111495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Ad-Hoc(IBSS)只做單跳，多跳要靠 802.11s 或 MANET 路由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第九部 · 觀念釐清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常見說法 vs 為什麼不對（2/2）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常見說法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417320"/>
            <a:ext cx="5806440" cy="402336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為什麼不對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9656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「下層沒 ad-hoc，上層跑 MANET 就好」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19656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路由只能選路、不能創造連結層不存在的路；單點失效原封不動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68296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「Mesh 和 MANET 是同一件事」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368296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Mesh 講形狀、MANET 講能力；固定不動的 mesh 不是 MANET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16936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「我們要用 MANET」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916936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先問哪一種：現有設備跑 Babel？還是十萬元起的戰術電台？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「OpenMANET 是新無線協定」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465576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它不發明任何一層，是整合 HaLow+OpenWrt+802.11s+batman-adv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14215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「無線電只能傳語音」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014215"/>
            <a:ext cx="58064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接數據機就能傳資料；AX.25 運作四十年，APRS 就是 80 年代的 TAK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62855"/>
            <a:ext cx="51206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A44E36"/>
                </a:solidFill>
                <a:latin typeface="Cambria"/>
              </a:rPr>
              <a:t>「用業餘無線電傳加密災情」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562855"/>
            <a:ext cx="580644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ITU RR 25.2A 只約束跨國；台灣條文 待查——務實上應假設全是明文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 · 兩節課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先問層次，再問好壞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721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645920"/>
            <a:ext cx="1280160" cy="384048"/>
          </a:xfrm>
          <a:prstGeom prst="roundRect">
            <a:avLst/>
          </a:prstGeom>
          <a:solidFill>
            <a:srgbClr val="A4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第一節教的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139696"/>
            <a:ext cx="500634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怎麼看懂一條無線鏈路：頻率、頻寬、功率、天線，以及判斷訊號真假。全部集中在 1a 實體層。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463040"/>
            <a:ext cx="53721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7940" y="1645920"/>
            <a:ext cx="1280160" cy="384048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第二節教的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7940" y="2139696"/>
            <a:ext cx="500634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50" b="0" i="0">
                <a:solidFill>
                  <a:srgbClr val="8C7A6E"/>
                </a:solidFill>
                <a:latin typeface="Calibri"/>
              </a:rPr>
              <a:t>怎麼看懂一個無線系統：那條鏈路上還疊了哪些層、拓樸長怎樣、誰掌握哪一層。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27080" cy="137160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D99A5B"/>
                </a:solidFill>
                <a:latin typeface="Cambria"/>
              </a:rPr>
              <a:t>兩節共同的方法　</a:t>
            </a:r>
            <a:r>
              <a:rPr sz="1200" b="0" i="0">
                <a:solidFill>
                  <a:srgbClr val="FBF7F2"/>
                </a:solidFill>
                <a:latin typeface="Calibri"/>
              </a:rPr>
              <a:t>先問「這是什麼層次的東西」，再問「它好不好」。第一節用瀑布圖把物理現象攤開，第二節用分層框架把系統結構攤開——都是拒絕在資訊不對等的情況下比較。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927080" cy="54864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8C7A6E"/>
                </a:solidFill>
                <a:latin typeface="Cambria"/>
              </a:rPr>
              <a:t>進階無線電 · 第二節 · 無線科技分層解析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3211</Words>
  <Application>Microsoft Office PowerPoint</Application>
  <PresentationFormat>寬螢幕</PresentationFormat>
  <Paragraphs>557</Paragraphs>
  <Slides>42</Slides>
  <Notes>37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7" baseType="lpstr"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Winson_Huang 黃仁聖 (HQ)</cp:lastModifiedBy>
  <cp:revision>9</cp:revision>
  <dcterms:created xsi:type="dcterms:W3CDTF">2026-08-22T02:39:20Z</dcterms:created>
  <dcterms:modified xsi:type="dcterms:W3CDTF">2026-08-22T05:31:50Z</dcterms:modified>
</cp:coreProperties>
</file>