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5" r:id="rId19"/>
    <p:sldId id="296" r:id="rId20"/>
    <p:sldId id="297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7" r:id="rId35"/>
    <p:sldId id="288" r:id="rId36"/>
    <p:sldId id="293" r:id="rId37"/>
    <p:sldId id="284" r:id="rId38"/>
    <p:sldId id="294" r:id="rId39"/>
    <p:sldId id="289" r:id="rId40"/>
    <p:sldId id="300" r:id="rId41"/>
    <p:sldId id="302" r:id="rId42"/>
    <p:sldId id="303" r:id="rId43"/>
    <p:sldId id="304" r:id="rId44"/>
    <p:sldId id="305" r:id="rId45"/>
    <p:sldId id="290" r:id="rId46"/>
    <p:sldId id="291" r:id="rId47"/>
    <p:sldId id="299" r:id="rId48"/>
    <p:sldId id="301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9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開場：手持機選單上每一個看不懂的參數，我們都用瀑布圖把它變成看得見的現象。所有量測都是相對比較，不需要頻譜分析儀。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先給地圖：七個參數 + 最後的分組任務。第一段最重要，聽不懂瀑布圖後面都接不下去。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打地基。聽眾看不懂這張圖，後面六段都講不下去。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重點講兩件事：上圖(頻譜)的 Y 軸是即時強度 dBFS，下圖(瀑布)把強度換成亮度、並多了一條由上往下的時間軸。亮度是相對的，色階拉高訊號看起來會變窄——收尾回扣。順帶帶出寬度＝佔用頻寬。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配合瀑布圖把五個常用詞先講清楚：載波(那根線)、底噪(背景基準)、頻寬(寬度)、頻段(用途分區,圖上紅條)、DC(中央假訊號)。2m 業餘段=波長約2公尺的業餘VHF頻段(144–148MHz,台灣實際範圍待查)。後面每一段都會用到這些詞。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判斷前要先有『標準答案』。四種理想頻譜：純載波=一根；FM+單音=等距邊帶(多根,可數);FM語音=連續丘(看似一坨);數位=平頂方塊。回答學員疑問：FM本身是一根載波，一調變就長邊帶——純音邊帶可數(這就是W/N測試音與CTCSS亞音的多根)，語音因含多頻率而糊成一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重點：就算沒看過某個訊號，也能用常識推理——(1)它有理由待在這頻段嗎 (2)形狀配得上用途嗎(語音有一定寬度、信標很窄) (3)行為像真的嗎(會來會走/週期/一整排等距=過載)。不確定就動手戳：PTT、移中心、降功率。假訊號指紋：完美等距=過載、正中央不動=DC、退調就消失=互調。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1。頻率就是左右位置。這一節從『位置』延伸到 VHF/UHF、波長與傳播。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這一頁把『頻率對得上是根本』highlight 出來。順序：先對頻率(碰面地點)，再談功率/天線。現場口訣：叫不到先查頻率末位。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三張只按 PTT 不說話。線往右＝頻率高。現場：聽得到卻叫不到，先查頻率末位。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VHF 30–300M、UHF 300M–3G。業餘 2m 段在 VHF、70cm 段在 UHF。λ=c/f，145M→約 2m、435M→約 0.7m，段名就是這麼來的。頻率越高波長越短，天線也越短。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長波長繞射好、開闊地傳遠（VHF/2m）；短波長靠反射鑽建築、市區室內佔優（UHF/70cm）。天線長度也跟著波長。強調：這是理論上的相對優勢。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六種效應：多路徑、反射、折射、散射、繞射、吸收/遮蔽。合起來造成衰落與不穩定。關鍵訊息：理論優勢會被環境洗掉，要用 SDR 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近代數位手段：FEC、展頻/OFDM、分集/MIMO、自適應重傳。業餘 FM 是類比、沒有這些，但正因為簡單堅固無需基礎設施，成為災害/民防的最後手段。抗噪靠捕獲效應（後面亞音那段會再提）。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2。功率對應亮度/高度。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功率的目的：對抗距離衰減。設計成分段可調，讓你權衡覆蓋 vs 耗電/干擾。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功率動高度不動寬度——用示意圖講最清楚。現有實測 H/L 太近、都接近滿檔看不出差，正好帶出 Demo 2 的操作重點：先拉遠再比。此組截圖待重拍。對照 Demo 4：功率動高度、音量動寬度，別混。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3。W/N 的物理意義：設定最大頻偏(±5k/±2.5k)，也就是佔用寬度的上限(約16k/11k)。對學員用『寬度天花板』說明，『頻偏』留在此備註即可。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W/N 的目的：頻譜效率。窄頻＝拿音質換頻道數。實務重點：全隊統一，寫進通聯計畫。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用固定音源而非講話，寬窄差異才乾淨。窄頻省一半頻譜，代價 SNR 約掉 6 dB。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步進有兩層意思：先講最原始的——轉頻率的最小跳動單位；再講協調沒做好的後果——鄰頻重疊。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步進的目的：把頻譜規劃成整齊頻道。設錯→停不上格線(叫不到)或間隔不對(壓鄰頻)。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步進最原始的意義：調頻率的最小單位。調不到某頻率＝步進太大跳過了。例：想停 145.0125，步進 25k 停不到、12.5k 才停得到。下一頁講步進沒協調好的後果。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概念圖，實拍待補：一台 145.050、一台 145.0625，相隔 12.5 kHz，兩邊寬頻邊帶重疊。25 kHz 或窄頻才分得開。最惡劣：設寬頻的人自己無感，受害的是鄰頻。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保護頻帶不是浪費，是給三件『真實世界的不完美』留的緩衝：①裙擺(訊號超出理論頻寬) ②發射漂移 ③接收濾波器不夠陡。FM 要多寬：寬頻約 9 kHz、窄頻只剩 1.5 kHz——窄頻幾乎沒緩衝，所以對頻率準確度/濾波器更嚴。這頁為下一段『中繼台為什麼位移要那麼大』鋪路。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小實作標題頁。目標：每組一對無線電，一台寬頻+低功率、一台窄頻+高功率，頻率略微錯開，在SDR上疊出一寬一窄的形狀（形狀在下一頁題目頁展示）。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要：原版頻率(145.0–146.65)踩到地雷——超出台灣2m(144–146)、壓到ISS/衛星145.800、鄰近呼叫145.500。已重排：六組各100kHz、全部在145.480以下、限制在2m內、避開145.500與145.800。同時發射改為『低功率+先看SDR』。開課前務必再對NCC頻段規劃與當地緊急/中繼/衛星/APRS頻率(講義附錄待查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題目：一台寬頻+低功率(矮又寬)、一台窄頻+高功率(高又窄)，頻率錯開，開FFT Hold兩台輪流發，疊出一寬一窄的目標形狀。綜合Demo2+3：高度=功率、寬度=W/N,兩軸獨立。也是判讀『一個頻段裡幾台、各什麼設定』的基本功。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5。全課教學價值最高的一段。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亞音的目的：在共用頻率上分群、過濾。機制=收端門檻，不動電波、不保密。中繼台常要求正確亞音。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梳齒間隔就是亞音頻率。用格線(100Hz/格)當尺，數格子就讀出頻率，六個設定誤差都在 1.4% 內。亞音一點都藏不住。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①⑤ 的 A 都沒發亞音，電波幾乎一樣，但 B 的 RX 亞音決定喇叭開不開。BUSY 燈亮＝機器收到了。任何 SDR 都收得到全部內容。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動動腦=綜合設計題。中繼台同時收發(全雙工,基礎課已教,這裡不重講)。四個參數要學員自己決定並說為什麼：①位移(回扣保護頻帶+自我干擾:為何不能只差12.5k) ②亞音存取(S6) ③功率位置(S3) ④和鄰台協調(S5鄰頻重疊放大版)。陷阱:方向反/亞音錯/鄰台打架/位移太小自我干擾。加分可談反轉(聽輸入判斷能否直通)。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靜噪還沒實測，先留占位。接在 Demo 5 後講最順：SQL 是『兩道門』的第一道。之後補：同一訊號 SQL 高/低兩張，畫面一樣。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進入分組任務。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四面向對應今天四個 demo。評分重點在推理過程，不是標準答案。要求每組講一個他們預先避開的故障。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418320" y="4023360"/>
            <a:ext cx="4937760" cy="493776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241280" y="-1188720"/>
            <a:ext cx="2377440" cy="2377440"/>
          </a:xfrm>
          <a:prstGeom prst="ellipse">
            <a:avLst/>
          </a:prstGeom>
          <a:solidFill>
            <a:srgbClr val="C0674A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× 手持無線電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把選單上的數字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變成看得見的電波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進階無線電 · 瀑布圖實戰課程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用一台 RTL-SDR，把頻率、功率、頻寬、亞音一個一個指給學員看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今天的八段路 + 一個任務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975104"/>
            <a:ext cx="566928" cy="566928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1975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72768" y="18836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瀑布圖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看懂這張圖，後面才聽得懂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17373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63440" y="1975104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63440" y="1975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8836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94960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位置、VHF/UHF、傳播環境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485632" y="1975104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485632" y="1975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17152" y="18836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發射功率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17152" y="2267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 = 相對強度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62272" y="3026664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3264408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63440" y="3264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3172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寬 / 窄頻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394960" y="3557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面板寫頻寬，其實設的是上限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84464" y="3026664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485632" y="3264408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85632" y="3264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17152" y="3172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頻道步進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217152" y="3557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最小跳動單位，別壓到隔壁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315968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41247" y="4553712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41247" y="4553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72768" y="44622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 CTCSS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572768" y="4846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重點：亞音不是加密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462272" y="4315968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63440" y="4553712"/>
            <a:ext cx="566928" cy="566928"/>
          </a:xfrm>
          <a:prstGeom prst="ellipse">
            <a:avLst/>
          </a:prstGeom>
          <a:solidFill>
            <a:srgbClr val="8C7A6E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663440" y="4553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44622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靜噪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394960" y="4846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讓喇叭安靜，但電波照舊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84464" y="4315968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485632" y="4553712"/>
            <a:ext cx="566928" cy="566928"/>
          </a:xfrm>
          <a:prstGeom prst="ellipse">
            <a:avLst/>
          </a:prstGeom>
          <a:solidFill>
            <a:srgbClr val="D99A5B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485632" y="4553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217152" y="4407407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分組任務</a:t>
            </a:r>
            <a:endParaRPr lang="en-US" sz="1800" dirty="0"/>
          </a:p>
          <a:p>
            <a:pPr algn="l"/>
            <a:r>
              <a:rPr sz="1200">
                <a:solidFill>
                  <a:srgbClr val="8C7A6E"/>
                </a:solidFill>
                <a:latin typeface="Calibri"/>
              </a:rPr>
              <a:t>替小隊設計通訊計畫</a:t>
            </a:r>
          </a:p>
        </p:txBody>
      </p:sp>
      <p:sp>
        <p:nvSpPr>
          <p:cNvPr id="43" name="Shape 2"/>
          <p:cNvSpPr/>
          <p:nvPr/>
        </p:nvSpPr>
        <p:spPr>
          <a:xfrm>
            <a:off x="640080" y="3026664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3"/>
          <p:cNvSpPr/>
          <p:nvPr/>
        </p:nvSpPr>
        <p:spPr>
          <a:xfrm>
            <a:off x="841247" y="3264408"/>
            <a:ext cx="566928" cy="566928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4"/>
          <p:cNvSpPr/>
          <p:nvPr/>
        </p:nvSpPr>
        <p:spPr>
          <a:xfrm>
            <a:off x="841247" y="3264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6" name="Text 5"/>
          <p:cNvSpPr/>
          <p:nvPr/>
        </p:nvSpPr>
        <p:spPr>
          <a:xfrm>
            <a:off x="1572768" y="3172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天線</a:t>
            </a:r>
            <a:endParaRPr lang="en-US" sz="1900" dirty="0"/>
          </a:p>
        </p:txBody>
      </p:sp>
      <p:sp>
        <p:nvSpPr>
          <p:cNvPr id="47" name="Text 6"/>
          <p:cNvSpPr/>
          <p:nvPr/>
        </p:nvSpPr>
        <p:spPr>
          <a:xfrm>
            <a:off x="1572768" y="3557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增益＝把功率集中，打得更遠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瀑布圖 The Waterfall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先學會讀這張圖——它是後面每一段共用的工具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「看到訊號，就是有人在發」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有些是接收機自己生的假訊號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一張圖，兩層資訊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07024" y="1700784"/>
            <a:ext cx="5788152" cy="3410712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s1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562356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48" y="189280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099048" y="18928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上：頻譜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9048" y="418795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099048" y="418795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下：瀑布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51572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同一份資料的兩種畫法：上圖看此刻、下圖看歷史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627632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04672" y="1764792"/>
            <a:ext cx="512064" cy="512064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4672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426464" y="1682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橫軸  </a:t>
            </a:r>
            <a:r>
              <a:rPr lang="en-US" sz="1600" b="1" dirty="0">
                <a:solidFill>
                  <a:srgbClr val="C06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頻率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426464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上下兩圖共用；訊號在左右哪裡，就是頻率多少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523744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04672" y="2660904"/>
            <a:ext cx="512064" cy="512064"/>
          </a:xfrm>
          <a:prstGeom prst="ellipse">
            <a:avLst/>
          </a:prstGeom>
          <a:solidFill>
            <a:srgbClr val="D99A5B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04672" y="26609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26464" y="2578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上圖 · Y 軸  </a:t>
            </a:r>
            <a:r>
              <a:rPr lang="en-US" sz="16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即時強度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426464" y="29077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頻譜圖：此刻每個頻率有多強（dBFS，相對值）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3419856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804672" y="3557016"/>
            <a:ext cx="512064" cy="512064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04672" y="3557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26464" y="3474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下圖 · 往下  </a:t>
            </a:r>
            <a:r>
              <a:rPr lang="en-US" sz="1600" b="1" dirty="0">
                <a:solidFill>
                  <a:srgbClr val="8AA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時間流動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426464" y="380390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瀑布圖：新的在上、舊的往下捲，看得到歷史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15968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04672" y="4453128"/>
            <a:ext cx="512064" cy="512064"/>
          </a:xfrm>
          <a:prstGeom prst="ellipse">
            <a:avLst/>
          </a:prstGeom>
          <a:solidFill>
            <a:srgbClr val="A44E36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804672" y="4453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426464" y="4370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下圖 · 亮度  </a:t>
            </a: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強度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426464" y="47000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把上圖的「高度」換成「顏色深淺」，越亮越強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539496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896112" y="539496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亮度＝相對強度，由你設的色階決定；訊號攤多寬＝佔用頻寬。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瀑布圖上會遇到的五個詞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700784"/>
            <a:ext cx="5239512" cy="3410712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f_144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07492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1755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同一張圖，把這五個詞指出來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87931" y="3682060"/>
            <a:ext cx="355244" cy="0"/>
          </a:xfrm>
          <a:prstGeom prst="line">
            <a:avLst/>
          </a:prstGeom>
          <a:noFill/>
          <a:ln w="31750">
            <a:solidFill>
              <a:srgbClr val="8AA08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2200961" y="2348865"/>
            <a:ext cx="329184" cy="329184"/>
          </a:xfrm>
          <a:prstGeom prst="ellipse">
            <a:avLst/>
          </a:prstGeom>
          <a:solidFill>
            <a:srgbClr val="C0674A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200961" y="234886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9853" y="3760927"/>
            <a:ext cx="329184" cy="329184"/>
          </a:xfrm>
          <a:prstGeom prst="ellipse">
            <a:avLst/>
          </a:prstGeom>
          <a:solidFill>
            <a:srgbClr val="D99A5B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109853" y="3760927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56205" y="3517468"/>
            <a:ext cx="329184" cy="329184"/>
          </a:xfrm>
          <a:prstGeom prst="ellipse">
            <a:avLst/>
          </a:prstGeom>
          <a:solidFill>
            <a:srgbClr val="8AA08C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556205" y="35174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72688" y="4004386"/>
            <a:ext cx="329184" cy="329184"/>
          </a:xfrm>
          <a:prstGeom prst="ellipse">
            <a:avLst/>
          </a:prstGeom>
          <a:solidFill>
            <a:srgbClr val="A44E36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672688" y="400438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97723" y="2543632"/>
            <a:ext cx="329184" cy="329184"/>
          </a:xfrm>
          <a:prstGeom prst="ellipse">
            <a:avLst/>
          </a:prstGeom>
          <a:solidFill>
            <a:srgbClr val="5A4038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997723" y="254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0" y="1627632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089904" y="1728216"/>
            <a:ext cx="420624" cy="420624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089904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56832" y="166420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載波  </a:t>
            </a: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56832" y="195681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被調變的那根基礎電波；沒說話時就是圖上乾淨的一根線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0" y="2350008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089904" y="2450592"/>
            <a:ext cx="420624" cy="420624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089904" y="2450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56832" y="23865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底噪  </a:t>
            </a: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56832" y="26791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沒有訊號時的背景雜訊；一切強度都跟它比高低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0" y="3072384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6089904" y="3172968"/>
            <a:ext cx="420624" cy="420624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089904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656832" y="310896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頻寬  </a:t>
            </a: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56832" y="34015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一個訊號左右攤開的寬度，決定它佔多少頻譜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943600" y="3794760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6089904" y="3895344"/>
            <a:ext cx="420624" cy="420624"/>
          </a:xfrm>
          <a:prstGeom prst="ellips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89904" y="38953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656832" y="38313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頻段  </a:t>
            </a: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656832" y="412394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一段頻率的用途分區；圖上紅色標的「2m 業餘段」就是一個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43600" y="4517136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6089904" y="4617720"/>
            <a:ext cx="420624" cy="420624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6089904" y="4617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656832" y="45537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尖峰  </a:t>
            </a: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Spike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656832" y="48463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接收機自己在正中央產生的假訊號，PTT 放開也不會消失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943600" y="5285232"/>
            <a:ext cx="5623560" cy="713232"/>
          </a:xfrm>
          <a:prstGeom prst="roundRect">
            <a:avLst>
              <a:gd name="adj" fmla="val 12821"/>
            </a:avLst>
          </a:prstGeom>
          <a:solidFill>
            <a:srgbClr val="F3EA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144768" y="5285232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什麼是「2m 業餘段」？　</a:t>
            </a: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波長約 2 公尺（144–148 MHz）的業餘無線電頻段——我們整堂課的手持機都在這裡。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先有標準答案：理想的頻譜長什麼樣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93392" y="2011680"/>
            <a:ext cx="0" cy="1581912"/>
          </a:xfrm>
          <a:prstGeom prst="line">
            <a:avLst/>
          </a:prstGeom>
          <a:noFill/>
          <a:ln w="381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96112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純載波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沒調變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沒說話、沒資料——就是一根線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38144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072128" y="3024104"/>
            <a:ext cx="0" cy="569488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251960" y="2770998"/>
            <a:ext cx="0" cy="822594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431792" y="2517892"/>
            <a:ext cx="0" cy="1075700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11624" y="2264786"/>
            <a:ext cx="0" cy="1328806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91456" y="2011680"/>
            <a:ext cx="0" cy="1581912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971288" y="2264786"/>
            <a:ext cx="0" cy="1328806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151120" y="2517892"/>
            <a:ext cx="0" cy="1075700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30952" y="2770998"/>
            <a:ext cx="0" cy="822594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510784" y="3024104"/>
            <a:ext cx="0" cy="569488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712464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94176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94176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＋ 單音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38144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一排等距的線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9584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純音調變（測試音、亞音）長出可數的邊帶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6208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855805" y="2011680"/>
            <a:ext cx="1467429" cy="3163824"/>
          </a:xfrm>
          <a:prstGeom prst="ellipse">
            <a:avLst/>
          </a:prstGeom>
          <a:solidFill>
            <a:srgbClr val="A44E36">
              <a:alpha val="8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72784" y="3597250"/>
            <a:ext cx="263347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272784" y="3977640"/>
            <a:ext cx="2633472" cy="1517904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510528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492240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92240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語音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6208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一坨連續的丘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真人講話＝很多頻率混在一起，邊帶糊成一片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34272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524390" y="2148840"/>
            <a:ext cx="1726387" cy="1444752"/>
          </a:xfrm>
          <a:prstGeom prst="roundRect">
            <a:avLst>
              <a:gd name="adj" fmla="val 2532"/>
            </a:avLst>
          </a:prstGeom>
          <a:solidFill>
            <a:srgbClr val="8AA08C">
              <a:alpha val="80000"/>
            </a:srgbClr>
          </a:solidFill>
          <a:ln w="12700">
            <a:solidFill>
              <a:srgbClr val="8AA0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9308592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9290304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9290304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數位訊號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34272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一塊平頂方塊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25712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資料把整段頻寬填滿，像一堵牆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62356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14400" y="56235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關鍵：FM 一「調變」就長出邊帶。</a:t>
            </a:r>
            <a:r>
              <a:rPr lang="en-US" sz="150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用純音（測試音 1kHz、亞音 88.5Hz）→ 一根一根數得出來；用真人語音 → 糊成一坨。所以後面 W/N、亞音的「多根」是正常的。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沒看過的訊號，怎麼判斷真假？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883664"/>
            <a:ext cx="5056632" cy="3410712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s1_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48920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2180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第一次看到這排訊號，你怎麼知道它們是真是假？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691640"/>
            <a:ext cx="5897880" cy="2468880"/>
          </a:xfrm>
          <a:prstGeom prst="roundRect">
            <a:avLst>
              <a:gd name="adj" fmla="val 4444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不用看過，用常識推理三個問題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2258568"/>
            <a:ext cx="274320" cy="274320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943600" y="2258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27648" y="223113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它有理由待在這裡嗎？　</a:t>
            </a: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真訊號有來源與用途，會落在已知頻段；頻譜的無人地帶突然冒出東西，可疑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0" y="2862072"/>
            <a:ext cx="274320" cy="274320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9436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27648" y="28346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形狀配得上用途嗎？　</a:t>
            </a: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語音要一定寬度、資料更寬、信標很窄——寬度不合理就存疑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0" y="3465576"/>
            <a:ext cx="274320" cy="274320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943600" y="3465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7648" y="343814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行為像真的嗎？　</a:t>
            </a: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會來會走＝有人通話；規律週期＝機器；一整排完美等距＝多半是你自己過載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0" y="4297680"/>
            <a:ext cx="5897880" cy="2011680"/>
          </a:xfrm>
          <a:prstGeom prst="roundRect">
            <a:avLst>
              <a:gd name="adj" fmla="val 5455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943600" y="43891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還是不確定？動手戳它一下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61888" y="4809744"/>
            <a:ext cx="274320" cy="274320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961888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45936" y="4754880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PTT　</a:t>
            </a: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跟著你亮滅的 = 真；不理你的 = 假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961888" y="5285232"/>
            <a:ext cx="274320" cy="274320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961888" y="5285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45936" y="523036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移中心頻率　</a:t>
            </a: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真訊號不動；鏡像/DC 假訊號跟著中心跑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61888" y="5760720"/>
            <a:ext cx="274320" cy="274320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961888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45936" y="5705856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降功率　</a:t>
            </a: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真訊號掉一點；過載假峰掉更多、甚至消失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 Frequency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大家最常碰到的參數——它在哪，以及它怎麼傳播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「頻率越高，一定傳越遠」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看環境；VHF、UHF 各有各的場子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為什麼要對頻率？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20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頻率對不上，其他全部免談——這是通訊的第一道門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308610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0861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83464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空中同時有無數訊號。你要跟誰通，就得先和對方站到「同一個頻率」上。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2960" y="426567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42656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014216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頻率＝事先約好的碰面地點；雙方對齊，才聽得到彼此。功率、天線都是之後的事。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93792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960" y="544525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54452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5193792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聽得到卻叫不到 → 先核對頻率與末位數字，比換天線、加功率都優先。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 ＝ 水平位置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0624" y="1883664"/>
            <a:ext cx="3840480" cy="24963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f_144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3675888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9304" y="440740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89304" y="4407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144.900 MHz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06240" y="1883664"/>
            <a:ext cx="3840480" cy="24963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C:\Users\10004782\AppData\Local\Temp\claude\D--MyProject-RadioAdvance\b11d5773-524b-456b-b03a-3ee843661b40\scratchpad\deck\assets\f_14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965960"/>
            <a:ext cx="3675888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74920" y="440740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5074920" y="4407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145.000 MHz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1856" y="1883664"/>
            <a:ext cx="3840480" cy="24963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C:\Users\10004782\AppData\Local\Temp\claude\D--MyProject-RadioAdvance\b11d5773-524b-456b-b03a-3ee843661b40\scratchpad\deck\assets\f_145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965960"/>
            <a:ext cx="3675888" cy="23317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860536" y="440740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8860536" y="4407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145.050 MHz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轉一個頻道，那根線就往右跳一格 →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02920" y="5029200"/>
            <a:ext cx="11192256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758952" y="5029200"/>
            <a:ext cx="107350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頻率就是這根線的左右位置。聽得到卻叫不到，先查頻率末位數字，比查天線還優先。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VHF 與 UHF：住在頻譜的哪裡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822960"/>
          </a:xfrm>
          <a:prstGeom prst="roundRect">
            <a:avLst>
              <a:gd name="adj" fmla="val 13333"/>
            </a:avLst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VHF
</a:t>
            </a:r>
            <a:r>
              <a:rPr lang="en-US" sz="1450" dirty="0">
                <a:solidFill>
                  <a:srgbClr val="F2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300 MHz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257800" cy="822960"/>
          </a:xfrm>
          <a:prstGeom prst="roundRect">
            <a:avLst>
              <a:gd name="adj" fmla="val 13333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UHF
</a:t>
            </a:r>
            <a:r>
              <a:rPr lang="en-US" sz="1450" dirty="0">
                <a:solidFill>
                  <a:srgbClr val="FB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MHz – 3 GHz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6090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頻率低 · 波長長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66090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頻率高 · 波長短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2990088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5C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業餘段  </a:t>
            </a:r>
            <a:r>
              <a:rPr lang="en-US" sz="14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– 148 MHz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2990088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86600" y="29900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70cm 業餘段  </a:t>
            </a:r>
            <a:r>
              <a:rPr lang="en-US" sz="14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– 440 MHz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927080" cy="1417320"/>
          </a:xfrm>
          <a:prstGeom prst="roundRect">
            <a:avLst>
              <a:gd name="adj" fmla="val 7742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波長 λ  =  </a:t>
            </a:r>
            <a:r>
              <a:rPr lang="en-US" sz="20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光速 c</a:t>
            </a:r>
            <a:r>
              <a:rPr lang="en-US" sz="2400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⁄  </a:t>
            </a:r>
            <a:r>
              <a:rPr lang="en-US" sz="20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 f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48280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≈ 3 × 10⁸ 公尺/秒。頻率越高，波長越短。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4206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63640" y="42062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8AA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MHz
</a:t>
            </a:r>
            <a:r>
              <a:rPr lang="en-US" sz="16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2.07 m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＝「2 米」段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61120" y="4206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961120" y="42062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29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435 MHz
</a:t>
            </a:r>
            <a:r>
              <a:rPr lang="en-US" sz="16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0.69 m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＝「70 公分」段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頻譜條為示意，非等比例。業餘無線電的兩個主力頻段，一個在 VHF、一個在 UHF。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94360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6112" y="594360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波長由頻率決定；波長決定了天線多大、以及電波怎麼傳——這是下一頁的重點。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波長長短，各有各的場子（理論上）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1938528"/>
            <a:ext cx="4882896" cy="658368"/>
          </a:xfrm>
          <a:prstGeom prst="roundRect">
            <a:avLst>
              <a:gd name="adj" fmla="val 13889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1938528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VHF · 2m</a:t>
            </a:r>
            <a:r>
              <a:rPr lang="en-US" sz="1450" dirty="0">
                <a:solidFill>
                  <a:srgbClr val="F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波長長（約 2 公尺）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" y="2953512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8016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繞射強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能繞過山丘、地形起伏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24128" y="3520440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80160" y="34198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開闊佔優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郊區、野外傳得更遠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4128" y="4087368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80160" y="39867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天線較長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但增益容易做出來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24128" y="4654296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80160" y="45537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山區、野外、長距離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28232" y="1938528"/>
            <a:ext cx="4882896" cy="658368"/>
          </a:xfrm>
          <a:prstGeom prst="roundRect">
            <a:avLst>
              <a:gd name="adj" fmla="val 13889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28232" y="1938528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UHF · 70cm</a:t>
            </a:r>
            <a:r>
              <a:rPr lang="en-US" sz="1450" dirty="0">
                <a:solidFill>
                  <a:srgbClr val="F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波長短（約 0.7 公尺）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56248" y="2953512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1228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直線性強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靠反射鑽進建築、走廊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56248" y="3520440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12280" y="34198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穿透雜亂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市區、室內、大樓密集佔優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56248" y="4087368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12280" y="39867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天線較短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頻寬也較充裕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56248" y="4654296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12280" y="45537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　</a:t>
            </a:r>
            <a:r>
              <a:rPr lang="en-US" sz="14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都市、室內、複雜地形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96112" y="548640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沒有哪個「比較好」——看你在什麼環境。這是理論；真實世界還有下一頁的變數。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但理論歸理論：電波在真實環境會被折騰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159105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" y="2061972"/>
            <a:ext cx="128016" cy="128016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673352" y="2061972"/>
            <a:ext cx="128016" cy="128016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41832" y="2125980"/>
            <a:ext cx="795528" cy="0"/>
          </a:xfrm>
          <a:prstGeom prst="line">
            <a:avLst/>
          </a:prstGeom>
          <a:noFill/>
          <a:ln w="254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flipV="1">
            <a:off x="941832" y="1783080"/>
            <a:ext cx="397764" cy="342900"/>
          </a:xfrm>
          <a:prstGeom prst="line">
            <a:avLst/>
          </a:prstGeom>
          <a:noFill/>
          <a:ln w="254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339596" y="1783080"/>
            <a:ext cx="397764" cy="342900"/>
          </a:xfrm>
          <a:prstGeom prst="line">
            <a:avLst/>
          </a:prstGeom>
          <a:noFill/>
          <a:ln w="254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rot="5400000">
            <a:off x="1645920" y="2052828"/>
            <a:ext cx="146304" cy="146304"/>
          </a:xfrm>
          <a:prstGeom prst="triangl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011680" y="17007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多路徑</a:t>
            </a: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Multipath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011680" y="208483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同一訊號走不同路徑到達，彼此相加相消 → 忽強忽弱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3619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28232" y="159105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06056" y="1728216"/>
            <a:ext cx="73152" cy="795528"/>
          </a:xfrm>
          <a:prstGeom prst="rect">
            <a:avLst/>
          </a:prstGeom>
          <a:solidFill>
            <a:srgbClr val="8C7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65392" y="1783080"/>
            <a:ext cx="704088" cy="342900"/>
          </a:xfrm>
          <a:prstGeom prst="line">
            <a:avLst/>
          </a:prstGeom>
          <a:noFill/>
          <a:ln w="2540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 flipV="1">
            <a:off x="6601968" y="2125980"/>
            <a:ext cx="667512" cy="379476"/>
          </a:xfrm>
          <a:prstGeom prst="line">
            <a:avLst/>
          </a:prstGeom>
          <a:noFill/>
          <a:ln w="2540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 rot="13500000">
            <a:off x="6565392" y="2395728"/>
            <a:ext cx="146304" cy="146304"/>
          </a:xfrm>
          <a:prstGeom prst="triangl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35240" y="17007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反射</a:t>
            </a: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Reflection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35240" y="208483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牆面、金屬、水面把電波彈開，產生第二條路徑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81635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4672" y="287121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23544" y="3406140"/>
            <a:ext cx="832104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321308" y="3026664"/>
            <a:ext cx="128016" cy="379476"/>
          </a:xfrm>
          <a:prstGeom prst="line">
            <a:avLst/>
          </a:prstGeom>
          <a:noFill/>
          <a:ln w="25400">
            <a:solidFill>
              <a:srgbClr val="8AA0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449324" y="3406140"/>
            <a:ext cx="269748" cy="379476"/>
          </a:xfrm>
          <a:prstGeom prst="line">
            <a:avLst/>
          </a:prstGeom>
          <a:noFill/>
          <a:ln w="25400">
            <a:solidFill>
              <a:srgbClr val="8AA0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 rot="8100000">
            <a:off x="1636776" y="3703320"/>
            <a:ext cx="146304" cy="146304"/>
          </a:xfrm>
          <a:prstGeom prst="triangl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011680" y="298094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折射</a:t>
            </a: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Refraction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11680" y="33649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大氣與對流層讓路徑彎曲，訊號方向偏掉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1635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428232" y="287121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862572" y="3305556"/>
            <a:ext cx="201168" cy="201168"/>
          </a:xfrm>
          <a:prstGeom prst="ellips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97396" y="3241548"/>
            <a:ext cx="365760" cy="164592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 rot="-3946335">
            <a:off x="6524244" y="3168396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 flipV="1">
            <a:off x="6963156" y="3204972"/>
            <a:ext cx="365760" cy="201168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 rot="3671352">
            <a:off x="7255764" y="3131820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 flipV="1">
            <a:off x="6579108" y="3406140"/>
            <a:ext cx="384048" cy="146304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4948733">
            <a:off x="6505956" y="3479292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963156" y="3406140"/>
            <a:ext cx="347472" cy="182880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 rot="7065512">
            <a:off x="7237476" y="3515868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 flipV="1">
            <a:off x="6963156" y="3022092"/>
            <a:ext cx="18288" cy="384048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 rot="163579">
            <a:off x="6908292" y="2948940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963156" y="3406140"/>
            <a:ext cx="73152" cy="384048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 rot="10152942">
            <a:off x="6963156" y="3717036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635240" y="298094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散射</a:t>
            </a: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Scattering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635240" y="33649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雨、樹葉、粗糙表面把能量打散到四面八方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409651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04672" y="415137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1069848" y="4704588"/>
            <a:ext cx="310896" cy="397764"/>
          </a:xfrm>
          <a:prstGeom prst="rect">
            <a:avLst/>
          </a:prstGeom>
          <a:solidFill>
            <a:srgbClr val="8C7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960120" y="4325112"/>
            <a:ext cx="457200" cy="0"/>
          </a:xfrm>
          <a:prstGeom prst="line">
            <a:avLst/>
          </a:prstGeom>
          <a:noFill/>
          <a:ln w="25400">
            <a:solidFill>
              <a:srgbClr val="5A4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 flipV="1">
            <a:off x="1380744" y="4325112"/>
            <a:ext cx="36576" cy="292608"/>
          </a:xfrm>
          <a:prstGeom prst="line">
            <a:avLst/>
          </a:prstGeom>
          <a:noFill/>
          <a:ln w="25400">
            <a:solidFill>
              <a:srgbClr val="5A4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1380744" y="4617720"/>
            <a:ext cx="356616" cy="448056"/>
          </a:xfrm>
          <a:prstGeom prst="line">
            <a:avLst/>
          </a:prstGeom>
          <a:noFill/>
          <a:ln w="25400">
            <a:solidFill>
              <a:srgbClr val="5A4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 rot="8700000">
            <a:off x="1655064" y="4983480"/>
            <a:ext cx="146304" cy="146304"/>
          </a:xfrm>
          <a:prstGeom prst="triangl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011680" y="42611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繞射</a:t>
            </a: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Diffraction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2011680" y="464515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從山稜、建築邊緣繞過去，障礙後也收得到一點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63640" y="409651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6428232" y="415137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816852" y="4325112"/>
            <a:ext cx="292608" cy="722376"/>
          </a:xfrm>
          <a:prstGeom prst="roundRect">
            <a:avLst>
              <a:gd name="adj" fmla="val 15625"/>
            </a:avLst>
          </a:prstGeom>
          <a:solidFill>
            <a:srgbClr val="8C7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528816" y="4686300"/>
            <a:ext cx="251460" cy="0"/>
          </a:xfrm>
          <a:prstGeom prst="line">
            <a:avLst/>
          </a:prstGeom>
          <a:noFill/>
          <a:ln w="44450">
            <a:solidFill>
              <a:srgbClr val="9A7B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 rot="5400000">
            <a:off x="6707124" y="4613148"/>
            <a:ext cx="146304" cy="146304"/>
          </a:xfrm>
          <a:prstGeom prst="triangle">
            <a:avLst/>
          </a:prstGeom>
          <a:solidFill>
            <a:srgbClr val="9A7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7146036" y="4686300"/>
            <a:ext cx="214884" cy="0"/>
          </a:xfrm>
          <a:prstGeom prst="line">
            <a:avLst/>
          </a:prstGeom>
          <a:noFill/>
          <a:ln w="12700">
            <a:solidFill>
              <a:srgbClr val="9A7B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635240" y="42611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吸收 / 遮蔽</a:t>
            </a: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Absorption</a:t>
            </a:r>
            <a:endParaRPr lang="en-US" sz="1550" dirty="0"/>
          </a:p>
        </p:txBody>
      </p:sp>
      <p:sp>
        <p:nvSpPr>
          <p:cNvPr id="63" name="Text 61"/>
          <p:cNvSpPr/>
          <p:nvPr/>
        </p:nvSpPr>
        <p:spPr>
          <a:xfrm>
            <a:off x="7635240" y="464515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牆體、人體、雨水吸掉能量，大障礙後形成陰影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914400" y="541324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這些加起來 ＝ 訊號飄移、衰落、時好時壞。</a:t>
            </a:r>
            <a:r>
              <a:rPr lang="en-US" sz="150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「理論上更好」≠「現場更好」——走幾步、轉正天線就不同。先看，再猜。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近代想辦法克服——但 FM 是類比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近代數位通訊怎麼對付不穩定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2505456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88720" y="2450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數位調變 + 錯誤更正 (FEC)
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收到有錯，靠冗餘碼自己補回來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3218688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88720" y="31638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展頻 / OFDM
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把資料攤到多個載波，避開被打爛的頻段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32688" y="3931920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88720" y="38770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分集 / MIMO
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多支天線同時收，挑最好的那條路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4645152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88720" y="459028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自適應編碼 + 重傳
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通道差就降速、要求重送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業餘 FM 手持機 ＝ 類比，沒有這些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64808" y="2514600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20840" y="2450592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簡單、堅固、低延遲的即時語音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64808" y="3172968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20840" y="3108960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不需要基地台或網路就能通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64808" y="3831336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20840" y="3767328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跨廠牌互通，靠人與紀律運作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64808" y="4489704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720840" y="4425696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當基礎設施倒下，它還會動 ← 民防/災害的最後手段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9560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抗噪靠 FM 捕獲效應，不靠演算法——訊號差就是差。所以前面每個參數都得調對。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96112" y="553212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業餘無線電的定位：在最壞情況下——沒電、沒網、沒基地台——仍然會動的通訊。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發射功率 TX Power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/ M / L —— 功率大，只是線更亮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「功率越大越好」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夠用就好；大只是更耗電、更燙、干擾更廣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發射功率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 H / M / L？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訊號會隨距離變弱。功率決定你「推得多遠」，但推得越遠，也干擾越廣、越耗電。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給你 H / M / L 三段可選，讓你按需要挑——夠用就好，不是越大越好。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近距離用 L：省電、少干擾、機殼不燙；只有邊緣地帶才加到 H。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發射功率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發射功率 ＝ 高度 / 亮度（寬度不變）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2103120" cy="4846320"/>
          </a:xfrm>
          <a:prstGeom prst="ellipse">
            <a:avLst/>
          </a:prstGeom>
          <a:solidFill>
            <a:srgbClr val="C0674A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383280" y="2880360"/>
            <a:ext cx="2103120" cy="2651760"/>
          </a:xfrm>
          <a:prstGeom prst="ellipse">
            <a:avLst/>
          </a:prstGeom>
          <a:solidFill>
            <a:srgbClr val="C0674A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4224528"/>
            <a:ext cx="6126480" cy="265176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521208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1810512"/>
            <a:ext cx="0" cy="2395728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高度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亮度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2976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69080" y="42976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同樣的寬度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示意：H 高又亮、L 矮又暗，但左右寬度一樣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功率大 ＝ 訊號更高、更亮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，但左右寬度完全不變。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通不通，還要看對方收不收得到——加功率不保證通。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18504" y="3346704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0" descr="C:\Users\10004782\AppData\Local\Temp\claude\D--MyProject-RadioAdvance\b11d5773-524b-456b-b03a-3ee843661b40\scratchpad\deck\assets\pwr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29000"/>
            <a:ext cx="2487168" cy="13167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997696" y="3346704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1" descr="C:\Users\10004782\AppData\Local\Temp\claude\D--MyProject-RadioAdvance\b11d5773-524b-456b-b03a-3ee843661b40\scratchpad\deck\assets\pwr_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3429000"/>
            <a:ext cx="2487168" cy="13167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00800" y="4791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 H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079992" y="4791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 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539496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914400" y="53949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實測小提醒　</a:t>
            </a:r>
            <a:r>
              <a:rPr lang="en-US" sz="145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上面這組 H/L 距離太近、都接近滿檔，差異看不太出來——這本身就是 Demo 2 的重點：太近時 H 和 L 都頂到天花板，要先拉遠或加衰減再比。（此組待重拍）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天線 Antenna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增益 ＝ 把功率集中打出去；頻率、接頭要對得上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先想清楚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「天線隨便接就好」　→　頻率要對、增益看場景、接頭要對得上，接錯就白費功率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天線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天線增益：把功率「集中」打出去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069080" y="1463040"/>
            <a:ext cx="7498079" cy="86868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同樣的發射功率，</a:t>
            </a:r>
            <a:r>
              <a:rPr sz="1200" b="1" i="0">
                <a:solidFill>
                  <a:srgbClr val="A44E36"/>
                </a:solidFill>
                <a:latin typeface="Calibri"/>
              </a:rPr>
              <a:t>天線把能量往水平方向「壓扁、集中」</a:t>
            </a:r>
            <a:r>
              <a:rPr sz="1200" b="0" i="0">
                <a:solidFill>
                  <a:srgbClr val="8C7A6E"/>
                </a:solidFill>
                <a:latin typeface="Calibri"/>
              </a:rPr>
              <a:t>，等效輻射功率(ERP)更大——打得更遠。增益越高越集中，但仰角越窄。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2514600"/>
            <a:ext cx="2377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70248" y="2697480"/>
            <a:ext cx="1325880" cy="402336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短·低增益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3227832"/>
            <a:ext cx="1975104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約 0 dBd。輻射接近全向、仰角廣。近距離、車上/移動、收發角度大時好用。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514600"/>
            <a:ext cx="2377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30568" y="2697480"/>
            <a:ext cx="1325880" cy="402336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中·中增益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0568" y="3227832"/>
            <a:ext cx="1975104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折疊/加長型。集中度與角度折衷，通用性高。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2514600"/>
            <a:ext cx="2377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90888" y="2697480"/>
            <a:ext cx="1325880" cy="402336"/>
          </a:xfrm>
          <a:prstGeom prst="roundRect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長·高增益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3227832"/>
            <a:ext cx="1975104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約 3–6 dBd。能量壓低集中、打最遠；但仰角窄，定點/基地台較適合。</a:t>
            </a:r>
          </a:p>
        </p:txBody>
      </p:sp>
      <p:pic>
        <p:nvPicPr>
          <p:cNvPr id="16" name="Picture 15" descr="antenna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737"/>
            <a:ext cx="3200400" cy="4679205"/>
          </a:xfrm>
          <a:prstGeom prst="rect">
            <a:avLst/>
          </a:prstGeom>
          <a:ln w="12700">
            <a:solidFill>
              <a:srgbClr val="8C7A6E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4069080" y="4526280"/>
            <a:ext cx="7498079" cy="173736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45152" y="4782312"/>
            <a:ext cx="768096" cy="768096"/>
          </a:xfrm>
          <a:prstGeom prst="ellipse">
            <a:avLst/>
          </a:prstGeom>
          <a:noFill/>
          <a:ln w="25400">
            <a:solidFill>
              <a:srgbClr val="8A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5029200" y="4892040"/>
            <a:ext cx="0" cy="548640"/>
          </a:xfrm>
          <a:prstGeom prst="line">
            <a:avLst/>
          </a:prstGeom>
          <a:ln w="25400">
            <a:solidFill>
              <a:srgbClr val="4331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29200" y="4599432"/>
            <a:ext cx="0" cy="566928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5166360"/>
            <a:ext cx="0" cy="566928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462272" y="5166360"/>
            <a:ext cx="566928" cy="0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0" y="5166360"/>
            <a:ext cx="566928" cy="0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5623560"/>
            <a:ext cx="182880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150" b="1" i="0">
                <a:solidFill>
                  <a:srgbClr val="43312A"/>
                </a:solidFill>
                <a:latin typeface="Cambria"/>
              </a:rPr>
              <a:t>低增益·四面八方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916168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00" b="0" i="0">
                <a:solidFill>
                  <a:srgbClr val="8C7A6E"/>
                </a:solidFill>
                <a:latin typeface="Calibri"/>
              </a:rPr>
              <a:t>(上下也射掉＝浪費)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4910328"/>
            <a:ext cx="1737360" cy="512064"/>
          </a:xfrm>
          <a:prstGeom prst="ellipse">
            <a:avLst/>
          </a:prstGeom>
          <a:noFill/>
          <a:ln w="31750">
            <a:solidFill>
              <a:srgbClr val="A4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315200" y="4937760"/>
            <a:ext cx="0" cy="457200"/>
          </a:xfrm>
          <a:prstGeom prst="line">
            <a:avLst/>
          </a:prstGeom>
          <a:ln w="25400">
            <a:solidFill>
              <a:srgbClr val="4331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897880" y="5166360"/>
            <a:ext cx="548640" cy="0"/>
          </a:xfrm>
          <a:prstGeom prst="line">
            <a:avLst/>
          </a:prstGeom>
          <a:ln w="25400">
            <a:solidFill>
              <a:srgbClr val="A44E3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83879" y="5166360"/>
            <a:ext cx="548641" cy="0"/>
          </a:xfrm>
          <a:prstGeom prst="line">
            <a:avLst/>
          </a:prstGeom>
          <a:ln w="25400">
            <a:solidFill>
              <a:srgbClr val="A44E3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0" y="5623560"/>
            <a:ext cx="219456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150" b="1" i="0">
                <a:solidFill>
                  <a:srgbClr val="A44E36"/>
                </a:solidFill>
                <a:latin typeface="Cambria"/>
              </a:rPr>
              <a:t>高增益·壓扁→打更遠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89320" y="5166360"/>
            <a:ext cx="411480" cy="0"/>
          </a:xfrm>
          <a:prstGeom prst="line">
            <a:avLst/>
          </a:prstGeom>
          <a:ln w="25400">
            <a:solidFill>
              <a:srgbClr val="43312A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06440" y="4709160"/>
            <a:ext cx="82296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050" b="1" i="0">
                <a:solidFill>
                  <a:srgbClr val="43312A"/>
                </a:solidFill>
                <a:latin typeface="Cambria"/>
              </a:rPr>
              <a:t>收攏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617720"/>
            <a:ext cx="2468880" cy="155448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50" b="1" i="0">
                <a:solidFill>
                  <a:srgbClr val="D99A5B"/>
                </a:solidFill>
                <a:latin typeface="Calibri"/>
              </a:rPr>
              <a:t>增益不是憑空生出功率——</a:t>
            </a:r>
          </a:p>
          <a:p>
            <a:pPr algn="l"/>
            <a:r>
              <a:rPr sz="1250" b="0" i="0">
                <a:solidFill>
                  <a:srgbClr val="FBF7F2"/>
                </a:solidFill>
                <a:latin typeface="Calibri"/>
              </a:rPr>
              <a:t>把原本往天上、地面浪費的能量，收回到水平方向。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天線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挑天線看三件事：頻率、增益、接頭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3474720"/>
            <a:ext cx="1152144" cy="402336"/>
          </a:xfrm>
          <a:prstGeom prst="roundRect">
            <a:avLst/>
          </a:prstGeom>
          <a:solidFill>
            <a:srgbClr val="A4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① 頻率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7" y="4005072"/>
            <a:ext cx="3163824" cy="1554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天線有設計頻段（例：標示 FM 136–174 / 400–480MHz ＝ V/U 雙頻）。用在對的頻段才有效率；不對會駐波比(SWR)高、功率被反射回機身。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29184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17136" y="3474720"/>
            <a:ext cx="2194560" cy="402336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② 增益(gain)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4005072"/>
            <a:ext cx="3163824" cy="1554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常見 dBi / dBd（dBd＝dBi−2.15）。越高打越遠，但波束越扁、仰角越窄。手持/移動未必越高越好。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329184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3024" y="3474720"/>
            <a:ext cx="1499616" cy="402336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③ 接頭規格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4005072"/>
            <a:ext cx="3163824" cy="1554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00" b="0" i="0">
                <a:solidFill>
                  <a:srgbClr val="8C7A6E"/>
                </a:solidFill>
                <a:latin typeface="Calibri"/>
              </a:rPr>
              <a:t>常見 SMA-公 / SMA-母 / BNC…。母機與天線的公母、螺紋要對得上；接錯裝不上或接觸不良、功率漏失。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40962"/>
            <a:ext cx="10927080" cy="4247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50" b="1" dirty="0" err="1">
                <a:solidFill>
                  <a:srgbClr val="A44E36"/>
                </a:solidFill>
                <a:latin typeface="Cambria"/>
              </a:rPr>
              <a:t>接頭辨識</a:t>
            </a:r>
            <a:r>
              <a:rPr sz="1250" b="1" dirty="0">
                <a:solidFill>
                  <a:srgbClr val="A44E36"/>
                </a:solidFill>
                <a:latin typeface="Cambria"/>
              </a:rPr>
              <a:t>　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① </a:t>
            </a:r>
            <a:r>
              <a:rPr sz="1150" b="0" dirty="0" smtClean="0">
                <a:solidFill>
                  <a:srgbClr val="8C7A6E"/>
                </a:solidFill>
                <a:latin typeface="Calibri"/>
              </a:rPr>
              <a:t>左</a:t>
            </a:r>
            <a:r>
              <a:rPr lang="zh-TW" altLang="en-US" sz="1150" dirty="0">
                <a:solidFill>
                  <a:srgbClr val="8C7A6E"/>
                </a:solidFill>
                <a:latin typeface="Calibri"/>
              </a:rPr>
              <a:t> </a:t>
            </a:r>
            <a:r>
              <a:rPr lang="en-US" altLang="zh-TW" sz="1150" dirty="0" smtClean="0">
                <a:solidFill>
                  <a:srgbClr val="8C7A6E"/>
                </a:solidFill>
                <a:latin typeface="Calibri"/>
              </a:rPr>
              <a:t>SMA</a:t>
            </a:r>
            <a:r>
              <a:rPr lang="zh-TW" altLang="en-US" sz="1150" dirty="0">
                <a:solidFill>
                  <a:srgbClr val="8C7A6E"/>
                </a:solidFill>
                <a:latin typeface="Calibri"/>
              </a:rPr>
              <a:t> </a:t>
            </a:r>
            <a:r>
              <a:rPr lang="zh-TW" altLang="en-US" sz="1150" dirty="0" smtClean="0">
                <a:solidFill>
                  <a:srgbClr val="8C7A6E"/>
                </a:solidFill>
                <a:latin typeface="Calibri"/>
              </a:rPr>
              <a:t>公頭</a:t>
            </a:r>
            <a:r>
              <a:rPr sz="1150" b="0" dirty="0" smtClean="0">
                <a:solidFill>
                  <a:srgbClr val="8C7A6E"/>
                </a:solidFill>
                <a:latin typeface="Calibri"/>
              </a:rPr>
              <a:t>（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紅圈標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 136-174/400-480 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雙頻）與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 ② 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中＝SMA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母頭（中央凹孔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）；③ 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右＝SMA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公頭（中央有針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）。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判斷法：中央有針＝公、凹孔＝母，天線要和機身「相反」才鎖得上。SMA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 與 RP-SMA </a:t>
            </a:r>
            <a:r>
              <a:rPr sz="1150" b="0" dirty="0" err="1">
                <a:solidFill>
                  <a:srgbClr val="8C7A6E"/>
                </a:solidFill>
                <a:latin typeface="Calibri"/>
              </a:rPr>
              <a:t>外觀近似，買前先確認機身規格</a:t>
            </a:r>
            <a:r>
              <a:rPr sz="1150" b="0" dirty="0">
                <a:solidFill>
                  <a:srgbClr val="8C7A6E"/>
                </a:solidFill>
                <a:latin typeface="Calibri"/>
              </a:rPr>
              <a:t>。</a:t>
            </a:r>
          </a:p>
        </p:txBody>
      </p:sp>
      <p:pic>
        <p:nvPicPr>
          <p:cNvPr id="15" name="Picture 14" descr="antenna_conn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02" y="1417320"/>
            <a:ext cx="4786634" cy="1691640"/>
          </a:xfrm>
          <a:prstGeom prst="rect">
            <a:avLst/>
          </a:prstGeom>
          <a:ln w="12700">
            <a:solidFill>
              <a:srgbClr val="8C7A6E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4066829" y="2651760"/>
            <a:ext cx="914400" cy="32918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mbria"/>
              </a:rPr>
              <a:t>① </a:t>
            </a:r>
            <a:r>
              <a:rPr lang="zh-TW" altLang="en-US" sz="1200" b="1" i="0" dirty="0" smtClean="0">
                <a:solidFill>
                  <a:srgbClr val="FFFFFF"/>
                </a:solidFill>
                <a:latin typeface="Cambria"/>
              </a:rPr>
              <a:t>公</a:t>
            </a:r>
            <a:endParaRPr sz="12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54953" y="2651760"/>
            <a:ext cx="914400" cy="32918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② 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2409" y="2651760"/>
            <a:ext cx="914400" cy="32918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③ 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寬頻 / 窄頻 W / 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面板寫「頻寬」，其實它設的是「訊號最多能佔多寬」的上限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「面板寫頻寬，就是在設頻寬」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設的是寬度的天花板；實際多寬看你多大聲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寬窄頻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為什麼要有寬 / 窄頻？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頻譜不夠用。使用者暴增，主管機關必須在不新增頻譜下擠出更多頻道。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把訊號寬度的天花板砍一半（窄頻），頻道間隔就能縮一半，同一段頻譜塞進兩倍頻道。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代價是音質與訊噪比略降；跨單位務必統一 W 或 N，否則一個破音、一個太小聲。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寬窄頻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寬 / 窄頻 ＝ 訊號寬度的天花板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700784"/>
            <a:ext cx="5422392" cy="304495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wn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25780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727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W：天花板高，最寬可到約 16 kHz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27064" y="1700784"/>
            <a:ext cx="5422392" cy="304495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C:\Users\10004782\AppData\Local\Temp\claude\D--MyProject-RadioAdvance\b11d5773-524b-456b-b03a-3ee843661b40\scratchpad\deck\assets\wn_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25780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727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窄頻 N：天花板低，最寬約 11 kHz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512064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96112" y="512064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W/N 設的是「最寬能到多寬」的上限；你講多大聲，決定實際走到哪。太小聲用不滿、太大聲會超出。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5998464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3EA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914400" y="5998464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　</a:t>
            </a:r>
            <a:r>
              <a:rPr lang="en-US" sz="14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跨單位一邊寬一邊窄 → 聲音一個破一個太小，兩邊都以為是對方訊號弱。統一 W/N，寫進通聯計畫。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頻道步進 Step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從「轉頻率的最小單位」，到「沒協調好就壓到隔壁」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「步進只是調頻率的方便設定」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設錯會叫不到頻率，還會壓到隔壁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為什麼要有頻道步進？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整段頻譜要切成整齊的「頻道格」，大家才停在同樣的位置上、不各停各的。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步進＝頻道間隔的跳動單位；設對，才停得上格線、也才不會壓到鄰頻。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叫不到某頻率（步進太大跳過了）、或被鄰頻抱怨干擾 → 都先查步進。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步進：轉頻率的最小跳動單位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868680"/>
          </a:xfrm>
          <a:prstGeom prst="roundRect">
            <a:avLst>
              <a:gd name="adj" fmla="val 12632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 (STEP) </a:t>
            </a:r>
            <a:r>
              <a:rPr lang="en-US" sz="15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你每按一下、轉一格，頻率跳動的最小量。常見 5 / 6.25 / 12.5 / 25 kHz。整個頻段被它切成一格一格。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53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 25 kHz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91440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463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749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035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321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607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05456" y="3145536"/>
            <a:ext cx="201168" cy="201168"/>
          </a:xfrm>
          <a:prstGeom prst="ellipse">
            <a:avLst/>
          </a:prstGeom>
          <a:solidFill>
            <a:srgbClr val="C067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691640" y="2679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停不到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145.0125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E6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 12.5 kHz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617720"/>
            <a:ext cx="91440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463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606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749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892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035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178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321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464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607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505456" y="4517136"/>
            <a:ext cx="201168" cy="201168"/>
          </a:xfrm>
          <a:prstGeom prst="ellipse">
            <a:avLst/>
          </a:prstGeom>
          <a:solidFill>
            <a:srgbClr val="8AA0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691640" y="4050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停得到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91640" y="4764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145.0125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51389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想停在 145.0125？步進 25k 會跳過它；改 12.5k 才剛好落在格線上。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96112" y="557784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聽得到卻停不上去，八成是步進設太大——先查步進，再懷疑天線。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914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399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145.0625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19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19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C7A6E"/>
                </a:solidFill>
                <a:latin typeface="Calibri"/>
              </a:rPr>
              <a:t>145.0875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步進沒協調 → 鄰頻重疊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只差 12.5 kHz + 兩邊都寬頻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468880"/>
            <a:ext cx="2834640" cy="3017520"/>
          </a:xfrm>
          <a:prstGeom prst="ellipse">
            <a:avLst/>
          </a:prstGeom>
          <a:solidFill>
            <a:srgbClr val="C0674A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2834640" cy="3017520"/>
          </a:xfrm>
          <a:prstGeom prst="ellipse">
            <a:avLst/>
          </a:prstGeom>
          <a:solidFill>
            <a:srgbClr val="D99A5B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拉到 25 kHz 或改窄頻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697480"/>
            <a:ext cx="2011680" cy="2560320"/>
          </a:xfrm>
          <a:prstGeom prst="ellipse">
            <a:avLst/>
          </a:prstGeom>
          <a:solidFill>
            <a:srgbClr val="8AA08C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35440" y="2697480"/>
            <a:ext cx="2011680" cy="2560320"/>
          </a:xfrm>
          <a:prstGeom prst="ellipse">
            <a:avLst/>
          </a:prstGeom>
          <a:solidFill>
            <a:srgbClr val="5A4038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0" y="3995928"/>
            <a:ext cx="12191695" cy="288036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607040" y="4050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邊帶疊在一起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中間留黑、互不干擾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10515600" cy="566928"/>
          </a:xfrm>
          <a:prstGeom prst="roundRect">
            <a:avLst>
              <a:gd name="adj" fmla="val 16129"/>
            </a:avLst>
          </a:prstGeom>
          <a:solidFill>
            <a:srgbClr val="4331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97280" y="446227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保護頻帶 </a:t>
            </a:r>
            <a:r>
              <a:rPr lang="en-US" sz="16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頻道間隔 − 佔用頻寬　　</a:t>
            </a:r>
            <a:r>
              <a:rPr lang="en-US" sz="165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算出負數 = 必定重疊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5212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頻道間隔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212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保護頻帶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0" y="5212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541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16k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5541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kHz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5541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kHz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5541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A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852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16k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852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kHz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5852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 kHz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58521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6163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窄頻 11k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6163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kHz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6163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 kHz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61630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勉強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概念示意圖，實拍截圖待補（兩台相隔 12.5 kHz 同時發射）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為什麼要留「保護頻帶」？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92040" y="1920240"/>
            <a:ext cx="1828800" cy="1737360"/>
          </a:xfrm>
          <a:prstGeom prst="rect">
            <a:avLst/>
          </a:prstGeom>
          <a:solidFill>
            <a:srgbClr val="D99A5B">
              <a:alpha val="38000"/>
            </a:srgbClr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4" name="群組 3"/>
          <p:cNvGrpSpPr/>
          <p:nvPr/>
        </p:nvGrpSpPr>
        <p:grpSpPr>
          <a:xfrm>
            <a:off x="1589382" y="2145075"/>
            <a:ext cx="3222035" cy="3540969"/>
            <a:chOff x="1589382" y="2145075"/>
            <a:chExt cx="3222035" cy="3540969"/>
          </a:xfrm>
        </p:grpSpPr>
        <p:sp>
          <p:nvSpPr>
            <p:cNvPr id="30" name="Oval 29"/>
            <p:cNvSpPr/>
            <p:nvPr/>
          </p:nvSpPr>
          <p:spPr>
            <a:xfrm>
              <a:off x="1589382" y="3125724"/>
              <a:ext cx="819680" cy="2560320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Oval 30"/>
            <p:cNvSpPr/>
            <p:nvPr/>
          </p:nvSpPr>
          <p:spPr>
            <a:xfrm>
              <a:off x="3884467" y="3075792"/>
              <a:ext cx="926950" cy="2560320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Oval 31"/>
            <p:cNvSpPr/>
            <p:nvPr/>
          </p:nvSpPr>
          <p:spPr>
            <a:xfrm>
              <a:off x="3483777" y="2807207"/>
              <a:ext cx="938910" cy="2679192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Oval 32"/>
            <p:cNvSpPr/>
            <p:nvPr/>
          </p:nvSpPr>
          <p:spPr>
            <a:xfrm>
              <a:off x="1918020" y="2824734"/>
              <a:ext cx="991945" cy="2679192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2422957" y="2145075"/>
              <a:ext cx="1461695" cy="3341325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6801462" y="2145075"/>
            <a:ext cx="3222035" cy="3540969"/>
            <a:chOff x="6801462" y="2145075"/>
            <a:chExt cx="3222035" cy="3540969"/>
          </a:xfrm>
        </p:grpSpPr>
        <p:sp>
          <p:nvSpPr>
            <p:cNvPr id="35" name="Oval 34"/>
            <p:cNvSpPr/>
            <p:nvPr/>
          </p:nvSpPr>
          <p:spPr>
            <a:xfrm>
              <a:off x="6801462" y="3125724"/>
              <a:ext cx="819680" cy="2560320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9096547" y="3075792"/>
              <a:ext cx="926950" cy="2560320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8695857" y="2807207"/>
              <a:ext cx="938910" cy="2679192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7130100" y="2824734"/>
              <a:ext cx="991945" cy="2679192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7635037" y="2145075"/>
              <a:ext cx="1461695" cy="3341325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Shape 5"/>
          <p:cNvSpPr/>
          <p:nvPr/>
        </p:nvSpPr>
        <p:spPr>
          <a:xfrm>
            <a:off x="0" y="3675888"/>
            <a:ext cx="12191695" cy="192024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937760" y="3017520"/>
            <a:ext cx="1737360" cy="0"/>
          </a:xfrm>
          <a:prstGeom prst="line">
            <a:avLst/>
          </a:prstGeom>
          <a:noFill/>
          <a:ln w="25400">
            <a:solidFill>
              <a:srgbClr val="A44E3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091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保護頻帶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7673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頻道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37673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頻道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佔用頻寬 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2416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36118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41248" y="4334256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4334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裙擺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真實訊號會超出理論頻寬——理論值只是估計，邊緣還有能量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4160520"/>
            <a:ext cx="36118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90288" y="4334256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90288" y="4334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漂移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發射頻率會隨溫度、晶體誤差而飄，不會永遠停在正中央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4160520"/>
            <a:ext cx="36118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339328" y="4334256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339328" y="4334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濾波器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57616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接收濾波器不是磚牆，邊緣會慢慢滾降，鄰頻會漏一點進來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14400" y="5440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要多寬才夠？　</a:t>
            </a:r>
            <a:r>
              <a:rPr lang="en-US" sz="150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保護頻帶 ＝ 頻道間隔 − 佔用頻寬。寬頻 25k − 16k ＝ 9k（夠）；窄頻 12.5k − 11k ＝ 只剩 1.5k——所以窄頻對頻率準確度與濾波器要求更嚴。</a:t>
            </a:r>
            <a:endParaRPr lang="en-US" sz="1500" dirty="0"/>
          </a:p>
        </p:txBody>
      </p:sp>
      <p:sp>
        <p:nvSpPr>
          <p:cNvPr id="29" name="TextBox 28"/>
          <p:cNvSpPr txBox="1"/>
          <p:nvPr/>
        </p:nvSpPr>
        <p:spPr>
          <a:xfrm>
            <a:off x="640080" y="1517904"/>
            <a:ext cx="841248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8C7A6E"/>
                </a:solidFill>
                <a:latin typeface="Calibri"/>
              </a:rPr>
              <a:t>真實訊號會超出「理論／佔用頻寬」——邊緣的「裙擺」向外溢；保護頻帶就是留給裙擺的緩衝，鄰台才不會互咬。</a:t>
            </a:r>
          </a:p>
        </p:txBody>
      </p:sp>
      <p:pic>
        <p:nvPicPr>
          <p:cNvPr id="40" name="Picture 39" descr="skirt_crop_try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457200"/>
            <a:ext cx="2084831" cy="1885546"/>
          </a:xfrm>
          <a:prstGeom prst="rect">
            <a:avLst/>
          </a:prstGeom>
          <a:ln w="12700">
            <a:solidFill>
              <a:srgbClr val="8C7A6E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9235440" y="237017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i="1">
                <a:solidFill>
                  <a:srgbClr val="8C7A6E"/>
                </a:solidFill>
                <a:latin typeface="Calibri"/>
              </a:rPr>
              <a:t>實測·窄頻 FM：訊號裙擺溢出頻寬框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023360" cy="402336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75488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 · 分組實作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調出這個形狀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一對無線電、兩種設定，在頻譜上疊出「一寬一窄」——這就是你這組要做出來的畫面。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 · 分組實作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六組各據一個頻段——寬一點，才有得玩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每組拿到一段夠寬的頻段，兩台就在裡面錯開頻率。全部落在 2m 頻段內、避開呼叫與衛星頻率。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2350008"/>
            <a:ext cx="603504" cy="603504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203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144.700 – 144.800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91640" y="2916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63440" y="2350008"/>
            <a:ext cx="603504" cy="603504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2203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4068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144.840 – 144.940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40680" y="2916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412480" y="2350008"/>
            <a:ext cx="603504" cy="603504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0" y="23500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2203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8972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144.980 – 145.080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89720" y="2916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4400" y="3950208"/>
            <a:ext cx="603504" cy="603504"/>
          </a:xfrm>
          <a:prstGeom prst="ellips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4400" y="3950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組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9164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145.120 – 145.220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9164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0" y="3566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663440" y="3950208"/>
            <a:ext cx="603504" cy="603504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3950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組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4068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145.260 – 145.360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4068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3566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412480" y="3950208"/>
            <a:ext cx="603504" cy="603504"/>
          </a:xfrm>
          <a:prstGeom prst="ellipse">
            <a:avLst/>
          </a:prstGeom>
          <a:solidFill>
            <a:srgbClr val="9A7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12480" y="3950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18972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組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18972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145.400 – 145.480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18972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138928"/>
            <a:ext cx="10927080" cy="1188720"/>
          </a:xfrm>
          <a:prstGeom prst="roundRect">
            <a:avLst>
              <a:gd name="adj" fmla="val 9231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14400" y="52303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規則　</a:t>
            </a: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各組可同時發射——先低功率、先看 SDR 確認沒蓋到隔壁組　② 一組內兩台錯開頻率、設不同 W/N 與功率　③ 全程盯 SDR。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" y="5742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頻率為課堂示意：已避開呼叫頻率 145.500 與 ISS/衛星 145.800，並限制在 2m 頻段 144–146 MHz。開課前仍須依 NCC 頻段規劃與當地緊急/中繼/衛星/APRS 頻率確認（見講義附錄 · 待查）。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 · 題目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兩台一起發，疊出一寬一窄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76072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61795" y="2663190"/>
            <a:ext cx="2880360" cy="1645920"/>
          </a:xfrm>
          <a:prstGeom prst="ellipse">
            <a:avLst/>
          </a:prstGeom>
          <a:solidFill>
            <a:srgbClr val="8AA08C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06851" y="1977390"/>
            <a:ext cx="979322" cy="3017520"/>
          </a:xfrm>
          <a:prstGeom prst="ellipse">
            <a:avLst/>
          </a:prstGeom>
          <a:solidFill>
            <a:srgbClr val="C0674A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3489808"/>
            <a:ext cx="5614416" cy="1543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05840" y="3486150"/>
            <a:ext cx="50292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721815" y="261747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寬頻 + 低功率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5072" y="159334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窄頻 + 高功率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7465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目標：SDR 上疊出這個形狀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1600200"/>
            <a:ext cx="4892040" cy="3429000"/>
          </a:xfrm>
          <a:prstGeom prst="roundRect">
            <a:avLst>
              <a:gd name="adj" fmla="val 3200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49440" y="17373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0" y="224028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(W) ＋ 低功率 (L)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898648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49440" y="2898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窄頻 (N) ＋ 高功率 (H)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3557016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49440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5387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兩台頻率在你們的頻段內稍微分開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4215384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949440" y="421538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疊圖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419709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 SDR 的 FFT Hold，兩台輪流發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257800"/>
            <a:ext cx="10927080" cy="1097280"/>
          </a:xfrm>
          <a:prstGeom prst="roundRect">
            <a:avLst>
              <a:gd name="adj" fmla="val 1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5257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想一想　</a:t>
            </a: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哪個佔的頻寬大？哪個比較高（訊號強）？兩台靠太近會怎樣？——高度看功率、寬度看 W/N，兩件事互不相干；這正是判斷「同一個頻段裡有幾台、各是什麼設定」的基本功。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 CTCSS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重點：亞音不是加密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「設了亞音＝私人頻道，別人聽不到」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它一點都不加密，只關你自己的喇叭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亞音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為什麼要有亞音（CTCSS）？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同一個頻率常要多組人共用。你不想整天聽到別組的通話與雜音。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發射端蓋一個「暗號」（次音頻），收端只對暗號開喇叭——這是分群，不是加密。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中繼台要正確亞音才會開；但你講的每句話仍是明語，任何人、任何 SDR 都收得到。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亞音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亞音在瀑布圖上：一排梳齒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0624" y="1746504"/>
            <a:ext cx="384048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ct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3675888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43584" y="42245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43584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無亞音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4681728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一根乾淨載波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746504"/>
            <a:ext cx="384048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C:\Users\10004782\AppData\Local\Temp\claude\D--MyProject-RadioAdvance\b11d5773-524b-456b-b03a-3ee843661b40\scratchpad\deck\assets\ct_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828800"/>
            <a:ext cx="3675888" cy="2286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42245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5029200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 Hz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88536" y="4681728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梳齒密、根數多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746504"/>
            <a:ext cx="384048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C:\Users\10004782\AppData\Local\Temp\claude\D--MyProject-RadioAdvance\b11d5773-524b-456b-b03a-3ee843661b40\scratchpad\deck\assets\ct_25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28800"/>
            <a:ext cx="3675888" cy="2286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814816" y="42245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8814816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254.1 Hz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74152" y="4681728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梳齒疏、根數少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5120640"/>
            <a:ext cx="1120140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758952" y="5120640"/>
            <a:ext cx="10744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梳齒間隔 ＝ 亞音頻率。不用問你，數格子就讀得出你設的是幾赫茲（實測誤差 ≤1.4%）。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亞音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亞音不是加密——它只關你的喇叭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700784"/>
            <a:ext cx="5422392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m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2578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6817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 沒設亞音 → 喇叭出聲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27064" y="1700784"/>
            <a:ext cx="5422392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C:\Users\10004782\AppData\Local\Temp\claude\D--MyProject-RadioAdvance\b11d5773-524b-456b-b03a-3ee843661b40\scratchpad\deck\assets\mx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25780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6817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 設了亞音 → 喇叭不出聲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5074920"/>
            <a:ext cx="10927080" cy="1481328"/>
          </a:xfrm>
          <a:prstGeom prst="roundRect">
            <a:avLst>
              <a:gd name="adj" fmla="val 7407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914400" y="517550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同一個電波</a:t>
            </a:r>
            <a:r>
              <a:rPr lang="en-US" sz="16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（總功率差 0.58 dB、頻寬差 10 Hz），B 卻一個聽得到、一個聽不到。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" y="56144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 </a:t>
            </a:r>
            <a:r>
              <a:rPr lang="en-US" sz="155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不出聲時 BUSY 燈仍亮著</a:t>
            </a:r>
            <a:r>
              <a:rPr lang="en-US" sz="155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——它自己承認收到了，只是不放給你聽。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605332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通聯紀律：人員位置、傷患個資、物資數量——設了亞音也一樣不能明語講。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架一座 2m 中繼台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先想清楚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483468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最少要設定什麼，才能通話？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 · 綜合設計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換你設計：架一座 2m 中繼台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27080" cy="841248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 dirty="0" err="1" smtClean="0">
                <a:solidFill>
                  <a:srgbClr val="8C7A6E"/>
                </a:solidFill>
              </a:rPr>
              <a:t>中繼台「</a:t>
            </a:r>
            <a:r>
              <a:rPr b="1" i="0" dirty="0" err="1">
                <a:solidFill>
                  <a:srgbClr val="8C7A6E"/>
                </a:solidFill>
              </a:rPr>
              <a:t>同時收、同時發</a:t>
            </a:r>
            <a:r>
              <a:rPr b="1" i="0" dirty="0" smtClean="0">
                <a:solidFill>
                  <a:srgbClr val="8C7A6E"/>
                </a:solidFill>
              </a:rPr>
              <a:t>」</a:t>
            </a:r>
            <a:r>
              <a:rPr lang="zh-TW" altLang="en-US" b="1" dirty="0" smtClean="0">
                <a:solidFill>
                  <a:srgbClr val="8C7A6E"/>
                </a:solidFill>
              </a:rPr>
              <a:t>。</a:t>
            </a:r>
            <a:r>
              <a:rPr b="1" i="0" dirty="0" err="1" smtClean="0">
                <a:solidFill>
                  <a:srgbClr val="8C7A6E"/>
                </a:solidFill>
              </a:rPr>
              <a:t>先想清楚</a:t>
            </a:r>
            <a:r>
              <a:rPr b="1" i="0" dirty="0" err="1">
                <a:solidFill>
                  <a:srgbClr val="8C7A6E"/>
                </a:solidFill>
              </a:rPr>
              <a:t>：最少要設定什麼才能通話</a:t>
            </a:r>
            <a:r>
              <a:rPr b="1" i="0" smtClean="0">
                <a:solidFill>
                  <a:srgbClr val="8C7A6E"/>
                </a:solidFill>
              </a:rPr>
              <a:t>？</a:t>
            </a:r>
            <a:endParaRPr b="1" i="0" dirty="0">
              <a:solidFill>
                <a:srgbClr val="8C7A6E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9755" y="3044952"/>
            <a:ext cx="1508760" cy="658368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50" b="1" i="0" dirty="0" err="1">
                <a:solidFill>
                  <a:srgbClr val="FFFFFF"/>
                </a:solidFill>
                <a:latin typeface="Cambria"/>
              </a:rPr>
              <a:t>中繼台</a:t>
            </a:r>
            <a:endParaRPr sz="1400" b="1" i="0" dirty="0">
              <a:solidFill>
                <a:srgbClr val="FFFFFF"/>
              </a:solidFill>
              <a:latin typeface="Cambria"/>
            </a:endParaRPr>
          </a:p>
          <a:p>
            <a:pPr algn="ctr"/>
            <a:r>
              <a:rPr sz="1000" b="0" i="0" dirty="0" err="1">
                <a:solidFill>
                  <a:srgbClr val="FBF7F2"/>
                </a:solidFill>
                <a:latin typeface="Calibri"/>
              </a:rPr>
              <a:t>同時收＋發</a:t>
            </a:r>
            <a:endParaRPr sz="900" b="0" i="0" dirty="0">
              <a:solidFill>
                <a:srgbClr val="FBF7F2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9865" y="4935071"/>
            <a:ext cx="952813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6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A44E36"/>
                </a:solidFill>
                <a:latin typeface="Cambria"/>
              </a:rPr>
              <a:t>無線電 A</a:t>
            </a:r>
          </a:p>
          <a:p>
            <a:pPr algn="ctr"/>
            <a:r>
              <a:rPr sz="1000" b="0" i="0">
                <a:solidFill>
                  <a:srgbClr val="8C7A6E"/>
                </a:solidFill>
                <a:latin typeface="Calibri"/>
              </a:rPr>
              <a:t>發話方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5649" y="4935071"/>
            <a:ext cx="1028611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A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63795C"/>
                </a:solidFill>
                <a:latin typeface="Cambria"/>
              </a:rPr>
              <a:t>無線電 B</a:t>
            </a:r>
          </a:p>
          <a:p>
            <a:pPr algn="ctr"/>
            <a:r>
              <a:rPr sz="1000" b="0" i="0">
                <a:solidFill>
                  <a:srgbClr val="8C7A6E"/>
                </a:solidFill>
                <a:latin typeface="Calibri"/>
              </a:rPr>
              <a:t>收聽方</a:t>
            </a:r>
          </a:p>
        </p:txBody>
      </p:sp>
      <p:cxnSp>
        <p:nvCxnSpPr>
          <p:cNvPr id="10" name="Connector 9"/>
          <p:cNvCxnSpPr>
            <a:stCxn id="8" idx="0"/>
            <a:endCxn id="5" idx="2"/>
          </p:cNvCxnSpPr>
          <p:nvPr/>
        </p:nvCxnSpPr>
        <p:spPr>
          <a:xfrm flipV="1">
            <a:off x="4136272" y="3703320"/>
            <a:ext cx="1607863" cy="1231751"/>
          </a:xfrm>
          <a:prstGeom prst="line">
            <a:avLst/>
          </a:prstGeom>
          <a:ln w="31750">
            <a:solidFill>
              <a:srgbClr val="C0674A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9" idx="0"/>
          </p:cNvCxnSpPr>
          <p:nvPr/>
        </p:nvCxnSpPr>
        <p:spPr>
          <a:xfrm>
            <a:off x="5744135" y="3703320"/>
            <a:ext cx="1465820" cy="1231751"/>
          </a:xfrm>
          <a:prstGeom prst="line">
            <a:avLst/>
          </a:prstGeom>
          <a:ln w="31750">
            <a:solidFill>
              <a:srgbClr val="8AA08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 · 參考答案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參考答案：一座 2m 中繼台這樣設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148840" cy="42062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參數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2743200" cy="42062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參考答案（範例）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737360"/>
            <a:ext cx="5879592" cy="42062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為什麼這樣設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57984"/>
            <a:ext cx="10908792" cy="347472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 i="0">
                <a:solidFill>
                  <a:srgbClr val="A44E36"/>
                </a:solidFill>
                <a:latin typeface="Cambria"/>
              </a:rPr>
              <a:t>　能通話的最低必要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05456"/>
            <a:ext cx="2148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A44E36"/>
                </a:solidFill>
                <a:latin typeface="Cambria"/>
              </a:rPr>
              <a:t>輸出頻率（你收）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505456"/>
            <a:ext cx="2743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43312A"/>
                </a:solidFill>
                <a:latin typeface="Calibri"/>
              </a:rPr>
              <a:t>145.600 MHz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505456"/>
            <a:ext cx="587959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這是公布出去的中繼台頻率——大家把它設進「接收」。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54096"/>
            <a:ext cx="214884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A44E36"/>
                </a:solidFill>
                <a:latin typeface="Cambria"/>
              </a:rPr>
              <a:t>輸入頻率（你發）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054096"/>
            <a:ext cx="274320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43312A"/>
                </a:solidFill>
                <a:latin typeface="Calibri"/>
              </a:rPr>
              <a:t>145.000 MHz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054096"/>
            <a:ext cx="5879592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＝ 輸出 − 位移；中繼台就在這個頻率「聽」你發話。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02736"/>
            <a:ext cx="2148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A44E36"/>
                </a:solidFill>
                <a:latin typeface="Cambria"/>
              </a:rPr>
              <a:t>位移（方向＋大小）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602736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43312A"/>
                </a:solidFill>
                <a:latin typeface="Calibri"/>
              </a:rPr>
              <a:t>−600 kHz（向下）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602736"/>
            <a:ext cx="5879592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2m 標準位移 600 kHz。要夠大——中繼台同時收發，太近會「自己蓋掉自己」、保護頻帶也不足（S6）。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61104"/>
            <a:ext cx="10908792" cy="347472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 i="0">
                <a:solidFill>
                  <a:srgbClr val="A44E36"/>
                </a:solidFill>
                <a:latin typeface="Cambria"/>
              </a:rPr>
              <a:t>　讓它好用、不互擾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08576"/>
            <a:ext cx="2148840" cy="621792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A44E36"/>
                </a:solidFill>
                <a:latin typeface="Cambria"/>
              </a:rPr>
              <a:t>亞音（存取）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608576"/>
            <a:ext cx="2743200" cy="621792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43312A"/>
                </a:solidFill>
                <a:latin typeface="Calibri"/>
              </a:rPr>
              <a:t>開，88.5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608576"/>
            <a:ext cx="5879592" cy="621792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擋雜訊與鄰台誤觸、避免亂開台；但它不加密，話仍是明語（S7）。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8"/>
            <a:ext cx="2148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A44E36"/>
                </a:solidFill>
                <a:latin typeface="Cambria"/>
              </a:rPr>
              <a:t>發射功率＋架高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5230368"/>
            <a:ext cx="2743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43312A"/>
                </a:solidFill>
                <a:latin typeface="Calibri"/>
              </a:rPr>
              <a:t>大功率、架高處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5230368"/>
            <a:ext cx="587959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中繼台要覆蓋廣，所以架高、功率大（S3）；但干擾半徑同時放大，要協調。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79007"/>
            <a:ext cx="214884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A44E36"/>
                </a:solidFill>
                <a:latin typeface="Cambria"/>
              </a:rPr>
              <a:t>與鄰台協調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779007"/>
            <a:ext cx="274320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43312A"/>
                </a:solidFill>
                <a:latin typeface="Calibri"/>
              </a:rPr>
              <a:t>頻率／亞音錯開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5779007"/>
            <a:ext cx="5879592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鄰台的輸入／輸出若太近，就是放大版的鄰頻重疊（S6）。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82511"/>
            <a:ext cx="10908792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0" i="1">
                <a:solidFill>
                  <a:srgbClr val="8C7A6E"/>
                </a:solidFill>
                <a:latin typeface="Calibri"/>
              </a:rPr>
              <a:t>＊ 範例數字依當地 2m 頻段規劃與頻率協調而定；重點是每一項都「說得出為什麼」。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4389120" cy="438912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靜噪 Squelch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05840" y="338328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34440" y="3502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76732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「靜噪把訊號關掉了」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它只關你的喇叭，電波照舊、別人照收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4572000"/>
            <a:ext cx="4480560" cy="548640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內容準備中 · 尚未實測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5349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預告：靜噪、亞音、靜音——三種讓喇叭安靜的機制，沒有一種動得到電波，也沒有一種能保密。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· 靜噪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靜噪：讓喇叭閉嘴，但電波照舊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沒訊號時，收音機會一直發出白噪音「沙沙聲」。你不想整天聽它，也不想手動去關喇叭。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設一個「訊號強度門檻」：低於門檻就把喇叭關掉、高於門檻才出聲——它只關喇叭，不動電波。可再加亞音(CTCSS)當第二道條件，只對暗號開喇叭。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設太高→弱訊號漏接(以為沒人)；設太低→一直有雜音。收不到時先想：是靜噪太高還是真沒訊號？用 SDR 瀑布圖一看便知——有訊號卻沒聲＝靜噪太高。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Troubleshooting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出問題，怎麼查？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用學過的每一層，從最便宜、最常見的先查起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用學過的每一層，從最便宜、最常見的先查起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Troubleshooting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排查心法：先聽、分層、一次一項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603504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 dirty="0" err="1" smtClean="0">
                <a:solidFill>
                  <a:srgbClr val="A44E36"/>
                </a:solidFill>
                <a:latin typeface="Calibri"/>
              </a:rPr>
              <a:t>靠機器自己的工具排查</a:t>
            </a:r>
            <a:r>
              <a:rPr sz="1600" b="1" i="0" dirty="0">
                <a:solidFill>
                  <a:srgbClr val="A44E36"/>
                </a:solidFill>
                <a:latin typeface="Calibri"/>
              </a:rPr>
              <a:t>——</a:t>
            </a:r>
            <a:r>
              <a:rPr sz="1600" b="1" i="0" dirty="0" err="1">
                <a:solidFill>
                  <a:srgbClr val="A44E36"/>
                </a:solidFill>
                <a:latin typeface="Calibri"/>
              </a:rPr>
              <a:t>大多數問題出在設定，不是設備</a:t>
            </a:r>
            <a:r>
              <a:rPr sz="1600" b="1" i="0" dirty="0" smtClean="0">
                <a:solidFill>
                  <a:srgbClr val="A44E36"/>
                </a:solidFill>
                <a:latin typeface="Calibri"/>
              </a:rPr>
              <a:t>。</a:t>
            </a:r>
            <a:r>
              <a:rPr lang="zh-TW" altLang="en-US" sz="1600" b="1" i="0" dirty="0" smtClean="0">
                <a:solidFill>
                  <a:srgbClr val="A44E36"/>
                </a:solidFill>
                <a:latin typeface="Calibri"/>
              </a:rPr>
              <a:t>但先檢查自己的設備，如天線有沒有用錯頭、鎖緊</a:t>
            </a:r>
            <a:endParaRPr sz="1600" b="1" i="0" dirty="0">
              <a:solidFill>
                <a:srgbClr val="A44E3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2258568"/>
            <a:ext cx="2121408" cy="457200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① 先聽、先看表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6" y="2843784"/>
            <a:ext cx="3300985" cy="100583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350" b="0" i="0" dirty="0" err="1" smtClean="0">
                <a:solidFill>
                  <a:srgbClr val="8C7A6E"/>
                </a:solidFill>
                <a:latin typeface="Calibri"/>
              </a:rPr>
              <a:t>靜噪</a:t>
            </a:r>
            <a:r>
              <a:rPr lang="zh-TW" altLang="en-US" sz="1350" b="0" i="0" dirty="0" smtClean="0">
                <a:solidFill>
                  <a:srgbClr val="8C7A6E"/>
                </a:solidFill>
                <a:latin typeface="Calibri"/>
              </a:rPr>
              <a:t> </a:t>
            </a:r>
            <a:r>
              <a:rPr lang="en-US" altLang="zh-TW" sz="1350" b="0" i="0" dirty="0" smtClean="0">
                <a:solidFill>
                  <a:srgbClr val="8C7A6E"/>
                </a:solidFill>
                <a:latin typeface="Calibri"/>
              </a:rPr>
              <a:t>SQL</a:t>
            </a:r>
            <a:r>
              <a:rPr lang="zh-TW" altLang="en-US" sz="1350" b="0" i="0" dirty="0" smtClean="0">
                <a:solidFill>
                  <a:srgbClr val="8C7A6E"/>
                </a:solidFill>
                <a:latin typeface="Calibri"/>
              </a:rPr>
              <a:t> </a:t>
            </a:r>
            <a:r>
              <a:rPr lang="zh-TW" altLang="en-US" sz="1350" dirty="0" smtClean="0">
                <a:solidFill>
                  <a:srgbClr val="8C7A6E"/>
                </a:solidFill>
                <a:latin typeface="Calibri"/>
              </a:rPr>
              <a:t>設 </a:t>
            </a:r>
            <a:r>
              <a:rPr lang="en-US" altLang="zh-TW" sz="1350" dirty="0">
                <a:solidFill>
                  <a:srgbClr val="8C7A6E"/>
                </a:solidFill>
                <a:latin typeface="Calibri"/>
              </a:rPr>
              <a:t>0</a:t>
            </a:r>
            <a:r>
              <a:rPr sz="1350" b="0" i="0" dirty="0" smtClean="0">
                <a:solidFill>
                  <a:srgbClr val="8C7A6E"/>
                </a:solidFill>
                <a:latin typeface="Calibri"/>
              </a:rPr>
              <a:t>，聽有沒有訊號或雜音</a:t>
            </a:r>
            <a:r>
              <a:rPr lang="zh-TW" altLang="en-US" sz="1350" b="0" i="0" dirty="0" smtClean="0">
                <a:solidFill>
                  <a:srgbClr val="8C7A6E"/>
                </a:solidFill>
                <a:latin typeface="Calibri"/>
              </a:rPr>
              <a:t>，</a:t>
            </a:r>
            <a:r>
              <a:rPr sz="1350" b="0" i="0" dirty="0" err="1" smtClean="0">
                <a:solidFill>
                  <a:srgbClr val="8C7A6E"/>
                </a:solidFill>
                <a:latin typeface="Calibri"/>
              </a:rPr>
              <a:t>先分辨</a:t>
            </a:r>
            <a:r>
              <a:rPr sz="1350" b="0" i="0" dirty="0" err="1">
                <a:solidFill>
                  <a:srgbClr val="8C7A6E"/>
                </a:solidFill>
                <a:latin typeface="Calibri"/>
              </a:rPr>
              <a:t>「真沒訊號」還是「設定問題</a:t>
            </a:r>
            <a:r>
              <a:rPr sz="1350" b="0" i="0" dirty="0">
                <a:solidFill>
                  <a:srgbClr val="8C7A6E"/>
                </a:solidFill>
                <a:latin typeface="Calibri"/>
              </a:rPr>
              <a:t>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57400"/>
            <a:ext cx="35204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44568" y="2258568"/>
            <a:ext cx="2121408" cy="457200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② 分層照成本查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843784"/>
            <a:ext cx="3118103" cy="100583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350" b="0" i="0">
                <a:solidFill>
                  <a:srgbClr val="8C7A6E"/>
                </a:solidFill>
                <a:latin typeface="Calibri"/>
              </a:rPr>
              <a:t>設定(免費最常見)→ 實體(天線接頭＞高度視距＞功率)→ 系統(中繼位移/亞音、可達性、單點失效)。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057400"/>
            <a:ext cx="35204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47888" y="2258568"/>
            <a:ext cx="2779775" cy="457200"/>
          </a:xfrm>
          <a:prstGeom prst="roundRect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③ 一次一項＋找人對測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2843784"/>
            <a:ext cx="3118103" cy="100583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350" b="0" i="0">
                <a:solidFill>
                  <a:srgbClr val="8C7A6E"/>
                </a:solidFill>
                <a:latin typeface="Calibri"/>
              </a:rPr>
              <a:t>改一個參數就測一次；請隊友用另一台幫你聽，才分得出是「發不出」還是「收不到」。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10927080" cy="96012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450" b="1" i="0">
                <a:solidFill>
                  <a:srgbClr val="D99A5B"/>
                </a:solidFill>
                <a:latin typeface="Cambria"/>
              </a:rPr>
              <a:t>黃金順序　</a:t>
            </a:r>
            <a:r>
              <a:rPr sz="1350" b="0" i="0">
                <a:solidFill>
                  <a:srgbClr val="FBF7F2"/>
                </a:solidFill>
                <a:latin typeface="Calibri"/>
              </a:rPr>
              <a:t>先查五個免費設定——頻率／步進／寬窄／亞音／靜噪；再懷疑天線與距離(接頭鎖緊、架高、視距)；最後才動功率——功率不是萬靈丹(S3)。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收訊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聽不到、聽不清：症狀 → 怎麼查 → 怎麼解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2860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症狀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301752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可能原因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7432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怎麼查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288036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怎麼解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2860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完全沒聲音</a:t>
            </a:r>
            <a:endParaRPr b="1" i="0" dirty="0">
              <a:solidFill>
                <a:srgbClr val="A44E3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30175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沒對到頻率／靜噪太高／要亞音沒對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27432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lang="zh-TW" altLang="en-US" sz="1600" dirty="0" smtClean="0">
                <a:solidFill>
                  <a:srgbClr val="8C7A6E"/>
                </a:solidFill>
                <a:latin typeface="Calibri"/>
              </a:rPr>
              <a:t>設 </a:t>
            </a:r>
            <a:r>
              <a:rPr lang="en-US" altLang="zh-TW" sz="1600" dirty="0" smtClean="0">
                <a:solidFill>
                  <a:srgbClr val="8C7A6E"/>
                </a:solidFill>
                <a:latin typeface="Calibri"/>
              </a:rPr>
              <a:t>SQL =0</a:t>
            </a:r>
            <a:r>
              <a:rPr sz="1600" b="0" i="0" dirty="0" smtClean="0">
                <a:solidFill>
                  <a:srgbClr val="8C7A6E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監聽有沒有雜音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/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訊號；核對頻率與步進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288036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對頻＋對步進；降靜噪；關或對正亞音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401568"/>
            <a:ext cx="22860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聲音破、尖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401568"/>
            <a:ext cx="30175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對方寬頻、你窄頻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01568"/>
            <a:ext cx="27432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問對方是 W 還是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401568"/>
            <a:ext cx="288036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統一寬窄頻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187952"/>
            <a:ext cx="22860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聲音悶、小聲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187952"/>
            <a:ext cx="301752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對方窄頻、你寬頻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87952"/>
            <a:ext cx="27432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同上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187952"/>
            <a:ext cx="288036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統一寬窄頻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974336"/>
            <a:ext cx="22860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一直有雜音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974336"/>
            <a:ext cx="30175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訊號弱／靜噪太低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74336"/>
            <a:ext cx="27432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看 S 表格數低不低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4974336"/>
            <a:ext cx="288036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靠近／架高／換天線；調高靜噪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" y="2615184"/>
            <a:ext cx="22860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轉不到想要的頻率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35224" y="2615184"/>
            <a:ext cx="301752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步進設太大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52744" y="2615184"/>
            <a:ext cx="27432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試著轉到 145.0125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95944" y="2615184"/>
            <a:ext cx="288036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改小步進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發射與系統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發不出去、中繼與覆蓋：症狀 → 怎麼查 → 怎麼解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2860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症狀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83464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可能原因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306324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怎麼查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7432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怎麼解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286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別人都收不到我</a:t>
            </a:r>
            <a:endParaRPr b="1" i="0" dirty="0">
              <a:solidFill>
                <a:srgbClr val="A44E3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28346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天線沒鎖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/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接錯、</a:t>
            </a:r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功率太低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0" y="1828800"/>
            <a:ext cx="3063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檢查接頭公母、鎖緊；請隊友用另一台聽你發射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743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鎖緊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/</a:t>
            </a:r>
            <a:r>
              <a:rPr sz="1600" b="0" i="0" smtClean="0">
                <a:solidFill>
                  <a:srgbClr val="8C7A6E"/>
                </a:solidFill>
                <a:latin typeface="Calibri"/>
              </a:rPr>
              <a:t>換對接頭；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架高；</a:t>
            </a:r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適度功率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22860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直通不通、走中繼才通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8346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兩台互相聽不到(可達性)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743200"/>
            <a:ext cx="30632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隊友互相直呼看得到彼此嗎；是不是被地形擋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743200"/>
            <a:ext cx="27432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靠近／架高／走中繼台(第二節)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2286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開不了中繼台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657600"/>
            <a:ext cx="28346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入口亞音錯、位移方向或大小錯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657600"/>
            <a:ext cx="3063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對照中繼台的參數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657600"/>
            <a:ext cx="2743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設對入口亞音與位移(想一想)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22860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中繼台一倒全斷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572000"/>
            <a:ext cx="28346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星狀單點失效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572000"/>
            <a:ext cx="30632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4572000"/>
            <a:ext cx="27432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預留直通備援頻率、分散節點(第二節)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86400"/>
            <a:ext cx="2286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覆蓋不到遠隊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486400"/>
            <a:ext cx="28346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距離／地形超出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5486400"/>
            <a:ext cx="3063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看地形與視距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5486400"/>
            <a:ext cx="2743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高增益天線＋架高(天線＞功率)；中繼台延伸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分組任務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災難現場通訊計畫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用今天學到的每一個參數，替你的小隊做決定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分組任務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情境：一場地震後的現場通聯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2387810"/>
            <a:ext cx="10972800" cy="2651760"/>
          </a:xfrm>
          <a:prstGeom prst="roundRect">
            <a:avLst>
              <a:gd name="adj" fmla="val 10435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 sz="2800"/>
          </a:p>
        </p:txBody>
      </p:sp>
      <p:sp>
        <p:nvSpPr>
          <p:cNvPr id="5" name="Text 3"/>
          <p:cNvSpPr/>
          <p:nvPr/>
        </p:nvSpPr>
        <p:spPr>
          <a:xfrm>
            <a:off x="832104" y="2366412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000" b="1" dirty="0" err="1">
                <a:solidFill>
                  <a:srgbClr val="A44E36"/>
                </a:solidFill>
                <a:latin typeface="Cambria"/>
              </a:rPr>
              <a:t>情境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　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強震後市電中斷。你是新竹市現場指揮所民防通訊官，要替下列單位設計一份「能立即部署」的通訊計畫：指揮所（市區高點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）、搜救隊×3（分散山區與倒塌區，相距數公里、地形遮蔽）、後送隊×2（往醫院）。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可用器材：每人一台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2m/70cm 手持機（0.5–5 W）、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少量高增益天線、可選配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Meshtastic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節點；電力僅電池與少量太陽能；市內有一座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2m 中繼台可用（145.700 MHz，−0.6 MHz）。部分傷患名單需保密。指定主用頻段：2m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業餘頻段（需執照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）。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每組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3–4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人，交付頻率／亞音／功率／天線／資料鏈路／韌性都想清楚的計畫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分組任務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你要決定的七件事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1792224"/>
            <a:ext cx="457200" cy="457200"/>
          </a:xfrm>
          <a:prstGeom prst="ellipse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66420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頻率與步進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01168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各隊用哪些頻率？步進統一才不會互相壓到（S6）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7860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798063"/>
            <a:ext cx="457200" cy="45720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7004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寬 / 窄頻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01752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全體統一 W 還是 N？跨隊會不會不相容（S5）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8444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59" y="3803904"/>
            <a:ext cx="457200" cy="457200"/>
          </a:xfrm>
          <a:prstGeom prst="ellipse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75887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6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哪些用 H、哪些用 L？覆蓋 vs 耗電（S3）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9028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4809744"/>
            <a:ext cx="457200" cy="457200"/>
          </a:xfrm>
          <a:prstGeom prst="ellipse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681727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亞音與紀律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502920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要不要用亞音分隊？哪些話不能明語（S7）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7276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1792224"/>
            <a:ext cx="457200" cy="457200"/>
          </a:xfrm>
          <a:prstGeom prst="ellipse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166420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天線與架設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01168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要不要高增益、架高？機動隊選型（S4）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7860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800" y="2798063"/>
            <a:ext cx="457200" cy="45720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267004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中繼台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01752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要不要架？輸入／輸出／位移／亞音（想一想）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8444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0" y="3803904"/>
            <a:ext cx="457200" cy="457200"/>
          </a:xfrm>
          <a:prstGeom prst="ellipse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3675887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資料鏈路與韌性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402336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50" b="0" i="0">
                <a:solidFill>
                  <a:srgbClr val="8C7A6E"/>
                </a:solidFill>
                <a:latin typeface="Calibri"/>
              </a:rPr>
              <a:t>語音／位置(Meshtastic)／態勢圖(TAK)；星狀還是網狀備援、單點失效（第二節）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90288"/>
            <a:ext cx="5394960" cy="896112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450" b="1" i="0">
                <a:solidFill>
                  <a:srgbClr val="D99A5B"/>
                </a:solidFill>
                <a:latin typeface="Cambria"/>
              </a:rPr>
              <a:t>限制　</a:t>
            </a:r>
            <a:r>
              <a:rPr sz="1350" b="0" i="0">
                <a:solidFill>
                  <a:srgbClr val="FBF7F2"/>
                </a:solidFill>
                <a:latin typeface="Calibri"/>
              </a:rPr>
              <a:t>① 保密：業餘禁加密、免執照供應鏈存疑　② 電力：停電，算功耗與太陽能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092708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50" b="1" i="0">
                <a:solidFill>
                  <a:srgbClr val="A44E36"/>
                </a:solidFill>
                <a:latin typeface="Cambria"/>
              </a:rPr>
              <a:t>交付　</a:t>
            </a:r>
            <a:r>
              <a:rPr sz="1300" b="0" i="0">
                <a:solidFill>
                  <a:srgbClr val="8C7A6E"/>
                </a:solidFill>
                <a:latin typeface="Calibri"/>
              </a:rPr>
              <a:t>每組上台用一句「症狀 → 用哪個參數 → 為什麼」講一個你們預先擋掉的通訊故障。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參考答案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參考答案：新竹地震通訊計畫這樣配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03120" cy="420624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條件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4206240" cy="420624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參考答案（範例）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617720" cy="420624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為什麼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37944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頻率與步進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37944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各隊分配不同頻率、步進統一 12.5k；跨隊經中繼台一進一出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37944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頻率錯開不互壓、步進統一避免鄰頻重疊(S6)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04872"/>
            <a:ext cx="21031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寬 / 窄頻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04872"/>
            <a:ext cx="420624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全體窄頻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404872"/>
            <a:ext cx="46177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頻道多、可容納更多隊，語音夠用(S5)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71800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指揮所／中繼台 H；隊員平時 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971800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覆蓋 vs 省電；功率非萬靈丹(S3)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38728"/>
            <a:ext cx="21031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亞音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538728"/>
            <a:ext cx="420624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各隊不同入口亞音分隊；傷患個資不上明語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38728"/>
            <a:ext cx="46177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擋誤觸、分群(S7)；業餘頻段禁加密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05656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天線與架設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05656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指揮所／中繼台高增益且架高；隊員原廠短天線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105656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天線效益 &gt; 加功率(S4)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72584"/>
            <a:ext cx="21031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中繼台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672584"/>
            <a:ext cx="420624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架一座 2m 中繼台：145.700／−0.6／設入口亞音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672584"/>
            <a:ext cx="46177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手持直通蓋不住山區，中繼台延伸覆蓋(想一想)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9512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50" b="1" i="0">
                <a:solidFill>
                  <a:srgbClr val="A44E36"/>
                </a:solidFill>
                <a:latin typeface="Cambria"/>
              </a:rPr>
              <a:t>資料鏈路與韌性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239512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位置用 Meshtastic(太陽能)；TAK 走 802.11；中繼台倒了退回直通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5239512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語音+資料分工、避免單點失效(第二節)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06440"/>
            <a:ext cx="109270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8C7A6E"/>
                </a:solidFill>
                <a:latin typeface="Calibri"/>
              </a:rPr>
              <a:t>＊ 數字為範例，實際依頻率協調與現場而定；重點是每一項都說得出「為什麼」。需保密內容必須另規劃管道。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3819</Words>
  <Application>Microsoft Office PowerPoint</Application>
  <PresentationFormat>寬螢幕</PresentationFormat>
  <Paragraphs>673</Paragraphs>
  <Slides>48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4" baseType="lpstr">
      <vt:lpstr>微軟正黑體</vt:lpstr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Winson_Huang 黃仁聖 (HQ)</cp:lastModifiedBy>
  <cp:revision>17</cp:revision>
  <dcterms:created xsi:type="dcterms:W3CDTF">2026-08-22T02:39:20Z</dcterms:created>
  <dcterms:modified xsi:type="dcterms:W3CDTF">2026-08-22T10:17:08Z</dcterms:modified>
</cp:coreProperties>
</file>