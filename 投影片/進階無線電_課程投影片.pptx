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93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9324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收尾回扣開場：先看再猜。回扣色階——同一根訊號色階拉高看起來變窄，『看起來的寬度』不是佔用頻寬。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今天的七段路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41248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41248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462272" y="4315968"/>
            <a:ext cx="7388352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5422392" y="4315968"/>
            <a:ext cx="62910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   </a:t>
            </a:r>
            <a:r>
              <a:rPr lang="en-US" sz="13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模擬災難現場，替小隊設計通訊計畫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45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4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4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4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1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3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3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3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3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3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4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6"/>
          <p:cNvSpPr/>
          <p:nvPr/>
        </p:nvSpPr>
        <p:spPr>
          <a:xfrm>
            <a:off x="919025" y="3125724"/>
            <a:ext cx="819680" cy="2560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</p:sp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95615" y="2633472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  <p:sp>
        <p:nvSpPr>
          <p:cNvPr id="34" name="Shape 6"/>
          <p:cNvSpPr/>
          <p:nvPr/>
        </p:nvSpPr>
        <p:spPr>
          <a:xfrm>
            <a:off x="3214110" y="3075792"/>
            <a:ext cx="926950" cy="2560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</p:sp>
      <p:sp>
        <p:nvSpPr>
          <p:cNvPr id="6" name="Shape 4"/>
          <p:cNvSpPr/>
          <p:nvPr/>
        </p:nvSpPr>
        <p:spPr>
          <a:xfrm>
            <a:off x="2813420" y="2807207"/>
            <a:ext cx="938910" cy="267919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</p:sp>
      <p:sp>
        <p:nvSpPr>
          <p:cNvPr id="35" name="Shape 4"/>
          <p:cNvSpPr/>
          <p:nvPr/>
        </p:nvSpPr>
        <p:spPr>
          <a:xfrm>
            <a:off x="1247663" y="2824734"/>
            <a:ext cx="991945" cy="267919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</p:sp>
      <p:sp>
        <p:nvSpPr>
          <p:cNvPr id="5" name="Shape 3"/>
          <p:cNvSpPr/>
          <p:nvPr/>
        </p:nvSpPr>
        <p:spPr>
          <a:xfrm>
            <a:off x="1752600" y="2145075"/>
            <a:ext cx="1461695" cy="334132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</p:sp>
      <p:sp>
        <p:nvSpPr>
          <p:cNvPr id="10" name="Shape 8"/>
          <p:cNvSpPr/>
          <p:nvPr/>
        </p:nvSpPr>
        <p:spPr>
          <a:xfrm>
            <a:off x="-5944" y="39578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</p:sp>
    </p:spTree>
    <p:extLst>
      <p:ext uri="{BB962C8B-B14F-4D97-AF65-F5344CB8AC3E}">
        <p14:creationId xmlns:p14="http://schemas.microsoft.com/office/powerpoint/2010/main" val="10217030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Oval 29"/>
          <p:cNvSpPr/>
          <p:nvPr/>
        </p:nvSpPr>
        <p:spPr>
          <a:xfrm>
            <a:off x="1589382" y="3125724"/>
            <a:ext cx="819680" cy="2560320"/>
          </a:xfrm>
          <a:prstGeom prst="ellipse">
            <a:avLst/>
          </a:prstGeom>
          <a:solidFill>
            <a:srgbClr val="8AA08C">
              <a:alpha val="82000"/>
            </a:srgbClr>
          </a:solidFill>
          <a:ln w="12700">
            <a:solidFill>
              <a:srgbClr val="607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884467" y="3075792"/>
            <a:ext cx="926950" cy="2560320"/>
          </a:xfrm>
          <a:prstGeom prst="ellipse">
            <a:avLst/>
          </a:prstGeom>
          <a:solidFill>
            <a:srgbClr val="8AA08C">
              <a:alpha val="82000"/>
            </a:srgbClr>
          </a:solidFill>
          <a:ln w="12700">
            <a:solidFill>
              <a:srgbClr val="607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83777" y="2807207"/>
            <a:ext cx="938910" cy="2679192"/>
          </a:xfrm>
          <a:prstGeom prst="ellipse">
            <a:avLst/>
          </a:prstGeom>
          <a:solidFill>
            <a:srgbClr val="8AA08C">
              <a:alpha val="82000"/>
            </a:srgbClr>
          </a:solidFill>
          <a:ln w="12700">
            <a:solidFill>
              <a:srgbClr val="607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18020" y="2824734"/>
            <a:ext cx="991945" cy="2679192"/>
          </a:xfrm>
          <a:prstGeom prst="ellipse">
            <a:avLst/>
          </a:prstGeom>
          <a:solidFill>
            <a:srgbClr val="8AA08C">
              <a:alpha val="82000"/>
            </a:srgbClr>
          </a:solidFill>
          <a:ln w="12700">
            <a:solidFill>
              <a:srgbClr val="607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22957" y="2145075"/>
            <a:ext cx="1461695" cy="3341325"/>
          </a:xfrm>
          <a:prstGeom prst="ellipse">
            <a:avLst/>
          </a:prstGeom>
          <a:solidFill>
            <a:srgbClr val="8AA08C">
              <a:alpha val="82000"/>
            </a:srgbClr>
          </a:solidFill>
          <a:ln w="12700">
            <a:solidFill>
              <a:srgbClr val="6076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01462" y="3125724"/>
            <a:ext cx="819680" cy="2560320"/>
          </a:xfrm>
          <a:prstGeom prst="ellipse">
            <a:avLst/>
          </a:prstGeom>
          <a:solidFill>
            <a:srgbClr val="5A4038">
              <a:alpha val="88000"/>
            </a:srgbClr>
          </a:solidFill>
          <a:ln w="12700">
            <a:solidFill>
              <a:srgbClr val="8A6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096547" y="3075792"/>
            <a:ext cx="926950" cy="2560320"/>
          </a:xfrm>
          <a:prstGeom prst="ellipse">
            <a:avLst/>
          </a:prstGeom>
          <a:solidFill>
            <a:srgbClr val="5A4038">
              <a:alpha val="88000"/>
            </a:srgbClr>
          </a:solidFill>
          <a:ln w="12700">
            <a:solidFill>
              <a:srgbClr val="8A6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95857" y="2807207"/>
            <a:ext cx="938910" cy="2679192"/>
          </a:xfrm>
          <a:prstGeom prst="ellipse">
            <a:avLst/>
          </a:prstGeom>
          <a:solidFill>
            <a:srgbClr val="5A4038">
              <a:alpha val="88000"/>
            </a:srgbClr>
          </a:solidFill>
          <a:ln w="12700">
            <a:solidFill>
              <a:srgbClr val="8A6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130100" y="2824734"/>
            <a:ext cx="991945" cy="2679192"/>
          </a:xfrm>
          <a:prstGeom prst="ellipse">
            <a:avLst/>
          </a:prstGeom>
          <a:solidFill>
            <a:srgbClr val="5A4038">
              <a:alpha val="88000"/>
            </a:srgbClr>
          </a:solidFill>
          <a:ln w="12700">
            <a:solidFill>
              <a:srgbClr val="8A6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35037" y="2145075"/>
            <a:ext cx="1461695" cy="3341325"/>
          </a:xfrm>
          <a:prstGeom prst="ellipse">
            <a:avLst/>
          </a:prstGeom>
          <a:solidFill>
            <a:srgbClr val="5A4038">
              <a:alpha val="88000"/>
            </a:srgbClr>
          </a:solidFill>
          <a:ln w="12700">
            <a:solidFill>
              <a:srgbClr val="8A6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動動腦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72800" cy="841248"/>
          </a:xfrm>
          <a:prstGeom prst="roundRect">
            <a:avLst>
              <a:gd name="adj" fmla="val 1304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463040"/>
            <a:ext cx="10424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　</a:t>
            </a:r>
            <a:r>
              <a:rPr lang="en-US" sz="14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你要在你們的區域架一座 2m 中繼台（同時收、同時發）。用學過的概念決定它的參數——每一項都要說得出「為什麼」。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77824" y="2743200"/>
            <a:ext cx="548640" cy="54864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輸入 / 輸出頻率與位移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600200" y="3035808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6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輸入輸出要差多遠？往上還是往下？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600200" y="3364992"/>
            <a:ext cx="4434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　</a:t>
            </a: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為什麼不能只差 12.5 kHz？（回想：保護頻帶＋它同時在收也在發）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2487168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01384" y="2743200"/>
            <a:ext cx="548640" cy="54864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4" name="Text 12"/>
          <p:cNvSpPr/>
          <p:nvPr/>
        </p:nvSpPr>
        <p:spPr>
          <a:xfrm>
            <a:off x="6501384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22376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亞音（存取）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223760" y="3035808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中繼台要不要要求開台亞音？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223760" y="3364992"/>
            <a:ext cx="4434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　</a:t>
            </a: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設它是為了擋住雜訊誤觸——但它不加密，話還是明語（S6）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77824" y="4370832"/>
            <a:ext cx="548640" cy="548640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20" name="Text 18"/>
          <p:cNvSpPr/>
          <p:nvPr/>
        </p:nvSpPr>
        <p:spPr>
          <a:xfrm>
            <a:off x="877824" y="4370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00200" y="42793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功率與架設位置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600200" y="4663440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多大功率？架多高？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600200" y="4992624"/>
            <a:ext cx="4434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　</a:t>
            </a: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中繼台要覆蓋廣所以架高、功率大；但也把干擾半徑放大（S3）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4114800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01384" y="4370832"/>
            <a:ext cx="548640" cy="548640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4370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23760" y="42793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和鄰台的協調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223760" y="4663440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會不會和附近的中繼台打架？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223760" y="4992624"/>
            <a:ext cx="4434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　</a:t>
            </a: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鄰台的輸入/輸出若太近，就是放大版的鄰頻重疊（S5）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562356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14400" y="56235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四個容易翻車的地方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位移方向設反 · 亞音設錯 · 和鄰台輸入輸出打架 · 位移太小（它自己的發射會干擾自己的接收）。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4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4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10515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　</a:t>
            </a:r>
            <a:r>
              <a:rPr lang="en-US" sz="14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強震後，你的單位要在倒塌現場展開三支小隊：指揮所、搜救隊、後送隊。每組 3–4 人，替全體設計一份能實際運作的通訊計畫。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3136392"/>
            <a:ext cx="603504" cy="60350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頻率與步進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各隊用哪些頻率？步進怎麼設，才不會互相壓到？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3136392"/>
            <a:ext cx="603504" cy="60350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4652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2376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22376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全體統一 W 還是 N？跨隊會不會一個破一個太小？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709160"/>
            <a:ext cx="603504" cy="60350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4592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哪些情境用 H、哪些用 L？怎麼兼顧覆蓋與耗電？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4709160"/>
            <a:ext cx="603504" cy="603504"/>
          </a:xfrm>
          <a:prstGeom prst="ellipse">
            <a:avLst/>
          </a:prstGeom>
          <a:solidFill>
            <a:srgbClr val="5A4038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2376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亞音與紀律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2376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要不要用亞音分隊？哪些話設了亞音也不能明語講？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交付：每組上台用一句「症狀 → 用哪個參數 → 為什麼」講一個你們預先擋掉的通訊故障。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4480560"/>
            <a:ext cx="2011680" cy="201168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317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先看再猜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對方有沒有發、發在哪個頻率、訊號寬不寬——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SDR 三秒就有答案，用嘴問可能繞十分鐘。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2982</Words>
  <Application>Microsoft Office PowerPoint</Application>
  <PresentationFormat>寬螢幕</PresentationFormat>
  <Paragraphs>537</Paragraphs>
  <Slides>38</Slides>
  <Notes>38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2" baseType="lpstr"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2</cp:revision>
  <dcterms:created xsi:type="dcterms:W3CDTF">2026-08-22T02:39:20Z</dcterms:created>
  <dcterms:modified xsi:type="dcterms:W3CDTF">2026-08-22T03:30:58Z</dcterms:modified>
</cp:coreProperties>
</file>