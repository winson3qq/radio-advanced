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5" r:id="rId19"/>
    <p:sldId id="296" r:id="rId20"/>
    <p:sldId id="297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5" r:id="rId33"/>
    <p:sldId id="286" r:id="rId34"/>
    <p:sldId id="287" r:id="rId35"/>
    <p:sldId id="288" r:id="rId36"/>
    <p:sldId id="293" r:id="rId37"/>
    <p:sldId id="284" r:id="rId38"/>
    <p:sldId id="294" r:id="rId39"/>
    <p:sldId id="289" r:id="rId40"/>
    <p:sldId id="298" r:id="rId49"/>
    <p:sldId id="290" r:id="rId41"/>
    <p:sldId id="291" r:id="rId42"/>
    <p:sldId id="299" r:id="rId50"/>
    <p:sldId id="292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3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4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40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收尾回扣開場：先看再猜。回扣色階——同一根訊號色階拉高看起來變窄，『看起來的寬度』不是佔用頻寬。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今天的八段路 + 一個任務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1248" y="197510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8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看懂這張圖，後面才聽得懂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663440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63440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394960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位置、VHF/UHF、傳播環境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84464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485632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485632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17152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17152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 = 相對強度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62272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663440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63440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94960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5394960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面板寫頻寬，其實設的是上限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84464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485632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485632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217152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217152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最小跳動單位，別壓到隔壁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841247" y="4553712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41247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572768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1572768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62272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663440" y="4553712"/>
            <a:ext cx="566928" cy="566928"/>
          </a:xfrm>
          <a:prstGeom prst="ellipse">
            <a:avLst/>
          </a:prstGeom>
          <a:solidFill>
            <a:srgbClr val="8C7A6E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66344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394960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394960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讓喇叭安靜，但電波照舊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284464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485632" y="4553712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8485632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217152" y="4407407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分組任務</a:t>
            </a:r>
            <a:endParaRPr lang="en-US" sz="1800" dirty="0"/>
          </a:p>
          <a:p>
            <a:pPr algn="l"/>
            <a:r>
              <a:rPr sz="1200">
                <a:solidFill>
                  <a:srgbClr val="8C7A6E"/>
                </a:solidFill>
                <a:latin typeface="Calibri"/>
              </a:rPr>
              <a:t>替小隊設計通訊計畫</a:t>
            </a:r>
          </a:p>
        </p:txBody>
      </p:sp>
      <p:sp>
        <p:nvSpPr>
          <p:cNvPr id="43" name="Shape 2"/>
          <p:cNvSpPr/>
          <p:nvPr/>
        </p:nvSpPr>
        <p:spPr>
          <a:xfrm>
            <a:off x="640080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Shape 3"/>
          <p:cNvSpPr/>
          <p:nvPr/>
        </p:nvSpPr>
        <p:spPr>
          <a:xfrm>
            <a:off x="841247" y="3264408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Text 4"/>
          <p:cNvSpPr/>
          <p:nvPr/>
        </p:nvSpPr>
        <p:spPr>
          <a:xfrm>
            <a:off x="841247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6" name="Text 5"/>
          <p:cNvSpPr/>
          <p:nvPr/>
        </p:nvSpPr>
        <p:spPr>
          <a:xfrm>
            <a:off x="1572768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</a:t>
            </a:r>
            <a:endParaRPr lang="en-US" sz="1900" dirty="0"/>
          </a:p>
        </p:txBody>
      </p:sp>
      <p:sp>
        <p:nvSpPr>
          <p:cNvPr id="47" name="Text 6"/>
          <p:cNvSpPr/>
          <p:nvPr/>
        </p:nvSpPr>
        <p:spPr>
          <a:xfrm>
            <a:off x="1572768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增益＝把功率集中，打得更遠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 The Waterfall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60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6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200961" y="2348865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200961" y="23488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2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45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45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45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45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0" descr="C:\Users\10004782\AppData\Local\Temp\claude\D--MyProject-RadioAdvance\b11d5773-524b-456b-b03a-3ee843661b40\scratchpad\deck\assets\pwr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29000"/>
            <a:ext cx="2487168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1" descr="C:\Users\10004782\AppData\Local\Temp\claude\D--MyProject-RadioAdvance\b11d5773-524b-456b-b03a-3ee843661b40\scratchpad\deck\assets\pwr_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429000"/>
            <a:ext cx="2487168" cy="131673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實測小提醒　</a:t>
            </a:r>
            <a:r>
              <a:rPr lang="en-US" sz="14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上面這組 H/L 距離太近、都接近滿檔，差異看不太出來——這本身就是 Demo 2 的重點：太近時 H 和 L 都頂到天花板，要先拉遠或加衰減再比。（此組待重拍）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 Antenna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 ＝ 把功率集中打出去；頻率、接頭要對得上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「天線隨便接就好」　→　頻率要對、增益看場景、接頭要對得上，接錯就白費功率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天線增益：把功率「集中」打出去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4069080" y="1463040"/>
            <a:ext cx="7498079" cy="8686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同樣的發射功率，</a:t>
            </a:r>
            <a:r>
              <a:rPr sz="1200" b="1" i="0">
                <a:solidFill>
                  <a:srgbClr val="A44E36"/>
                </a:solidFill>
                <a:latin typeface="Calibri"/>
              </a:rPr>
              <a:t>天線把能量往水平方向「壓扁、集中」</a:t>
            </a:r>
            <a:r>
              <a:rPr sz="1200" b="0" i="0">
                <a:solidFill>
                  <a:srgbClr val="8C7A6E"/>
                </a:solidFill>
                <a:latin typeface="Calibri"/>
              </a:rPr>
              <a:t>，等效輻射功率(ERP)更大——打得更遠。增益越高越集中，但仰角越窄。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70248" y="2697480"/>
            <a:ext cx="1325880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短·低增益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約 0 dBd。輻射接近全向、仰角廣。近距離、車上/移動、收發角度大時好用。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30568" y="2697480"/>
            <a:ext cx="132588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中·中增益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056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折疊/加長型。集中度與角度折衷，通用性高。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90888" y="2697480"/>
            <a:ext cx="1325880" cy="402336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長·高增益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9088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約 3–6 dBd。能量壓低集中、打最遠；但仰角窄，定點/基地台較適合。</a:t>
            </a:r>
          </a:p>
        </p:txBody>
      </p:sp>
      <p:pic>
        <p:nvPicPr>
          <p:cNvPr id="16" name="Picture 15" descr="antenna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23737"/>
            <a:ext cx="3200400" cy="4679205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7" name="Rounded Rectangle 16"/>
          <p:cNvSpPr/>
          <p:nvPr/>
        </p:nvSpPr>
        <p:spPr>
          <a:xfrm>
            <a:off x="4069080" y="4526280"/>
            <a:ext cx="7498079" cy="173736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45152" y="4782312"/>
            <a:ext cx="768096" cy="768096"/>
          </a:xfrm>
          <a:prstGeom prst="ellipse">
            <a:avLst/>
          </a:prstGeom>
          <a:noFill/>
          <a:ln w="2540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029200" y="4892040"/>
            <a:ext cx="0" cy="54864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29200" y="4599432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5166360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462272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9200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114800" y="5623560"/>
            <a:ext cx="182880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150" b="1" i="0">
                <a:solidFill>
                  <a:srgbClr val="43312A"/>
                </a:solidFill>
                <a:latin typeface="Cambria"/>
              </a:rPr>
              <a:t>低增益·四面八方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916168"/>
            <a:ext cx="18288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(上下也射掉＝浪費)</a:t>
            </a:r>
          </a:p>
        </p:txBody>
      </p:sp>
      <p:sp>
        <p:nvSpPr>
          <p:cNvPr id="26" name="Oval 25"/>
          <p:cNvSpPr/>
          <p:nvPr/>
        </p:nvSpPr>
        <p:spPr>
          <a:xfrm>
            <a:off x="6446520" y="4910328"/>
            <a:ext cx="1737360" cy="512064"/>
          </a:xfrm>
          <a:prstGeom prst="ellipse">
            <a:avLst/>
          </a:prstGeom>
          <a:noFill/>
          <a:ln w="31750">
            <a:solidFill>
              <a:srgbClr val="A44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7315200" y="4937760"/>
            <a:ext cx="0" cy="45720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897880" y="5166360"/>
            <a:ext cx="548640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83879" y="5166360"/>
            <a:ext cx="548641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17920" y="5623560"/>
            <a:ext cx="219456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150" b="1" i="0">
                <a:solidFill>
                  <a:srgbClr val="A44E36"/>
                </a:solidFill>
                <a:latin typeface="Cambria"/>
              </a:rPr>
              <a:t>高增益·壓扁→打更遠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89320" y="5166360"/>
            <a:ext cx="411480" cy="0"/>
          </a:xfrm>
          <a:prstGeom prst="line">
            <a:avLst/>
          </a:prstGeom>
          <a:ln w="25400">
            <a:solidFill>
              <a:srgbClr val="43312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806440" y="4709160"/>
            <a:ext cx="82296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050" b="1" i="0">
                <a:solidFill>
                  <a:srgbClr val="43312A"/>
                </a:solidFill>
                <a:latin typeface="Cambria"/>
              </a:rPr>
              <a:t>收攏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4617720"/>
            <a:ext cx="2468880" cy="155448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D99A5B"/>
                </a:solidFill>
                <a:latin typeface="Calibri"/>
              </a:rPr>
              <a:t>增益不是憑空生出功率——</a:t>
            </a:r>
          </a:p>
          <a:p>
            <a:pPr algn="l"/>
            <a:r>
              <a:rPr sz="1250" b="0" i="0">
                <a:solidFill>
                  <a:srgbClr val="FBF7F2"/>
                </a:solidFill>
                <a:latin typeface="Calibri"/>
              </a:rPr>
              <a:t>把原本往天上、地面浪費的能量，收回到水平方向。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挑天線看三件事：頻率、增益、接頭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3474720"/>
            <a:ext cx="1152144" cy="402336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① 頻率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天線有設計頻段（例：標示 FM 136–174 / 400–480MHz ＝ V/U 雙頻）。用在對的頻段才有效率；不對會駐波比(SWR)高、功率被反射回機身。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17136" y="3474720"/>
            <a:ext cx="219456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② 增益(gain)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常見 dBi / dBd（dBd＝dBi−2.15）。越高打越遠，但波束越扁、仰角越窄。手持/移動未必越高越好。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3024" y="3474720"/>
            <a:ext cx="1499616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③ 接頭規格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常見 SMA-公 / SMA-母 / BNC…。母機與天線的公母、螺紋要對得上；接錯裝不上或接觸不良、功率漏失。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70448"/>
            <a:ext cx="1092708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250" b="1">
                <a:solidFill>
                  <a:srgbClr val="A44E36"/>
                </a:solidFill>
                <a:latin typeface="Cambria"/>
              </a:rPr>
              <a:t>接頭辨識　</a:t>
            </a:r>
            <a:r>
              <a:rPr sz="1150" b="0">
                <a:solidFill>
                  <a:srgbClr val="8C7A6E"/>
                </a:solidFill>
                <a:latin typeface="Calibri"/>
              </a:rPr>
              <a:t>① 左（紅圈標 136-174/400-480 雙頻）與 ② 中＝SMA 母頭（中央凹孔）；③ 右＝SMA 公頭（中央有針）。判斷法：中央有針＝公、凹孔＝母，天線要和機身「相反」才鎖得上。SMA 與 RP-SMA 外觀近似，買前先確認機身規格。</a:t>
            </a:r>
          </a:p>
        </p:txBody>
      </p:sp>
      <p:pic>
        <p:nvPicPr>
          <p:cNvPr id="15" name="Picture 14" descr="antenna_conn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302" y="1417320"/>
            <a:ext cx="4786634" cy="1691640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6" name="Rounded Rectangle 15"/>
          <p:cNvSpPr/>
          <p:nvPr/>
        </p:nvSpPr>
        <p:spPr>
          <a:xfrm>
            <a:off x="406682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① 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54953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② 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240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③ 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6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5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</a:t>
            </a:r>
            <a:r>
              <a:rPr b="1" i="0" smtClean="0">
                <a:solidFill>
                  <a:srgbClr val="8C7A6E"/>
                </a:solidFill>
              </a:rPr>
              <a:t>？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9755" y="3044952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50" b="1" i="0" dirty="0" err="1">
                <a:solidFill>
                  <a:srgbClr val="FFFFFF"/>
                </a:solidFill>
                <a:latin typeface="Cambria"/>
              </a:rPr>
              <a:t>中繼台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  <a:p>
            <a:pPr algn="ctr"/>
            <a:r>
              <a:rPr sz="1000" b="0" i="0" dirty="0" err="1">
                <a:solidFill>
                  <a:srgbClr val="FBF7F2"/>
                </a:solidFill>
                <a:latin typeface="Calibri"/>
              </a:rPr>
              <a:t>同時收＋發</a:t>
            </a:r>
            <a:endParaRPr sz="900" b="0" i="0" dirty="0">
              <a:solidFill>
                <a:srgbClr val="FBF7F2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659865" y="4935071"/>
            <a:ext cx="952813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5649" y="4935071"/>
            <a:ext cx="1028611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>
            <a:stCxn id="8" idx="0"/>
            <a:endCxn id="5" idx="2"/>
          </p:cNvCxnSpPr>
          <p:nvPr/>
        </p:nvCxnSpPr>
        <p:spPr>
          <a:xfrm flipV="1">
            <a:off x="4136272" y="3703320"/>
            <a:ext cx="1607863" cy="1231751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9" idx="0"/>
          </p:cNvCxnSpPr>
          <p:nvPr/>
        </p:nvCxnSpPr>
        <p:spPr>
          <a:xfrm>
            <a:off x="5744135" y="3703320"/>
            <a:ext cx="1465820" cy="1231751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參考答案：一座 2m 中繼台這樣設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14884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參數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737360"/>
            <a:ext cx="274320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737360"/>
            <a:ext cx="5879592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為什麼這樣設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5798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　能通話的最低必要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05456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輸出頻率（你收）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05456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145.600 MHz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05456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這是公布出去的中繼台頻率——大家把它設進「接收」。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輸入頻率（你發）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054096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145.000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54096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＝ 輸出 − 位移；中繼台就在這個頻率「聽」你發話。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02736"/>
            <a:ext cx="214884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位移（方向＋大小）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602736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−600 kHz（向下）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02736"/>
            <a:ext cx="5879592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2m 標準位移 600 kHz。要夠大——中繼台同時收發，太近會「自己蓋掉自己」、保護頻帶也不足（S6）。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6110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　讓它好用、不互擾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214884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亞音（存取）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08576"/>
            <a:ext cx="274320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開，88.5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4608576"/>
            <a:ext cx="5879592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擋雜訊與鄰台誤觸、避免亂開台；但它不加密，話仍是明語（S7）。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發射功率＋架高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230368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大功率、架高處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5230368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中繼台要覆蓋廣，所以架高、功率大（S3）；但干擾半徑同時放大，要協調。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79007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與鄰台協調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779007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頻率／亞音錯開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5779007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鄰台的輸入／輸出若太近，就是放大版的鄰頻重疊（S6）。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1"/>
            <a:ext cx="10908792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150" b="0" i="1">
                <a:solidFill>
                  <a:srgbClr val="8C7A6E"/>
                </a:solidFill>
                <a:latin typeface="Calibri"/>
              </a:rPr>
              <a:t>＊ 範例數字依當地 2m 頻段規劃與頻率協調而定；重點是每一項都「說得出為什麼」。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靜噪：讓喇叭閉嘴，但電波照舊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6400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0" i="0">
                <a:solidFill>
                  <a:srgbClr val="8C7A6E"/>
                </a:solidFill>
                <a:latin typeface="Calibri"/>
              </a:rPr>
              <a:t>靜噪(Squelch) ＝ 設一個訊號強度門檻，低於門檻喇叭就靜音，免得整天聽白噪音。</a:t>
            </a:r>
            <a:r>
              <a:rPr sz="1350" b="1" i="0">
                <a:solidFill>
                  <a:srgbClr val="A44E36"/>
                </a:solidFill>
                <a:latin typeface="Calibri"/>
              </a:rPr>
              <a:t>它只關喇叭，不動電波。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520439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441448"/>
            <a:ext cx="1975104" cy="420624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載波靜噪 CSQ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2971800"/>
            <a:ext cx="3118103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只看訊號強度：夠強就開喇叭。設太高→弱訊號漏接；設太低→一直有雜音。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40280"/>
            <a:ext cx="3520439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44568" y="2441448"/>
            <a:ext cx="2377440" cy="420624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亞音靜噪 CTCSS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971800"/>
            <a:ext cx="3118103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除了強度，還要對到亞音才開喇叭(S7)。用來分隊、擋鄰台誤觸。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240280"/>
            <a:ext cx="3520439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47888" y="2441448"/>
            <a:ext cx="1773936" cy="420624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監聽 MONI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2971800"/>
            <a:ext cx="3118103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手動壓住可暫時打開靜噪，聽聽看有沒有很微弱的訊號。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927080" cy="141732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一句話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三種都只關『你的喇叭』——電波照發、別人照收，沒有一種能保密。收不到時先想：是靜噪設太高，還是真的沒訊號？用 SDR 瀑布圖一看就知道：瀑布圖上有訊號但喇叭沒聲＝靜噪太高；瀑布圖乾淨＝真的沒訊號。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10515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300" b="1">
                <a:solidFill>
                  <a:srgbClr val="A44E36"/>
                </a:solidFill>
                <a:latin typeface="Cambria"/>
              </a:rPr>
              <a:t>情境</a:t>
            </a:r>
            <a:r>
              <a:rPr sz="1250" b="0">
                <a:solidFill>
                  <a:srgbClr val="8C7A6E"/>
                </a:solidFill>
                <a:latin typeface="Calibri"/>
              </a:rPr>
              <a:t>　強震後市電中斷。你是新竹市現場指揮所民防通訊官，要替下列單位設計一份「能立即部署」的通訊計畫：指揮所（市區高點）、搜救隊×3（分散山區與倒塌區，相距數公里、地形遮蔽）、後送隊×2（往醫院）。可用器材：每人一台 2m/70cm 手持機（0.5–5 W）、少量高增益天線、可選配 Meshtastic 節點；電力僅電池與少量太陽能；市內有一座 2m 中繼台可用（145.700 MHz，−0.6 MHz）。部分傷患名單需保密。指定主用頻段：2m 業餘頻段（需執照）。每組 3–4 人，交付頻率／亞音／功率／天線／資料鏈路／韌性都想清楚的計畫。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68680" y="3136392"/>
            <a:ext cx="603504" cy="60350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313639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3063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頻率與步進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3483864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各隊用哪些頻率？步進怎麼設，才不會互相壓到？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46520" y="3136392"/>
            <a:ext cx="603504" cy="60350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46520" y="313639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23760" y="3063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223760" y="3483864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全體統一 W 還是 N？跨隊會不會一個破一個太小？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453128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68680" y="4709160"/>
            <a:ext cx="603504" cy="60350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68680" y="4709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45920" y="46360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5056632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哪些情境用 H、哪些用 L？怎麼兼顧覆蓋與耗電？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4453128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446520" y="4709160"/>
            <a:ext cx="603504" cy="603504"/>
          </a:xfrm>
          <a:prstGeom prst="ellipse">
            <a:avLst/>
          </a:prstGeom>
          <a:solidFill>
            <a:srgbClr val="5A4038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46520" y="4709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223760" y="46360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亞音與紀律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23760" y="5056632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要不要用亞音分隊？哪些話設了亞音也不能明語講？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交付：每組上台用一句「症狀 → 用哪個參數 → 為什麼」講一個你們預先擋掉的通訊故障。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進階條件：把兩節課接起來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6400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0" i="0">
                <a:solidFill>
                  <a:srgbClr val="8C7A6E"/>
                </a:solidFill>
                <a:latin typeface="Calibri"/>
              </a:rPr>
              <a:t>核心 4 項（頻率步進／寬窄頻／功率／亞音）是及格線。</a:t>
            </a:r>
            <a:r>
              <a:rPr sz="1350" b="1" i="0">
                <a:solidFill>
                  <a:srgbClr val="A44E36"/>
                </a:solidFill>
                <a:latin typeface="Calibri"/>
              </a:rPr>
              <a:t>要讓計畫真的運作、並用上其他無線技術，再加下面幾條：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59461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395728"/>
            <a:ext cx="2176272" cy="420624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⑤ 天線 (S4)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2926080"/>
            <a:ext cx="2192274" cy="10515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指揮所要不要高增益、架高？機動隊選什麼天線？——效益遠大於加功率。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7570" y="2194560"/>
            <a:ext cx="259461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18738" y="2395728"/>
            <a:ext cx="1371600" cy="420624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⑥ 中繼台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8738" y="2926080"/>
            <a:ext cx="2192274" cy="10515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單靠手持直通蓋得住整個災區嗎？要不要架中繼台？輸入/輸出/位移/亞音怎麼設？(想一想)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2194560"/>
            <a:ext cx="259461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96228" y="2395728"/>
            <a:ext cx="1773936" cy="420624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⑦ 資料/語音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6228" y="2926080"/>
            <a:ext cx="2192274" cy="10515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語音用手持機；位置回報用 Meshtastic（低功耗、可太陽能）；要態勢圖(TAK)就得有 IP 網路(802.11)。(第二節)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2550" y="2194560"/>
            <a:ext cx="259461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73718" y="2395728"/>
            <a:ext cx="1572768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⑧ 拓樸韌性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73718" y="2926080"/>
            <a:ext cx="2192274" cy="10515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星狀(靠中繼台)還是有網狀備援？中繼台／基地台倒了（單點失效）怎麼辦？(第二節)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43400"/>
            <a:ext cx="10927080" cy="123444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兩個一定要想到的限制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① 保密：業餘頻段禁加密、免執照頻段硬體供應鏈存疑——需要保密的內容不能走這些明語管道，要另外規劃。② 電力：災區可能停電，把功耗與供電（太陽能）算進計畫。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669280"/>
            <a:ext cx="1092708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評分　</a:t>
            </a:r>
            <a:r>
              <a:rPr sz="1300" b="0" i="0">
                <a:solidFill>
                  <a:srgbClr val="8C7A6E"/>
                </a:solidFill>
                <a:latin typeface="Calibri"/>
              </a:rPr>
              <a:t>至少用上 PPT 每一個參數、且說得出為什麼；有用到第二節的技術（Meshtastic／TAK／mesh／中繼台）加分。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692640" y="-164592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9966960" y="4480560"/>
            <a:ext cx="2011680" cy="201168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先看再猜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對方有沒有發、發在哪個頻率、訊號寬不寬——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SDR 三秒就有答案，用嘴問可能繞十分鐘。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kern="0" spc="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3210</Words>
  <Application>Microsoft Office PowerPoint</Application>
  <PresentationFormat>寬螢幕</PresentationFormat>
  <Paragraphs>557</Paragraphs>
  <Slides>42</Slides>
  <Notes>37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42</vt:i4>
      </vt:variant>
    </vt:vector>
  </HeadingPairs>
  <TitlesOfParts>
    <vt:vector size="47" baseType="lpstr"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11</cp:revision>
  <dcterms:created xsi:type="dcterms:W3CDTF">2026-08-22T02:39:20Z</dcterms:created>
  <dcterms:modified xsi:type="dcterms:W3CDTF">2026-08-22T07:48:58Z</dcterms:modified>
</cp:coreProperties>
</file>