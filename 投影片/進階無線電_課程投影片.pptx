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收尾回扣開場：先看再猜。回扣色階——同一根訊號色階拉高看起來變窄，『看起來的寬度』不是佔用頻寬。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今天的七段路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41248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41248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462272" y="4315968"/>
            <a:ext cx="7388352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5422392" y="4315968"/>
            <a:ext cx="62910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   </a:t>
            </a:r>
            <a:pPr indent="0" marL="0">
              <a:buNone/>
            </a:pPr>
            <a:r>
              <a:rPr lang="en-US" sz="13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模擬災難現場，替小隊設計通訊計畫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pPr indent="0" marL="0">
              <a:buNone/>
            </a:pP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pPr indent="0" marL="0">
              <a:buNone/>
            </a:pP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s1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pPr indent="0" marL="0">
              <a:buNone/>
            </a:pPr>
            <a:r>
              <a:rPr lang="en-US" sz="145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pPr indent="0" marL="0">
              <a:buNone/>
            </a:pPr>
            <a:r>
              <a:rPr lang="en-US" sz="14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pPr indent="0" marL="0">
              <a:buNone/>
            </a:pPr>
            <a:r>
              <a:rPr lang="en-US" sz="14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pPr indent="0" marL="0">
              <a:buNone/>
            </a:pP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f_144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pPr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pPr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pPr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pPr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pPr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pPr indent="0" marL="0">
              <a:buNone/>
            </a:pP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s1_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pPr indent="0" marL="0">
              <a:buNone/>
            </a:pP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pPr indent="0" marL="0">
              <a:buNone/>
            </a:pP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pPr indent="0" marL="0">
              <a:buNone/>
            </a:pP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pPr indent="0" marL="0">
              <a:buNone/>
            </a:pP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pPr indent="0" marL="0">
              <a:buNone/>
            </a:pP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pPr indent="0" marL="0">
              <a:buNone/>
            </a:pP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f_1449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9" name="Image 1" descr="C:\Users\10004782\AppData\Local\Temp\claude\D--MyProject-RadioAdvance\b11d5773-524b-456b-b03a-3ee843661b40\scratchpad\deck\assets\f_145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13" name="Image 2" descr="C:\Users\10004782\AppData\Local\Temp\claude\D--MyProject-RadioAdvance\b11d5773-524b-456b-b03a-3ee843661b40\scratchpad\deck\assets\f_145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pPr algn="ctr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pPr algn="ctr" indent="0" marL="0">
              <a:lnSpc>
                <a:spcPct val="95000"/>
              </a:lnSpc>
              <a:buNone/>
            </a:pPr>
            <a:r>
              <a:rPr lang="en-US" sz="13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pPr algn="ctr" indent="0" marL="0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pPr algn="ctr" indent="0" marL="0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pPr indent="0" marL="0">
              <a:buNone/>
            </a:pP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pPr indent="0" marL="0">
              <a:buNone/>
            </a:pP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pPr indent="0" marL="0">
              <a:buNone/>
            </a:pP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pPr algn="ctr" indent="0" marL="0">
              <a:lnSpc>
                <a:spcPct val="100000"/>
              </a:lnSpc>
              <a:buNone/>
            </a:pP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pPr algn="ctr" indent="0" marL="0">
              <a:lnSpc>
                <a:spcPct val="100000"/>
              </a:lnSpc>
              <a:buNone/>
            </a:pP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pPr algn="ctr" indent="0" marL="0">
              <a:buNone/>
            </a:pP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pPr algn="ctr" indent="0" marL="0">
              <a:buNone/>
            </a:pP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pPr indent="0" marL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pPr indent="0" marL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pPr indent="0" marL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pPr indent="0" marL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pPr indent="0" marL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pPr indent="0" marL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pPr indent="0" marL="0">
              <a:buNone/>
            </a:pP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pPr indent="0" marL="0">
              <a:buNone/>
            </a:pP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pPr indent="0" marL="0">
              <a:buNone/>
            </a:pP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17" name="Image 0" descr="C:\Users\10004782\AppData\Local\Temp\claude\D--MyProject-RadioAdvance\b11d5773-524b-456b-b03a-3ee843661b40\scratchpad\deck\assets\pwr_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19" name="Image 1" descr="C:\Users\10004782\AppData\Local\Temp\claude\D--MyProject-RadioAdvance\b11d5773-524b-456b-b03a-3ee843661b40\scratchpad\deck\assets\pwr_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pPr indent="0" marL="0">
              <a:buNone/>
            </a:pPr>
            <a:r>
              <a:rPr lang="en-US" sz="13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pPr indent="0" marL="0">
              <a:buNone/>
            </a:pP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pPr indent="0" marL="0">
              <a:buNone/>
            </a:pP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wn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8" name="Image 1" descr="C:\Users\10004782\AppData\Local\Temp\claude\D--MyProject-RadioAdvance\b11d5773-524b-456b-b03a-3ee843661b40\scratchpad\deck\assets\wn_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pPr indent="0" marL="0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pPr indent="0" marL="0">
              <a:buNone/>
            </a:pP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pPr indent="0" marL="0">
              <a:buNone/>
            </a:pP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pPr indent="0" marL="0">
              <a:buNone/>
            </a:pP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pPr indent="0" marL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pPr indent="0" marL="0">
              <a:buNone/>
            </a:pP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508760" y="1965960"/>
            <a:ext cx="3383280" cy="3383280"/>
          </a:xfrm>
          <a:prstGeom prst="ellipse">
            <a:avLst/>
          </a:prstGeom>
          <a:solidFill>
            <a:srgbClr val="8AA08C">
              <a:alpha val="8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720840" y="1965960"/>
            <a:ext cx="3383280" cy="3383280"/>
          </a:xfrm>
          <a:prstGeom prst="ellipse">
            <a:avLst/>
          </a:prstGeom>
          <a:solidFill>
            <a:srgbClr val="5A4038">
              <a:alpha val="8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真實訊號會超出理論頻寬——Carson 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pPr indent="0" marL="0">
              <a:buNone/>
            </a:pP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pPr indent="0" marL="0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pPr indent="0" marL="0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動動腦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10972800" cy="841248"/>
          </a:xfrm>
          <a:prstGeom prst="roundRect">
            <a:avLst>
              <a:gd name="adj" fmla="val 13043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463040"/>
            <a:ext cx="104241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　</a:t>
            </a:r>
            <a:pPr indent="0" marL="0">
              <a:buNone/>
            </a:pPr>
            <a:r>
              <a:rPr lang="en-US" sz="14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你要在你們的區域架一座 2m 中繼台（同時收、同時發）。用學過的概念決定它的參數——每一項都要說得出「為什麼」。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77824" y="2743200"/>
            <a:ext cx="548640" cy="54864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0020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輸入 / 輸出頻率與位移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600200" y="3035808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6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輸入輸出要差多遠？往上還是往下？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600200" y="3364992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為什麼不能只差 12.5 kHz？（回想：保護頻帶＋它同時在收也在發）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2487168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01384" y="2743200"/>
            <a:ext cx="548640" cy="54864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4" name="Text 12"/>
          <p:cNvSpPr/>
          <p:nvPr/>
        </p:nvSpPr>
        <p:spPr>
          <a:xfrm>
            <a:off x="6501384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22376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亞音（存取）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223760" y="3035808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中繼台要不要要求開台亞音？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223760" y="3364992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設它是為了擋住雜訊誤觸——但它不加密，話還是明語（S6）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77824" y="4370832"/>
            <a:ext cx="548640" cy="548640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" y="4370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600200" y="42793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功率與架設位置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600200" y="4663440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多大功率？架多高？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600200" y="4992624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中繼台要覆蓋廣所以架高、功率大；但也把干擾半徑放大（S3）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4114800"/>
            <a:ext cx="5486400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01384" y="4370832"/>
            <a:ext cx="548640" cy="548640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4370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23760" y="42793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和鄰台的協調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7223760" y="4663440"/>
            <a:ext cx="4389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會不會和附近的中繼台打架？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223760" y="4992624"/>
            <a:ext cx="4434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　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鄰台的輸入/輸出若太近，就是放大版的鄰頻重疊（S5）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562356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4400" y="56235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四個容易翻車的地方　</a:t>
            </a:r>
            <a:pPr indent="0" marL="0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位移方向設反 · 亞音設錯 · 和鄰台輸入輸出打架 · 位移太小（它自己的發射會干擾自己的接收）。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pPr indent="0" marL="0">
              <a:buNone/>
            </a:pP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pPr indent="0" marL="0">
              <a:buNone/>
            </a:pP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ct_n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10" name="Image 1" descr="C:\Users\10004782\AppData\Local\Temp\claude\D--MyProject-RadioAdvance\b11d5773-524b-456b-b03a-3ee843661b40\scratchpad\deck\assets\ct_88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15" name="Image 2" descr="C:\Users\10004782\AppData\Local\Temp\claude\D--MyProject-RadioAdvance\b11d5773-524b-456b-b03a-3ee843661b40\scratchpad\deck\assets\ct_2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pPr algn="l" indent="0" marL="0"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m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pic>
        <p:nvPicPr>
          <p:cNvPr id="8" name="Image 1" descr="C:\Users\10004782\AppData\Local\Temp\claude\D--MyProject-RadioAdvance\b11d5773-524b-456b-b03a-3ee843661b40\scratchpad\deck\assets\mx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pPr indent="0" marL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pPr indent="0" marL="0">
              <a:buNone/>
            </a:pPr>
            <a:r>
              <a:rPr lang="en-US" sz="14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pPr indent="0" marL="0">
              <a:buNone/>
            </a:pP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pPr indent="0" marL="0">
              <a:buNone/>
            </a:pP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pPr indent="0" marL="0">
              <a:buNone/>
            </a:pP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10515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　</a:t>
            </a:r>
            <a:pPr indent="0" marL="0">
              <a:buNone/>
            </a:pP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強震後，你的單位要在倒塌現場展開三支小隊：指揮所、搜救隊、後送隊。每組 3–4 人，替全體設計一份能實際運作的通訊計畫。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3136392"/>
            <a:ext cx="603504" cy="603504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頻率與步進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各隊用哪些頻率？步進怎麼設，才不會互相壓到？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3136392"/>
            <a:ext cx="603504" cy="603504"/>
          </a:xfrm>
          <a:prstGeom prst="ellipse">
            <a:avLst/>
          </a:prstGeom>
          <a:solidFill>
            <a:srgbClr val="D99A5B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4652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2376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全體統一 W 還是 N？跨隊會不會一個破一個太小？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709160"/>
            <a:ext cx="603504" cy="603504"/>
          </a:xfrm>
          <a:prstGeom prst="ellipse">
            <a:avLst/>
          </a:prstGeom>
          <a:solidFill>
            <a:srgbClr val="8AA08C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哪些情境用 H、哪些用 L？怎麼兼顧覆蓋與耗電？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4709160"/>
            <a:ext cx="603504" cy="603504"/>
          </a:xfrm>
          <a:prstGeom prst="ellipse">
            <a:avLst/>
          </a:prstGeom>
          <a:solidFill>
            <a:srgbClr val="5A4038"/>
          </a:solidFill>
          <a:ln/>
          <a:effectLst>
            <a:outerShdw sx="100000" sy="100000" kx="0" ky="0" algn="bl" rotWithShape="0" blurRad="114300" dist="50800" dir="5400000">
              <a:srgbClr val="6B4A3A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2376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亞音與紀律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2376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要不要用亞音分隊？哪些話設了亞音也不能明語講？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交付：每組上台用一句「症狀 → 用哪個參數 → 為什麼」講一個你們預先擋掉的通訊故障。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4480560"/>
            <a:ext cx="2011680" cy="2011680"/>
          </a:xfrm>
          <a:prstGeom prst="ellipse">
            <a:avLst/>
          </a:prstGeom>
          <a:solidFill>
            <a:srgbClr val="C0674A"/>
          </a:solidFill>
          <a:ln/>
          <a:effectLst>
            <a:outerShdw sx="100000" sy="100000" kx="0" ky="0" algn="bl" rotWithShape="0" blurRad="152400" dist="63500" dir="5400000">
              <a:srgbClr val="2A1C1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31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先看再猜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對方有沒有發、發在哪個頻率、訊號寬不寬——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SDR 三秒就有答案，用嘴問可能繞十分鐘。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2026-08-22T02:39:20Z</dcterms:created>
  <dcterms:modified xsi:type="dcterms:W3CDTF">2026-08-22T02:39:20Z</dcterms:modified>
</cp:coreProperties>
</file>